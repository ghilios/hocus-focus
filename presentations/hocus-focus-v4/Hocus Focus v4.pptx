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In 2023 I gave a talk here called "The Science of Star Measurement" — how Hocus Focus detects and measures stars, fits focus curves, and models your sensor's tilt and backfocus.
Tonight is the sequel: what's new in Hocus Focus v4. The title is the spoiler — "every star matters" — and by the end you'll see why that one idea explains most of what changed.
Please interrupt with questions; I've also left natural pauses between the three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last content slide from the 2023 talk — my "future work" list.
Three of those bullets were about tilt: tell people which screws to turn, work out where the screws are, and — with a question mark — motorized tilt adjusters.
All three shipped in v4, and they're the back half of tonight's talk.
If you missed 2023: that talk covered how stars are detected and measured (HFR, FWHM/PSF fitting), how the hyperbolic focus curve is fit, and how the sensor model separates tilt from backfocus. The recording is on TAIC's channel. I'll do a 60-second recap of the sensor model when we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chapters.
One — fewer decisions: the Star Detection Optimization Wizard, which answers the number-one complaint I hear: too many settings.
Two — more stars: donut detection, locally adaptive binarization, better hyperbolic fits, and a way to review every frame of an autofocus run.
Three — flat sensors: the Tilt Adapter Calibration Wizard, guided and fully automated tilt and backfocus correction, and simulators so you can practice all of it indoors.
I'll pause for questions between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the optimizer. I'll start with the complaint it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number-one complaint about Hocus Focus, and it's fair. This is the advanced Star Detector list — it doesn't even fit on one screen.
Two pieces of good news. First: every one of these is now fully documented — what it does, when to change it, and what it costs you. The QR code goes straight there.
Don't try to read the list. We'll come back to this wall of settings later, and it will make a lot more sense.
Docs: https://ghilios.github.io/hocus-focus/settings/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piece of good news is the Star Detection Optimization Wizard. One button on the Star Detector options page.
You point it at a saved autofocus run — a folder of frames you already captured — or have it capture a fresh sweep live. It re-runs star detection on those frames with many combinations of settings and keeps the combination that best pins down focus for your telescope, camera and sky.
Options on this page: recover out-of-focus donut stars (for reflectors and SCTs), and optimize for aberration inspection — remember that one, it matters later. With per-filter star detection enabled you can tune each filter separately.
Docs: https://ghilios.github.io/hocus-focus/optimization/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that raises the obvious question: if a wizard can pick them, why do all those settings exist in the first place?
I'm going to hold the full answer until later, but here's the hint: it comes down to something every one of you already obsesses over when you plan an imaging night — signal-to-noise ratio. SNR.
Hold that thought. When this amber tag comes back, we're paying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Conceptually it's a loop. Take the saved autofocus frames. Pick a candidate set of detection settings. Re-detect stars in every frame. Fit the focus curve. Score how good that result is. Then move to the next candidate — a few hundred times.
The search is methodical rather than random. The picture shows the idea with just two settings: brighter means a better score, the grey squares are a coarse first pass, and the white path is the search walking uphill and taking smaller steps as it closes in. Same input, same answer, every time.
And it has a safety rail: it will never hand you back settings that score worse than what you already have. Worst case it says "no change".
Backup detail if asked: about a dozen settings are searched (around 20 with donut recovery on), budget of roughly 250–400 evaluations, and results are cached so repeat visits are free. Optional: you can label missed or bogus stars and re-optimize with that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finishes you get a summary. You can flip between the focus curve with your current settings and the optimized one, see the focus precision, and see stars per frame at every focuser position.
It also recommends an autofocus step size — and, when the frames are starved of signal, a longer exposure.
From here: Accept applies it. Review frames lets you look at the detections and label mistakes. Continue optimizing runs another pass.
Docs: https://ghilios.github.io/hocus-focus/optimization/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catch: this is heavy. Every candidate means re-detecting stars in every frame of the run, a few hundred times over. On a typical imaging mini-PC, plan on 20 to 30 minutes — longer for big sensors.
Three things help. One: you don't have to run it at the telescope. Copy a saved autofocus folder to your desktop and optimize there. Two: Export and Import move the optimized settings back to the imaging PC as a single file; import shows you exactly what will change before anything is applied. Three: there's now GPU acceleration — one toggle on the wizard start page.
Docs (export/import section is on the settings page): https://ghilios.github.io/hocus-focus/settings/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for questions on the optimizer.
Chapter two is a quick tour of four improvements to detection and autofocus itself. I'm going to keep each of these to the headline — every one has a full page in the documentation, and the link is at the bottom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central obstruction — a Newtonian, an SCT, an RC — your out-of-focus stars aren't blobs, they're donuts: a bright ring with a hole in the middle.
The old detector threw most of those away. The ring breaks up into arcs, so the pieces look too small; and a hollow ring fails the shape test, so it looks too distorted.
v4 recognizes the ring for what it is and keeps the star. That gives autofocus real data at the ends of the sweep, where it used to be starved.
It's opt-in: a toggle in the settings, or tick "Recover out-of-focus donut stars" in the optimizer and let it work out the details.
Backup: recovery only affects which stars are accepted — it never changes a star's measured HFR. Truly faint rings with no core remain noise-limited for any detector.
Docs: https://ghilios.github.io/hocus-focus/settings/donut-aware/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of finding stars is deciding which pixels are bright enough to be "something". The old detector used one brightness threshold for the entire frame.
But real frames aren't uniform: vignetting, sky gradients, amp glow. On the left is a frame with a glow along one side; on the right is the brightness along that dashed row. The white dashed line is a single global threshold: it misses the faint star on the left — the green circle — and lets noise through inside the glow — the pink cross.
The purple line is what v4 does: the threshold follows the local background. The faint star is recovered, the glow noise is rejected.
The result is more real stars — and especially more stars in the corners. Remember the corners; they come back in chapter three. It's on by default, nothing to configure. The feature is called "Locally Adaptive Binarization" in the settings.
Docs — with the measurements behind this: https://ghilios.github.io/hocus-focus/settings/adaptive-binarization/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2023 I showed a slide called "Doesn't fit?" — real focus curves often aren't symmetric. Stars defocus differently inside and outside of focus.
If you force a symmetric V onto a lopsided curve — the dashed line — the fitted minimum gets pulled toward the shallow side. The pink arrow is the error in your "best focus".
v4 adds a Hybrid (Best Fit) mode, and it's the default. It fits several curve shapes to the same points, and it only picks a lopsided one when the data statistically justify the extra complexity. Clean symmetric data still gets a symmetric fit.
Backup: outliers are only rejected when every candidate model agrees; candidates are ranked by how precisely they locate best focus.
Docs: https://ghilios.github.io/hocus-focus/overview/hyperbola-fitting/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an autofocus run gave you a curve and you had to trust it. If one point looked wrong, you couldn't see why.
New controls under the autofocus chart: turn on "Keep frames for review", run autofocus from the panel, then hit "Review Frames". You can step through every frame in the sweep, with detected stars drawn on top, plus the focuser position, star count and HFR for that frame.
Keeping frames only applies to runs you start from this panel — autofocus inside a sequence doesn't hold frames in memory. And there's "Replay Saved AF" for re-analysing a run from disk with no equipment connected.
Docs: https://ghilios.github.io/hocus-focus/overview/autofocus/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it's for. Here's a frame from the same run where detection went wrong — [describe: zero stars / donuts missed / junk detections].
You can see exactly what the detector saw at each focuser position. It's the fastest way to find the one frame that came up empty, and to understand whether your settings are the problem.
And it closes the loop with the optimizer: the wizard has the same kind of frame view, where you can box stars it missed or detections that are bogus, then choose "Optimize with feedback".
Docs: https://ghilios.github.io/hocus-focus/overview/autofocus/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connect this back to the optimizer, because it sets up everything that follows.
For autofocus, the optimizer's goal is to minimize the error in the calculated best-focus position — the pink band around the minimum of this curve. The tighter that band, the more repeatable your focus.
Now notice what each point on this curve is: the average HFR of every star in the frame — often hundreds of stars. Averaging is a fantastic noise killer. A few missed stars, a few bad ones… the average barely moves. That is high signal-to-noise.
So autofocus is forgiving. It's the easy case. Tilt is not — and that's where SNR comes back.
Backup: the score also rewards star count, fit quality and coverage of the sensor, but focus precision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questions on detection and autofocus.
Chapter three is the big one: tilt and backfocus. In 2023 Hocus Focus could measure them. In v4 it tells you exactly what to do about them — and with the right hardware, does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from 2023. If you measure where best focus falls across the sensor, you get a surface. That surface is the sum of two things: a tilted plane — that's sensor tilt, one side reaching focus before the other — and a symmetric bowl — that's field curvature, which is how a backfocus spacing error shows up. Blue and pink here are just "focuses early" and "focuses late".
On the right is the real thing in the Aberration Inspector: the fitted surface for one of my runs, in microns.
In 2023 this told you THAT you had tilt, and roughly which way. What it didn't tell you was what to do about it: which screw, which direction, how far. That's what v4 adds.
Docs: https://ghilios.github.io/hocus-focus/overview/sensor-model/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are the three questions. A tilt measurement only becomes instructions once the software knows your adapter. To answer them, the software has to know your tilt adapter: where the screws are relative to the image, and how much each one moves the sensor. That's what the Tilt Adapter Calibration Wizard measures.
Setup is short. Pick your adapter from the presets — Neumann CTU, the ASG Photon Cage family, the motorized ASG EAT, the OGMA tilters — or choose Manual and type in the numbers. If your adapter isn't in the list, message me with its thread pitch, screw count and screw radius and I'll add a preset. Three-screw and four-screw adapters are both supported. You can name the screws whatever you call them, and those names are used everywhere afterwards.
Docs: https://ghilios.github.io/hocus-focus/overview/tilt-adapter-wizard/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process. Step one: a baseline measurement. Step two: the wizard asks you to turn screw 1 by a known amount — say one full turn clockwise — and measures again. Step three: put it back and re-measure. Step four: same thing with screw 2. Step five: a final re-measure.
Every one of those steps is a full focus sweep followed by a sensor model fit. The wizard is watching how the tilt plane moves in response to a known input. The re-measurements in between aren't wasted — they cancel out slow drift, like temperature changing during the run.
Two optional extra steps turn all screws clockwise together, which works out which direction your adapter moves — toward the camera or toward the telescope — instead of assuming it.
Four-screw adapters only need two screws measured: opposite screws are mechanically coupled.
Docs: https://ghilios.github.io/hocus-focus/overview/tilt-adapter-wizard/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answers come out of the calibration.
One: where each screw sits, as the sensor sees it. This is derived from the measurements, not from looking at the adapter — which matters, because a star diagonal, a mirror, or a rotator can flip or rotate the image relative to the hardware. The wizard doesn't care; it measured the response in image space.
Two: how far each screw moves the tilt plane — effectively microns per turn, or per step for a motorized adapter. It's cross-checked against the adapter's mechanical spec, and the wizard warns you if they disagree.
You can save a calibration's data and replay it indoors later, and there's a manual entry path if you already know your geometry.
But notice: every one of those calibration steps was a sensor model. And a sensor model is a very demanding measurement — which brings us to the punchline.
Docs: https://ghilios.github.io/hocus-focus/overview/tilt-adapter-wizard/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payoff for "why so many settings".
Compare the two measurements. Autofocus: ONE curve, where each point is the average of hundreds of stars. Averaging gives you high signal-to-noise for free.
Sensor model: HUNDREDS of curves — one per star — where each point is ONE star in ONE frame. No averaging to save you. Low SNR. So every single star has to be found and measured well, in every frame, including the out-of-focus ends of the sweep — and the stars you need most are in the corners, where they're faintest and most distorted.
How it works, along the bottom. Step one: match the same star across every frame of the focus sweep, from badly out of focus, through focus, and out the other side. Frames shift and stars change size, so this uses a RANSAC-based registration — thank you to Steve Smith for that implementation. Step two: fit a focus curve for each individual star, so each star gets its own best-focus position. Step three: fit a 3D surface through all of those positions across the sensor. Tilt and curvature fall out of that surface.
Every star matters, and getting enough signal out of each one is hard. Let me show you what that looks like.
Backup: a star must be matched in at least 5 frames with a good individual curve fit; the surface fit rejects outliers robustly. Docs: https://ghilios.github.io/hocus-focus/overview/sensor-model/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 sensor model on a saved autofocus run. About 5 minutes.
Before the talk: NINA open on the Imaging tab with the Aberration Inspector dock visible and wide; "Sensor Curve Model Enabled" ON in the inspector options; saved run folder picked out in advance (dense star field, visible tilt); do one dry run so you know how long it takes.
Script:
1. Aberration Inspector → Load Saved AF → pick the AutoFocus_&lt;date&gt; folder. Mention: no equipment needed, this is a replay.
2. While it runs: every frame is being re-detected, stars matched across frames, one curve fit per star.
3. When it lands: point at "Points in Model" — that's how many individual stars survived. Every one had to be found in most frames of the sweep.
4. Show the 3D surface: the slope is tilt, the bowl is curvature/backfocus. Rotate it.
5. Show Model Properties and the Model Analysis checklist: tilt effect and curvature effect in microns, graded against the critical focus zone.
6. Tease the Tilt Adapter Guidance section — we'll come back to it in a few slides.
If the demo misbehaves: the next slide (hidden) has screenshots of the same kind of result — unhide or jump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only needed if the live demo fails. All three crops are from the same run.
1: the fitted 3D surface — slope is tilt, the bowl is curvature.
2: "Points in Model" is the count of individual stars that survived matching and per-star curve fitting.
3: the analysis grades each effect against the critical focus zone: here curvature passes, tilt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back to that wall of settings. Every optical system is different: focal ratio, central obstruction, corrector, pixel scale, sky, filters. A one-size-fits-all detector works most of the time for autofocus, because averaging hides its mistakes. It does not measure precisely enough for a sensor model, where every star is measured on its own.
The settings fall into four jobs. Find faint stars: the thresholds and structure settings, adaptive binarization. Survive defocus: donut detection and the defocus-aware gates. Reject junk: hot pixels, saturated stars, distorted shapes, stars contaminated by a neighbour. Measure precisely: PSF fitting, background estimation, how measurements are averaged.
I want to be clear that none of these was added on a hunch. Each one exists because I found a real difference between real setups in the autofocus runs people sent me, and one fixed value got it wrong for some of them.
And this isn't only for tilt work. A properly tuned detector pins down best focus with very low error — and that error is now reported with every autofocus result, so you can see how good your focus actually is. That's why the optimizer exists — remember the "Optimize for aberration inspection" toggle on its start page? That tells it to favor finding many more stars across the frame, which is what the sensor model needs.
All documented: https://ghilios.github.io/hocus-focus/settings/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more way to get more signal, and it has nothing to do with detection settings: take more frames.
Signal Amplification divides your autofocus step size by N and multiplies the number of steps by N. The sweep covers exactly the same focus range — it just samples it more finely. On the left, a normal sweep; on the right, the same sweep at 2x — which is what the wizard screenshot below is set to.
Two benefits. Every star's individual curve gets more points, so its best-focus estimate is tighter. And the jump in defocus between neighbouring frames is smaller, so stars are easier to match from one frame to the next.
The cost is time: N times the exposures per sweep — and a tilt adapter calibration is five to seven sweeps. The wizard shows a live estimate of how many images you're signing up for. It applies to live captures only.
Docs: https://ghilios.github.io/hocus-focus/overview/tilt-aberration-inspector/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payoff of calibration. Once the adapter is calibrated, every Detailed Analysis in the Aberration Inspector comes with a Tilt Adapter Guidance section.
One: the legend — what the symbols mean, and your units. You can display turns, degrees, or minutes on a clock face; a motorized adapter shows motor steps.
Two: the arrows — for each screw, which way that corner of the adapter needs to move; a bigger arrow means a bigger move.
Three: the numbers — how far to turn each screw, split into three rows: the part that fixes tilt, the part that fixes backfocus, and the total you actually apply. The rotation symbol tells you clockwise or counter-clockwise.
Docs: https://ghilios.github.io/hocus-focus/overview/tilt-aberration-inspector/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split it into tilt and backfocus? Because they're different motions of the same screws. In both pictures the dashed line is where the focal plane wants the sensor to be, the purple bar is the sensor, and the pink arrows are the fix.
Tilt is corrected by turning screws differently — one side up, the other side down — so the plane tips.
Backfocus is corrected by turning all the screws the same way, moving the whole sensor along the optical axis. If it needs more travel than the adapter has, that's a spacer.
Seeing them separately means you can choose: fix tilt tonight, order a spacer for the backfocus.
And whatever remains after both is simply your optics — the residual curvature of your corrector. The Model Analysis grades each against your critical focus zone — tilt within a quarter of it, curvature within one and a half times — so you know when to stop.
Docs: https://ghilios.github.io/hocus-focus/overview/tilt-aberration-inspector/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it's a loop: run a Detailed Analysis, turn the screws by the amounts shown, run it again.
The inspector keeps a history of every measurement in the session, so you can watch the tilt come down. [Talk through the screenshot: first measurement, after one adjustment, after two.]
You stop when the tilt effect is inside the tolerance the analysis checks against the critical focus zone.
[If you have real before/after corner-star crops, this is the slide to show them.]
Docs: https://ghilios.github.io/hocus-focus/overview/tilt-aberration-inspector/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2023 slide said "Motorized tilt adjusters?" with a question mark. The ASG EAT is exactly that: an electronic tilt adapter with four stepper motors instead of four screws. Hocus Focus now drives it directly from NINA.
A huge thank-you to Josh Jones at ASG, who provided an EAT so I could build and test this.
Connect to it from the Tilt Adapter Wizard, and calibration becomes hands-off: press Auto Run All and the wizard moves the motors, runs each sweep, and works through every step on its own. Go have dinner.
If you cancel part-way, it puts the motors back where they started.
Backup: motor positions live in the adapter's own memory and survive power cycles; the plugin never zeroes them. Safety limits cap steps per command and total travel.
Docs: https://ghilios.github.io/hocus-focus/overview/motorized-tilt-adapter/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calibrated, connected EAT, the guidance section gets one more button: Automatic Adjustment.
It works out the motor moves from the current measurement and shows you this review dialog first. Nothing moves until you approve. You can choose to apply tilt, backfocus, or both; you see each move, and what residual will be left.
A full tilt-plus-backfocus correction is at most three motor commands.
Afterwards you re-measure. If tilt somehow got worse — stale calibration, camera rotated since — you get a banner with a one-click Revert that undoes the moves.
There's also a manual pad for nudging corners, and you can return to the motor positions of any earlier measurement in the session.
Docs: https://ghilios.github.io/hocus-focus/overview/motorized-tilt-adapter/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mostly for the curious. Building all of this needed a way to test without clear skies, so Hocus Focus now includes a camera simulator — and it's surprisingly sophisticated.
It renders real catalog stars for wherever your mount is pointing, through a model of your optics and a real sensor — IMX455, 571, 533 and so on — with filters including narrowband, sky brightness, seeing, and realistic noise. Defocus it and you get donuts.
Most importantly, you can inject tilt and backfocus error. Pair it with the simulated tilt adapter — virtual screws you click — and you can run autofocus, a full tilt adapter calibration, guided correction, even the EAT automation, entirely indoors on a cloudy day. When you've got it right, the panel reads "approximately flat".
It's the best way to get a feel for the process before you touch a real screw. The documentation walks you through it.
Docs: https://ghilios.github.io/hocus-focus/overview/camera-simulator/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complaint was "too many settings". The optimizer means you don't have to set them. But they exist for a reason, and the reason is signal-to-noise: a sensor model needs a clean measurement of every individual star, across the whole frame, in and out of focus.
Get that right, and you can calibrate your tilt adapter — and once it's calibrated, Hocus Focus tells you exactly how far to turn each screw, separately for tilt and backfocus. With an ASG EAT, it turns them for you.
Everything tonight is in the documentation — scan the code or go to https://ghilios.github.io/hocus-focus/. There's a quick start, a page per feature, and the simulator walkthrough if you want to try this indoors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Credits: Steve Smith for the RANSAC star registration that makes matching stars across a focus sweep work; Josh Jones at ASG for providing the EAT; and everyone in the community who sent me saved autofocus runs — that bank of real data is what all of this was tuned and tested against.
I'm jokogeo on the NINA Discord and ghilios on Cloudy Nights. The plugin is open source on GitHub. The docs link stays on screen.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hilios.github.io/hocus-focus/settings/" TargetMode="External"/><Relationship Id="rId1" Type="http://schemas.openxmlformats.org/officeDocument/2006/relationships/image" Target="../media/Slide-5-image-1.png"/><Relationship Id="rId2"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ghilios.github.io/hocus-focus/optimization/" TargetMode="External"/><Relationship Id="rId1" Type="http://schemas.openxmlformats.org/officeDocument/2006/relationships/image" Target="../media/Slide-6-image-1.png"/><Relationship Id="rId2"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hilios.github.io/hocus-focus/optimization/" TargetMode="External"/><Relationship Id="rId1" Type="http://schemas.openxmlformats.org/officeDocument/2006/relationships/image" Target="../media/Slide-8-image-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ghilios.github.io/hocus-focus/optimization/" TargetMode="External"/><Relationship Id="rId1" Type="http://schemas.openxmlformats.org/officeDocument/2006/relationships/image" Target="../media/Slide-9-image-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ghilios.github.io/hocus-focus/settings/" TargetMode="External"/><Relationship Id="rId1" Type="http://schemas.openxmlformats.org/officeDocument/2006/relationships/image" Target="../media/Slide-10-image-1.png"/><Relationship Id="rId2"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ghilios.github.io/hocus-focus/settings/donut-aware/" TargetMode="External"/><Relationship Id="rId1" Type="http://schemas.openxmlformats.org/officeDocument/2006/relationships/image" Target="../media/Slide-12-image-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ghilios.github.io/hocus-focus/settings/adaptive-binarization/" TargetMode="External"/><Relationship Id="rId1" Type="http://schemas.openxmlformats.org/officeDocument/2006/relationships/image" Target="../media/Slide-13-image-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ghilios.github.io/hocus-focus/overview/hyperbola-fitting/" TargetMode="External"/><Relationship Id="rId1" Type="http://schemas.openxmlformats.org/officeDocument/2006/relationships/image" Target="../media/Slide-14-image-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ghilios.github.io/hocus-focus/overview/autofocus/" TargetMode="External"/><Relationship Id="rId1" Type="http://schemas.openxmlformats.org/officeDocument/2006/relationships/image" Target="../media/Slide-15-image-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ghilios.github.io/hocus-focus/overview/autofocus/" TargetMode="External"/><Relationship Id="rId1" Type="http://schemas.openxmlformats.org/officeDocument/2006/relationships/image" Target="../media/Slide-16-image-1.png"/><Relationship Id="rId2"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ghilios.github.io/hocus-focus/overview/sensor-model/" TargetMode="External"/><Relationship Id="rId1" Type="http://schemas.openxmlformats.org/officeDocument/2006/relationships/image" Target="../media/Slide-19-image-1.png"/><Relationship Id="rId2"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ghilios.github.io/hocus-focus/overview/tilt-adapter-wizard/" TargetMode="External"/><Relationship Id="rId1" Type="http://schemas.openxmlformats.org/officeDocument/2006/relationships/image" Target="../media/Slide-20-image-1.png"/><Relationship Id="rId2" Type="http://schemas.openxmlformats.org/officeDocument/2006/relationships/image" Target="../media/image-20-2.png"/><Relationship Id="rId4" Type="http://schemas.openxmlformats.org/officeDocument/2006/relationships/image" Target="../media/image-20-3.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ghilios.github.io/hocus-focus/overview/tilt-adapter-wizard/" TargetMode="External"/><Relationship Id="rId1" Type="http://schemas.openxmlformats.org/officeDocument/2006/relationships/image" Target="../media/Slide-21-image-1.png"/><Relationship Id="rId2" Type="http://schemas.openxmlformats.org/officeDocument/2006/relationships/image" Target="../media/image-21-2.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ghilios.github.io/hocus-focus/overview/tilt-adapter-wizard/" TargetMode="External"/><Relationship Id="rId1" Type="http://schemas.openxmlformats.org/officeDocument/2006/relationships/image" Target="../media/Slide-22-image-1.png"/><Relationship Id="rId2"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ghilios.github.io/hocus-focus/settings/" TargetMode="External"/><Relationship Id="rId1" Type="http://schemas.openxmlformats.org/officeDocument/2006/relationships/image" Target="../media/Slide-26-image-1.png"/><Relationship Id="rId2" Type="http://schemas.openxmlformats.org/officeDocument/2006/relationships/image" Target="../media/image-26-2.png"/><Relationship Id="rId4" Type="http://schemas.openxmlformats.org/officeDocument/2006/relationships/image" Target="../media/image-26-3.png"/><Relationship Id="rId5" Type="http://schemas.openxmlformats.org/officeDocument/2006/relationships/image" Target="../media/image-26-4.png"/><Relationship Id="rId6" Type="http://schemas.openxmlformats.org/officeDocument/2006/relationships/image" Target="../media/image-26-5.png"/><Relationship Id="rId7" Type="http://schemas.openxmlformats.org/officeDocument/2006/relationships/image" Target="../media/image-26-6.png"/><Relationship Id="rId8" Type="http://schemas.openxmlformats.org/officeDocument/2006/relationships/image" Target="../media/image-26-7.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hyperlink" Target="https://ghilios.github.io/hocus-focus/overview/tilt-aberration-inspector/" TargetMode="External"/><Relationship Id="rId1" Type="http://schemas.openxmlformats.org/officeDocument/2006/relationships/image" Target="../media/Slide-27-image-1.png"/><Relationship Id="rId2" Type="http://schemas.openxmlformats.org/officeDocument/2006/relationships/image" Target="../media/image-27-2.png"/><Relationship Id="rId4" Type="http://schemas.openxmlformats.org/officeDocument/2006/relationships/image" Target="../media/image-27-3.png"/><Relationship Id="rId5" Type="http://schemas.openxmlformats.org/officeDocument/2006/relationships/image" Target="../media/image-27-4.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ghilios.github.io/hocus-focus/overview/tilt-aberration-inspector/" TargetMode="External"/><Relationship Id="rId1" Type="http://schemas.openxmlformats.org/officeDocument/2006/relationships/image" Target="../media/Slide-28-image-1.png"/><Relationship Id="rId2" Type="http://schemas.openxmlformats.org/officeDocument/2006/relationships/image" Target="../media/image-28-2.png"/><Relationship Id="rId4" Type="http://schemas.openxmlformats.org/officeDocument/2006/relationships/image" Target="../media/image-28-3.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ghilios.github.io/hocus-focus/overview/tilt-aberration-inspector/" TargetMode="External"/><Relationship Id="rId1" Type="http://schemas.openxmlformats.org/officeDocument/2006/relationships/image" Target="../media/Slide-29-image-1.png"/><Relationship Id="rId2" Type="http://schemas.openxmlformats.org/officeDocument/2006/relationships/image" Target="../media/image-29-2.png"/><Relationship Id="rId4" Type="http://schemas.openxmlformats.org/officeDocument/2006/relationships/image" Target="../media/image-29-3.png"/><Relationship Id="rId5" Type="http://schemas.openxmlformats.org/officeDocument/2006/relationships/image" Target="../media/image-29-4.png"/><Relationship Id="rId6" Type="http://schemas.openxmlformats.org/officeDocument/2006/relationships/image" Target="../media/image-29-5.png"/><Relationship Id="rId7" Type="http://schemas.openxmlformats.org/officeDocument/2006/relationships/image" Target="../media/image-29-5.png"/><Relationship Id="rId8" Type="http://schemas.openxmlformats.org/officeDocument/2006/relationships/image" Target="../media/image-29-7.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hyperlink" Target="https://ghilios.github.io/hocus-focus/overview/tilt-aberration-inspector/" TargetMode="External"/><Relationship Id="rId1" Type="http://schemas.openxmlformats.org/officeDocument/2006/relationships/image" Target="../media/Slide-30-image-1.png"/><Relationship Id="rId2" Type="http://schemas.openxmlformats.org/officeDocument/2006/relationships/image" Target="../media/image-30-2.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s://ghilios.github.io/hocus-focus/overview/motorized-tilt-adapter/" TargetMode="External"/><Relationship Id="rId1" Type="http://schemas.openxmlformats.org/officeDocument/2006/relationships/image" Target="../media/Slide-31-image-1.png"/><Relationship Id="rId2" Type="http://schemas.openxmlformats.org/officeDocument/2006/relationships/image" Target="../media/image-31-2.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hilios.github.io/hocus-focus/overview/motorized-tilt-adapter/" TargetMode="External"/><Relationship Id="rId1" Type="http://schemas.openxmlformats.org/officeDocument/2006/relationships/image" Target="../media/Slide-32-image-1.png"/><Relationship Id="rId2" Type="http://schemas.openxmlformats.org/officeDocument/2006/relationships/image" Target="../media/image-32-2.png"/><Relationship Id="rId4" Type="http://schemas.openxmlformats.org/officeDocument/2006/relationships/image" Target="../media/image-32-3.png"/><Relationship Id="rId5" Type="http://schemas.openxmlformats.org/officeDocument/2006/relationships/image" Target="../media/image-32-4.png"/><Relationship Id="rId6" Type="http://schemas.openxmlformats.org/officeDocument/2006/relationships/image" Target="../media/image-32-5.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ghilios.github.io/hocus-focus/overview/camera-simulator/" TargetMode="External"/><Relationship Id="rId1" Type="http://schemas.openxmlformats.org/officeDocument/2006/relationships/image" Target="../media/Slide-33-image-1.png"/><Relationship Id="rId2" Type="http://schemas.openxmlformats.org/officeDocument/2006/relationships/image" Target="../media/image-33-2.png"/><Relationship Id="rId4" Type="http://schemas.openxmlformats.org/officeDocument/2006/relationships/image" Target="../media/image-33-3.png"/><Relationship Id="rId5" Type="http://schemas.openxmlformats.org/officeDocument/2006/relationships/image" Target="../media/image-33-4.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hyperlink" Target="https://ghilios.github.io/hocus-focus/" TargetMode="External"/><Relationship Id="rId1" Type="http://schemas.openxmlformats.org/officeDocument/2006/relationships/image" Target="../media/Slide-34-image-1.png"/><Relationship Id="rId2" Type="http://schemas.openxmlformats.org/officeDocument/2006/relationships/image" Target="../media/image-34-2.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5" Type="http://schemas.openxmlformats.org/officeDocument/2006/relationships/hyperlink" Target="https://ghilios.github.io/hocus-focus/" TargetMode="External"/><Relationship Id="rId6" Type="http://schemas.openxmlformats.org/officeDocument/2006/relationships/hyperlink" Target="https://ghilios.github.io/hocus-focus/" TargetMode="External"/><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40080" y="1371600"/>
            <a:ext cx="64008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THE ASTRO IMAGING CHANNEL</a:t>
            </a:r>
            <a:endParaRPr lang="en-US" sz="1300" dirty="0"/>
          </a:p>
        </p:txBody>
      </p:sp>
      <p:sp>
        <p:nvSpPr>
          <p:cNvPr id="4" name="Text 1"/>
          <p:cNvSpPr txBox="1"/>
          <p:nvPr/>
        </p:nvSpPr>
        <p:spPr>
          <a:xfrm>
            <a:off x="640080" y="1828800"/>
            <a:ext cx="7315200" cy="1097280"/>
          </a:xfrm>
          <a:prstGeom prst="rect">
            <a:avLst/>
          </a:prstGeom>
          <a:noFill/>
          <a:ln/>
        </p:spPr>
        <p:txBody>
          <a:bodyPr wrap="square" lIns="0" tIns="0" rIns="0" bIns="0" rtlCol="0" anchor="ctr"/>
          <a:lstStyle/>
          <a:p>
            <a:pPr indent="0" marL="0">
              <a:buNone/>
            </a:pPr>
            <a:r>
              <a:rPr lang="en-US" sz="6600" dirty="0">
                <a:solidFill>
                  <a:srgbClr val="F2F0FF"/>
                </a:solidFill>
                <a:latin typeface="Segoe UI Semibold" pitchFamily="34" charset="0"/>
                <a:ea typeface="Segoe UI Semibold" pitchFamily="34" charset="-122"/>
                <a:cs typeface="Segoe UI Semibold" pitchFamily="34" charset="-120"/>
              </a:rPr>
              <a:t>Hocus Focus v4</a:t>
            </a:r>
            <a:endParaRPr lang="en-US" sz="6600" dirty="0"/>
          </a:p>
        </p:txBody>
      </p:sp>
      <p:sp>
        <p:nvSpPr>
          <p:cNvPr id="5" name="Text 2"/>
          <p:cNvSpPr txBox="1"/>
          <p:nvPr/>
        </p:nvSpPr>
        <p:spPr>
          <a:xfrm>
            <a:off x="640080" y="2880360"/>
            <a:ext cx="7315200" cy="822960"/>
          </a:xfrm>
          <a:prstGeom prst="rect">
            <a:avLst/>
          </a:prstGeom>
          <a:noFill/>
          <a:ln/>
        </p:spPr>
        <p:txBody>
          <a:bodyPr wrap="square" lIns="0" tIns="0" rIns="0" bIns="0" rtlCol="0" anchor="ctr"/>
          <a:lstStyle/>
          <a:p>
            <a:pPr indent="0" marL="0">
              <a:buNone/>
            </a:pPr>
            <a:r>
              <a:rPr lang="en-US" sz="4200" dirty="0">
                <a:solidFill>
                  <a:srgbClr val="FFB020"/>
                </a:solidFill>
                <a:latin typeface="Segoe UI Light" pitchFamily="34" charset="0"/>
                <a:ea typeface="Segoe UI Light" pitchFamily="34" charset="-122"/>
                <a:cs typeface="Segoe UI Light" pitchFamily="34" charset="-120"/>
              </a:rPr>
              <a:t>Every star matters</a:t>
            </a:r>
            <a:endParaRPr lang="en-US" sz="4200" dirty="0"/>
          </a:p>
        </p:txBody>
      </p:sp>
      <p:sp>
        <p:nvSpPr>
          <p:cNvPr id="6" name="Text 3"/>
          <p:cNvSpPr txBox="1"/>
          <p:nvPr/>
        </p:nvSpPr>
        <p:spPr>
          <a:xfrm>
            <a:off x="640080" y="3886200"/>
            <a:ext cx="6035040" cy="822960"/>
          </a:xfrm>
          <a:prstGeom prst="rect">
            <a:avLst/>
          </a:prstGeom>
          <a:noFill/>
          <a:ln/>
        </p:spPr>
        <p:txBody>
          <a:bodyPr wrap="square" lIns="0" tIns="0" rIns="0" bIns="0" rtlCol="0" anchor="t"/>
          <a:lstStyle/>
          <a:p>
            <a:pPr indent="0" marL="0">
              <a:buNone/>
            </a:pPr>
            <a:r>
              <a:rPr lang="en-US" sz="1900" dirty="0">
                <a:solidFill>
                  <a:srgbClr val="B4BBE0"/>
                </a:solidFill>
                <a:latin typeface="Segoe UI" pitchFamily="34" charset="0"/>
                <a:ea typeface="Segoe UI" pitchFamily="34" charset="-122"/>
                <a:cs typeface="Segoe UI" pitchFamily="34" charset="-120"/>
              </a:rPr>
              <a:t>Star detection optimization, tilt adapter calibration, and guided tilt correction for N.I.N.A.</a:t>
            </a:r>
            <a:endParaRPr lang="en-US" sz="1900" dirty="0"/>
          </a:p>
        </p:txBody>
      </p:sp>
      <p:sp>
        <p:nvSpPr>
          <p:cNvPr id="7" name="Text 4"/>
          <p:cNvSpPr txBox="1"/>
          <p:nvPr/>
        </p:nvSpPr>
        <p:spPr>
          <a:xfrm>
            <a:off x="640080" y="5212080"/>
            <a:ext cx="5486400" cy="411480"/>
          </a:xfrm>
          <a:prstGeom prst="rect">
            <a:avLst/>
          </a:prstGeom>
          <a:noFill/>
          <a:ln/>
        </p:spPr>
        <p:txBody>
          <a:bodyPr wrap="square" lIns="0" tIns="0" rIns="0" bIns="0" rtlCol="0" anchor="t"/>
          <a:lstStyle/>
          <a:p>
            <a:pPr indent="0" marL="0">
              <a:buNone/>
            </a:pPr>
            <a:r>
              <a:rPr lang="en-US" sz="2400" dirty="0">
                <a:solidFill>
                  <a:srgbClr val="F2F0FF"/>
                </a:solidFill>
                <a:latin typeface="Segoe UI Semibold" pitchFamily="34" charset="0"/>
                <a:ea typeface="Segoe UI Semibold" pitchFamily="34" charset="-122"/>
                <a:cs typeface="Segoe UI Semibold" pitchFamily="34" charset="-120"/>
              </a:rPr>
              <a:t>George Hilios</a:t>
            </a:r>
            <a:endParaRPr lang="en-US" sz="2400" dirty="0"/>
          </a:p>
        </p:txBody>
      </p:sp>
      <p:sp>
        <p:nvSpPr>
          <p:cNvPr id="8" name="Text 5"/>
          <p:cNvSpPr txBox="1"/>
          <p:nvPr/>
        </p:nvSpPr>
        <p:spPr>
          <a:xfrm>
            <a:off x="640080" y="5669280"/>
            <a:ext cx="6400800" cy="365760"/>
          </a:xfrm>
          <a:prstGeom prst="rect">
            <a:avLst/>
          </a:prstGeom>
          <a:noFill/>
          <a:ln/>
        </p:spPr>
        <p:txBody>
          <a:bodyPr wrap="square" lIns="0" tIns="0" rIns="0" bIns="0" rtlCol="0" anchor="t"/>
          <a:lstStyle/>
          <a:p>
            <a:pPr indent="0" marL="0">
              <a:buNone/>
            </a:pPr>
            <a:r>
              <a:rPr lang="en-US" sz="1600" dirty="0">
                <a:solidFill>
                  <a:srgbClr val="B4BBE0"/>
                </a:solidFill>
                <a:latin typeface="Segoe UI" pitchFamily="34" charset="0"/>
                <a:ea typeface="Segoe UI" pitchFamily="34" charset="-122"/>
                <a:cs typeface="Segoe UI" pitchFamily="34" charset="-120"/>
              </a:rPr>
              <a:t>jokogeo on Discord  ·  ghilios on Cloudy Nights</a:t>
            </a:r>
            <a:endParaRPr lang="en-US" sz="1600" dirty="0"/>
          </a:p>
        </p:txBody>
      </p:sp>
      <p:sp>
        <p:nvSpPr>
          <p:cNvPr id="9" name="Shape 6"/>
          <p:cNvSpPr/>
          <p:nvPr/>
        </p:nvSpPr>
        <p:spPr>
          <a:xfrm>
            <a:off x="7818120" y="1508760"/>
            <a:ext cx="3840480" cy="3840480"/>
          </a:xfrm>
          <a:prstGeom prst="ellipse">
            <a:avLst/>
          </a:prstGeom>
          <a:solidFill>
            <a:srgbClr val="8B5CF6">
              <a:alpha val="45000"/>
            </a:srgbClr>
          </a:solidFill>
          <a:ln w="19050">
            <a:solidFill>
              <a:srgbClr val="8B5CF6"/>
            </a:solidFill>
            <a:prstDash val="solid"/>
          </a:ln>
        </p:spPr>
      </p:sp>
      <p:pic>
        <p:nvPicPr>
          <p:cNvPr id="10" name="Image 0" descr="/home/ghilios/src/hocus-focus/presentations/hocus-focus-v4/assets/logo.jpg">    </p:cNvPr>
          <p:cNvPicPr>
            <a:picLocks noChangeAspect="1"/>
          </p:cNvPicPr>
          <p:nvPr/>
        </p:nvPicPr>
        <p:blipFill>
          <a:blip r:embed="rId2"/>
          <a:stretch>
            <a:fillRect/>
          </a:stretch>
        </p:blipFill>
        <p:spPr>
          <a:xfrm>
            <a:off x="8001000" y="1691640"/>
            <a:ext cx="3474720" cy="347472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Where we left off</a:t>
            </a:r>
            <a:endParaRPr lang="en-US" sz="3200" dirty="0"/>
          </a:p>
        </p:txBody>
      </p:sp>
      <p:sp>
        <p:nvSpPr>
          <p:cNvPr id="4" name="Shape 1"/>
          <p:cNvSpPr/>
          <p:nvPr/>
        </p:nvSpPr>
        <p:spPr>
          <a:xfrm>
            <a:off x="640080" y="1920240"/>
            <a:ext cx="7223760" cy="3289836"/>
          </a:xfrm>
          <a:prstGeom prst="roundRect">
            <a:avLst>
              <a:gd name="adj" fmla="val 2779"/>
            </a:avLst>
          </a:prstGeom>
          <a:solidFill>
            <a:srgbClr val="FFFFFF"/>
          </a:solidFill>
          <a:ln/>
          <a:effectLst>
            <a:outerShdw sx="100000" sy="100000" kx="0" ky="0" algn="bl" rotWithShape="0" blurRad="177800" dist="50800" dir="5400000">
              <a:srgbClr val="000000">
                <a:alpha val="45000"/>
              </a:srgbClr>
            </a:outerShdw>
          </a:effectLst>
        </p:spPr>
      </p:sp>
      <p:pic>
        <p:nvPicPr>
          <p:cNvPr id="5" name="Image 0" descr="/home/ghilios/src/hocus-focus/presentations/hocus-focus-v4/assets/future-work-2023.png">    </p:cNvPr>
          <p:cNvPicPr>
            <a:picLocks noChangeAspect="1"/>
          </p:cNvPicPr>
          <p:nvPr/>
        </p:nvPicPr>
        <p:blipFill>
          <a:blip r:embed="rId2"/>
          <a:stretch>
            <a:fillRect/>
          </a:stretch>
        </p:blipFill>
        <p:spPr>
          <a:xfrm>
            <a:off x="749808" y="2029968"/>
            <a:ext cx="7004304" cy="3070380"/>
          </a:xfrm>
          <a:prstGeom prst="rect">
            <a:avLst/>
          </a:prstGeom>
        </p:spPr>
      </p:pic>
      <p:sp>
        <p:nvSpPr>
          <p:cNvPr id="6" name="Text 2"/>
          <p:cNvSpPr txBox="1"/>
          <p:nvPr/>
        </p:nvSpPr>
        <p:spPr>
          <a:xfrm>
            <a:off x="640080" y="5301516"/>
            <a:ext cx="7223760" cy="320040"/>
          </a:xfrm>
          <a:prstGeom prst="rect">
            <a:avLst/>
          </a:prstGeom>
          <a:noFill/>
          <a:ln/>
        </p:spPr>
        <p:txBody>
          <a:bodyPr wrap="square" lIns="0" tIns="0" rIns="0" bIns="0" rtlCol="0" anchor="ctr"/>
          <a:lstStyle/>
          <a:p>
            <a:pPr algn="ctr" indent="0" marL="0">
              <a:buNone/>
            </a:pPr>
            <a:r>
              <a:rPr lang="en-US" sz="1400" dirty="0">
                <a:solidFill>
                  <a:srgbClr val="B4BBE0"/>
                </a:solidFill>
                <a:latin typeface="Segoe UI" pitchFamily="34" charset="0"/>
                <a:ea typeface="Segoe UI" pitchFamily="34" charset="-122"/>
                <a:cs typeface="Segoe UI" pitchFamily="34" charset="-120"/>
              </a:rPr>
              <a:t>The last slide of the 2023 talk</a:t>
            </a:r>
            <a:endParaRPr lang="en-US" sz="1400" dirty="0"/>
          </a:p>
        </p:txBody>
      </p:sp>
      <p:sp>
        <p:nvSpPr>
          <p:cNvPr id="7" name="Text 3"/>
          <p:cNvSpPr txBox="1"/>
          <p:nvPr/>
        </p:nvSpPr>
        <p:spPr>
          <a:xfrm>
            <a:off x="8229600" y="2011680"/>
            <a:ext cx="3322015"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THE 2023 TALK</a:t>
            </a:r>
            <a:endParaRPr lang="en-US" sz="1300" dirty="0"/>
          </a:p>
        </p:txBody>
      </p:sp>
      <p:sp>
        <p:nvSpPr>
          <p:cNvPr id="8" name="Text 4"/>
          <p:cNvSpPr txBox="1"/>
          <p:nvPr/>
        </p:nvSpPr>
        <p:spPr>
          <a:xfrm>
            <a:off x="8229600" y="2377440"/>
            <a:ext cx="3322015" cy="1417320"/>
          </a:xfrm>
          <a:prstGeom prst="rect">
            <a:avLst/>
          </a:prstGeom>
          <a:noFill/>
          <a:ln/>
        </p:spPr>
        <p:txBody>
          <a:bodyPr wrap="square" lIns="0" tIns="0" rIns="0" bIns="0" rtlCol="0" anchor="t"/>
          <a:lstStyle/>
          <a:p>
            <a:pPr indent="0" marL="0">
              <a:buNone/>
            </a:pPr>
            <a:r>
              <a:rPr lang="en-US" sz="1600" dirty="0">
                <a:solidFill>
                  <a:srgbClr val="B4BBE0"/>
                </a:solidFill>
                <a:latin typeface="Segoe UI" pitchFamily="34" charset="0"/>
                <a:ea typeface="Segoe UI" pitchFamily="34" charset="-122"/>
                <a:cs typeface="Segoe UI" pitchFamily="34" charset="-120"/>
              </a:rPr>
              <a:t>How stars are detected and measured, how focus curves are fit, and how a sensor model separates tilt from backfocus.</a:t>
            </a:r>
            <a:endParaRPr lang="en-US" sz="1600" dirty="0"/>
          </a:p>
        </p:txBody>
      </p:sp>
      <p:sp>
        <p:nvSpPr>
          <p:cNvPr id="9" name="Text 5"/>
          <p:cNvSpPr txBox="1"/>
          <p:nvPr/>
        </p:nvSpPr>
        <p:spPr>
          <a:xfrm>
            <a:off x="8229600" y="3840480"/>
            <a:ext cx="3322015" cy="1371600"/>
          </a:xfrm>
          <a:prstGeom prst="rect">
            <a:avLst/>
          </a:prstGeom>
          <a:noFill/>
          <a:ln/>
        </p:spPr>
        <p:txBody>
          <a:bodyPr wrap="square" lIns="0" tIns="0" rIns="0" bIns="0" rtlCol="0" anchor="ctr"/>
          <a:lstStyle/>
          <a:p>
            <a:pPr indent="0" marL="0">
              <a:buNone/>
            </a:pPr>
            <a:r>
              <a:rPr lang="en-US" sz="2400" dirty="0">
                <a:solidFill>
                  <a:srgbClr val="F2F0FF"/>
                </a:solidFill>
                <a:latin typeface="Segoe UI Semibold" pitchFamily="34" charset="0"/>
                <a:ea typeface="Segoe UI Semibold" pitchFamily="34" charset="-122"/>
                <a:cs typeface="Segoe UI Semibold" pitchFamily="34" charset="-120"/>
              </a:rPr>
              <a:t>Three promises from 2023.</a:t>
            </a:r>
            <a:endParaRPr lang="en-US" sz="2400" dirty="0"/>
          </a:p>
          <a:p>
            <a:pPr indent="0" marL="0">
              <a:buNone/>
            </a:pPr>
            <a:r>
              <a:rPr lang="en-US" sz="2400" dirty="0">
                <a:solidFill>
                  <a:srgbClr val="34D399"/>
                </a:solidFill>
                <a:latin typeface="Segoe UI Semibold" pitchFamily="34" charset="0"/>
                <a:ea typeface="Segoe UI Semibold" pitchFamily="34" charset="-122"/>
                <a:cs typeface="Segoe UI Semibold" pitchFamily="34" charset="-120"/>
              </a:rPr>
              <a:t>All three shipped in v4.</a:t>
            </a:r>
            <a:endParaRPr lang="en-US" sz="24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What's new in v4</a:t>
            </a:r>
            <a:endParaRPr lang="en-US" sz="3200" dirty="0"/>
          </a:p>
        </p:txBody>
      </p:sp>
      <p:sp>
        <p:nvSpPr>
          <p:cNvPr id="4" name="Shape 1"/>
          <p:cNvSpPr/>
          <p:nvPr/>
        </p:nvSpPr>
        <p:spPr>
          <a:xfrm>
            <a:off x="640080" y="2011680"/>
            <a:ext cx="3429000" cy="3429000"/>
          </a:xfrm>
          <a:prstGeom prst="roundRect">
            <a:avLst>
              <a:gd name="adj" fmla="val 3733"/>
            </a:avLst>
          </a:prstGeom>
          <a:solidFill>
            <a:srgbClr val="151B3A">
              <a:alpha val="92000"/>
            </a:srgbClr>
          </a:solidFill>
          <a:ln w="9525">
            <a:solidFill>
              <a:srgbClr val="3A4380"/>
            </a:solidFill>
            <a:prstDash val="solid"/>
          </a:ln>
        </p:spPr>
      </p:sp>
      <p:sp>
        <p:nvSpPr>
          <p:cNvPr id="5" name="Shape 2"/>
          <p:cNvSpPr/>
          <p:nvPr/>
        </p:nvSpPr>
        <p:spPr>
          <a:xfrm>
            <a:off x="960120" y="2331720"/>
            <a:ext cx="777240" cy="777240"/>
          </a:xfrm>
          <a:prstGeom prst="ellipse">
            <a:avLst/>
          </a:prstGeom>
          <a:solidFill>
            <a:srgbClr val="8B5CF6"/>
          </a:solidFill>
          <a:ln/>
        </p:spPr>
      </p:sp>
      <p:pic>
        <p:nvPicPr>
          <p:cNvPr id="6" name="Image 0" descr="/home/ghilios/src/hocus-focus/presentations/hocus-focus-v4/assets/icon-sliders.png">    </p:cNvPr>
          <p:cNvPicPr>
            <a:picLocks noChangeAspect="1"/>
          </p:cNvPicPr>
          <p:nvPr/>
        </p:nvPicPr>
        <p:blipFill>
          <a:blip r:embed="rId2"/>
          <a:stretch>
            <a:fillRect/>
          </a:stretch>
        </p:blipFill>
        <p:spPr>
          <a:xfrm>
            <a:off x="1170432" y="2542032"/>
            <a:ext cx="356616" cy="356616"/>
          </a:xfrm>
          <a:prstGeom prst="rect">
            <a:avLst/>
          </a:prstGeom>
        </p:spPr>
      </p:pic>
      <p:sp>
        <p:nvSpPr>
          <p:cNvPr id="7" name="Text 3"/>
          <p:cNvSpPr txBox="1"/>
          <p:nvPr/>
        </p:nvSpPr>
        <p:spPr>
          <a:xfrm>
            <a:off x="2880360" y="2331720"/>
            <a:ext cx="868680" cy="777240"/>
          </a:xfrm>
          <a:prstGeom prst="rect">
            <a:avLst/>
          </a:prstGeom>
          <a:noFill/>
          <a:ln/>
        </p:spPr>
        <p:txBody>
          <a:bodyPr wrap="square" lIns="0" tIns="0" rIns="0" bIns="0" rtlCol="0" anchor="ctr"/>
          <a:lstStyle/>
          <a:p>
            <a:pPr algn="r" indent="0" marL="0">
              <a:buNone/>
            </a:pPr>
            <a:r>
              <a:rPr lang="en-US" sz="4000" dirty="0">
                <a:solidFill>
                  <a:srgbClr val="B4BBE0"/>
                </a:solidFill>
                <a:latin typeface="Segoe UI Light" pitchFamily="34" charset="0"/>
                <a:ea typeface="Segoe UI Light" pitchFamily="34" charset="-122"/>
                <a:cs typeface="Segoe UI Light" pitchFamily="34" charset="-120"/>
              </a:rPr>
              <a:t>01</a:t>
            </a:r>
            <a:endParaRPr lang="en-US" sz="4000" dirty="0"/>
          </a:p>
        </p:txBody>
      </p:sp>
      <p:sp>
        <p:nvSpPr>
          <p:cNvPr id="8" name="Text 4"/>
          <p:cNvSpPr txBox="1"/>
          <p:nvPr/>
        </p:nvSpPr>
        <p:spPr>
          <a:xfrm>
            <a:off x="960120" y="3291840"/>
            <a:ext cx="2788920" cy="502920"/>
          </a:xfrm>
          <a:prstGeom prst="rect">
            <a:avLst/>
          </a:prstGeom>
          <a:noFill/>
          <a:ln/>
        </p:spPr>
        <p:txBody>
          <a:bodyPr wrap="square" lIns="0" tIns="0" rIns="0" bIns="0" rtlCol="0" anchor="ctr"/>
          <a:lstStyle/>
          <a:p>
            <a:pPr indent="0" marL="0">
              <a:buNone/>
            </a:pPr>
            <a:r>
              <a:rPr lang="en-US" sz="2600" dirty="0">
                <a:solidFill>
                  <a:srgbClr val="F2F0FF"/>
                </a:solidFill>
                <a:latin typeface="Segoe UI Semibold" pitchFamily="34" charset="0"/>
                <a:ea typeface="Segoe UI Semibold" pitchFamily="34" charset="-122"/>
                <a:cs typeface="Segoe UI Semibold" pitchFamily="34" charset="-120"/>
              </a:rPr>
              <a:t>Fewer decisions</a:t>
            </a:r>
            <a:endParaRPr lang="en-US" sz="2600" dirty="0"/>
          </a:p>
        </p:txBody>
      </p:sp>
      <p:sp>
        <p:nvSpPr>
          <p:cNvPr id="9" name="Text 5"/>
          <p:cNvSpPr txBox="1"/>
          <p:nvPr/>
        </p:nvSpPr>
        <p:spPr>
          <a:xfrm>
            <a:off x="960120" y="3931920"/>
            <a:ext cx="2880360" cy="1325880"/>
          </a:xfrm>
          <a:prstGeom prst="rect">
            <a:avLst/>
          </a:prstGeom>
          <a:noFill/>
          <a:ln/>
        </p:spPr>
        <p:txBody>
          <a:bodyPr wrap="square" lIns="0" tIns="0" rIns="0" bIns="0" rtlCol="0" anchor="t"/>
          <a:lstStyle/>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The Optimization Wizard</a:t>
            </a:r>
            <a:endParaRPr lang="en-US" sz="1700" dirty="0"/>
          </a:p>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Export and import</a:t>
            </a:r>
            <a:endParaRPr lang="en-US" sz="1700" dirty="0"/>
          </a:p>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Every setting documented</a:t>
            </a:r>
            <a:endParaRPr lang="en-US" sz="1700" dirty="0"/>
          </a:p>
        </p:txBody>
      </p:sp>
      <p:sp>
        <p:nvSpPr>
          <p:cNvPr id="10" name="Shape 6"/>
          <p:cNvSpPr/>
          <p:nvPr/>
        </p:nvSpPr>
        <p:spPr>
          <a:xfrm>
            <a:off x="4381348" y="2011680"/>
            <a:ext cx="3429000" cy="3429000"/>
          </a:xfrm>
          <a:prstGeom prst="roundRect">
            <a:avLst>
              <a:gd name="adj" fmla="val 3733"/>
            </a:avLst>
          </a:prstGeom>
          <a:solidFill>
            <a:srgbClr val="151B3A">
              <a:alpha val="92000"/>
            </a:srgbClr>
          </a:solidFill>
          <a:ln w="9525">
            <a:solidFill>
              <a:srgbClr val="3A4380"/>
            </a:solidFill>
            <a:prstDash val="solid"/>
          </a:ln>
        </p:spPr>
      </p:sp>
      <p:sp>
        <p:nvSpPr>
          <p:cNvPr id="11" name="Shape 7"/>
          <p:cNvSpPr/>
          <p:nvPr/>
        </p:nvSpPr>
        <p:spPr>
          <a:xfrm>
            <a:off x="4701388" y="2331720"/>
            <a:ext cx="777240" cy="777240"/>
          </a:xfrm>
          <a:prstGeom prst="ellipse">
            <a:avLst/>
          </a:prstGeom>
          <a:solidFill>
            <a:srgbClr val="8B5CF6"/>
          </a:solidFill>
          <a:ln/>
        </p:spPr>
      </p:sp>
      <p:pic>
        <p:nvPicPr>
          <p:cNvPr id="12" name="Image 1" descr="/home/ghilios/src/hocus-focus/presentations/hocus-focus-v4/assets/icon-star.png">    </p:cNvPr>
          <p:cNvPicPr>
            <a:picLocks noChangeAspect="1"/>
          </p:cNvPicPr>
          <p:nvPr/>
        </p:nvPicPr>
        <p:blipFill>
          <a:blip r:embed="rId3"/>
          <a:stretch>
            <a:fillRect/>
          </a:stretch>
        </p:blipFill>
        <p:spPr>
          <a:xfrm>
            <a:off x="4911700" y="2542032"/>
            <a:ext cx="356616" cy="356616"/>
          </a:xfrm>
          <a:prstGeom prst="rect">
            <a:avLst/>
          </a:prstGeom>
        </p:spPr>
      </p:pic>
      <p:sp>
        <p:nvSpPr>
          <p:cNvPr id="13" name="Text 8"/>
          <p:cNvSpPr txBox="1"/>
          <p:nvPr/>
        </p:nvSpPr>
        <p:spPr>
          <a:xfrm>
            <a:off x="6621628" y="2331720"/>
            <a:ext cx="868680" cy="777240"/>
          </a:xfrm>
          <a:prstGeom prst="rect">
            <a:avLst/>
          </a:prstGeom>
          <a:noFill/>
          <a:ln/>
        </p:spPr>
        <p:txBody>
          <a:bodyPr wrap="square" lIns="0" tIns="0" rIns="0" bIns="0" rtlCol="0" anchor="ctr"/>
          <a:lstStyle/>
          <a:p>
            <a:pPr algn="r" indent="0" marL="0">
              <a:buNone/>
            </a:pPr>
            <a:r>
              <a:rPr lang="en-US" sz="4000" dirty="0">
                <a:solidFill>
                  <a:srgbClr val="B4BBE0"/>
                </a:solidFill>
                <a:latin typeface="Segoe UI Light" pitchFamily="34" charset="0"/>
                <a:ea typeface="Segoe UI Light" pitchFamily="34" charset="-122"/>
                <a:cs typeface="Segoe UI Light" pitchFamily="34" charset="-120"/>
              </a:rPr>
              <a:t>02</a:t>
            </a:r>
            <a:endParaRPr lang="en-US" sz="4000" dirty="0"/>
          </a:p>
        </p:txBody>
      </p:sp>
      <p:sp>
        <p:nvSpPr>
          <p:cNvPr id="14" name="Text 9"/>
          <p:cNvSpPr txBox="1"/>
          <p:nvPr/>
        </p:nvSpPr>
        <p:spPr>
          <a:xfrm>
            <a:off x="4701388" y="3291840"/>
            <a:ext cx="2788920" cy="502920"/>
          </a:xfrm>
          <a:prstGeom prst="rect">
            <a:avLst/>
          </a:prstGeom>
          <a:noFill/>
          <a:ln/>
        </p:spPr>
        <p:txBody>
          <a:bodyPr wrap="square" lIns="0" tIns="0" rIns="0" bIns="0" rtlCol="0" anchor="ctr"/>
          <a:lstStyle/>
          <a:p>
            <a:pPr indent="0" marL="0">
              <a:buNone/>
            </a:pPr>
            <a:r>
              <a:rPr lang="en-US" sz="2600" dirty="0">
                <a:solidFill>
                  <a:srgbClr val="F2F0FF"/>
                </a:solidFill>
                <a:latin typeface="Segoe UI Semibold" pitchFamily="34" charset="0"/>
                <a:ea typeface="Segoe UI Semibold" pitchFamily="34" charset="-122"/>
                <a:cs typeface="Segoe UI Semibold" pitchFamily="34" charset="-120"/>
              </a:rPr>
              <a:t>More stars</a:t>
            </a:r>
            <a:endParaRPr lang="en-US" sz="2600" dirty="0"/>
          </a:p>
        </p:txBody>
      </p:sp>
      <p:sp>
        <p:nvSpPr>
          <p:cNvPr id="15" name="Text 10"/>
          <p:cNvSpPr txBox="1"/>
          <p:nvPr/>
        </p:nvSpPr>
        <p:spPr>
          <a:xfrm>
            <a:off x="4701388" y="3931920"/>
            <a:ext cx="2880360" cy="1325880"/>
          </a:xfrm>
          <a:prstGeom prst="rect">
            <a:avLst/>
          </a:prstGeom>
          <a:noFill/>
          <a:ln/>
        </p:spPr>
        <p:txBody>
          <a:bodyPr wrap="square" lIns="0" tIns="0" rIns="0" bIns="0" rtlCol="0" anchor="t"/>
          <a:lstStyle/>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Donut detection</a:t>
            </a:r>
            <a:endParaRPr lang="en-US" sz="1700" dirty="0"/>
          </a:p>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Adaptive binarization</a:t>
            </a:r>
            <a:endParaRPr lang="en-US" sz="1700" dirty="0"/>
          </a:p>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Better fits, frame review</a:t>
            </a:r>
            <a:endParaRPr lang="en-US" sz="1700" dirty="0"/>
          </a:p>
        </p:txBody>
      </p:sp>
      <p:sp>
        <p:nvSpPr>
          <p:cNvPr id="16" name="Shape 11"/>
          <p:cNvSpPr/>
          <p:nvPr/>
        </p:nvSpPr>
        <p:spPr>
          <a:xfrm>
            <a:off x="8122615" y="2011680"/>
            <a:ext cx="3429000" cy="3429000"/>
          </a:xfrm>
          <a:prstGeom prst="roundRect">
            <a:avLst>
              <a:gd name="adj" fmla="val 3733"/>
            </a:avLst>
          </a:prstGeom>
          <a:solidFill>
            <a:srgbClr val="151B3A">
              <a:alpha val="92000"/>
            </a:srgbClr>
          </a:solidFill>
          <a:ln w="9525">
            <a:solidFill>
              <a:srgbClr val="3A4380"/>
            </a:solidFill>
            <a:prstDash val="solid"/>
          </a:ln>
        </p:spPr>
      </p:sp>
      <p:sp>
        <p:nvSpPr>
          <p:cNvPr id="17" name="Shape 12"/>
          <p:cNvSpPr/>
          <p:nvPr/>
        </p:nvSpPr>
        <p:spPr>
          <a:xfrm>
            <a:off x="8442655" y="2331720"/>
            <a:ext cx="777240" cy="777240"/>
          </a:xfrm>
          <a:prstGeom prst="ellipse">
            <a:avLst/>
          </a:prstGeom>
          <a:solidFill>
            <a:srgbClr val="8B5CF6"/>
          </a:solidFill>
          <a:ln/>
        </p:spPr>
      </p:sp>
      <p:pic>
        <p:nvPicPr>
          <p:cNvPr id="18" name="Image 2" descr="/home/ghilios/src/hocus-focus/presentations/hocus-focus-v4/assets/icon-plane.png">    </p:cNvPr>
          <p:cNvPicPr>
            <a:picLocks noChangeAspect="1"/>
          </p:cNvPicPr>
          <p:nvPr/>
        </p:nvPicPr>
        <p:blipFill>
          <a:blip r:embed="rId4"/>
          <a:stretch>
            <a:fillRect/>
          </a:stretch>
        </p:blipFill>
        <p:spPr>
          <a:xfrm>
            <a:off x="8652967" y="2542032"/>
            <a:ext cx="356616" cy="356616"/>
          </a:xfrm>
          <a:prstGeom prst="rect">
            <a:avLst/>
          </a:prstGeom>
        </p:spPr>
      </p:pic>
      <p:sp>
        <p:nvSpPr>
          <p:cNvPr id="19" name="Text 13"/>
          <p:cNvSpPr txBox="1"/>
          <p:nvPr/>
        </p:nvSpPr>
        <p:spPr>
          <a:xfrm>
            <a:off x="10362895" y="2331720"/>
            <a:ext cx="868680" cy="777240"/>
          </a:xfrm>
          <a:prstGeom prst="rect">
            <a:avLst/>
          </a:prstGeom>
          <a:noFill/>
          <a:ln/>
        </p:spPr>
        <p:txBody>
          <a:bodyPr wrap="square" lIns="0" tIns="0" rIns="0" bIns="0" rtlCol="0" anchor="ctr"/>
          <a:lstStyle/>
          <a:p>
            <a:pPr algn="r" indent="0" marL="0">
              <a:buNone/>
            </a:pPr>
            <a:r>
              <a:rPr lang="en-US" sz="4000" dirty="0">
                <a:solidFill>
                  <a:srgbClr val="B4BBE0"/>
                </a:solidFill>
                <a:latin typeface="Segoe UI Light" pitchFamily="34" charset="0"/>
                <a:ea typeface="Segoe UI Light" pitchFamily="34" charset="-122"/>
                <a:cs typeface="Segoe UI Light" pitchFamily="34" charset="-120"/>
              </a:rPr>
              <a:t>03</a:t>
            </a:r>
            <a:endParaRPr lang="en-US" sz="4000" dirty="0"/>
          </a:p>
        </p:txBody>
      </p:sp>
      <p:sp>
        <p:nvSpPr>
          <p:cNvPr id="20" name="Text 14"/>
          <p:cNvSpPr txBox="1"/>
          <p:nvPr/>
        </p:nvSpPr>
        <p:spPr>
          <a:xfrm>
            <a:off x="8442655" y="3291840"/>
            <a:ext cx="2788920" cy="502920"/>
          </a:xfrm>
          <a:prstGeom prst="rect">
            <a:avLst/>
          </a:prstGeom>
          <a:noFill/>
          <a:ln/>
        </p:spPr>
        <p:txBody>
          <a:bodyPr wrap="square" lIns="0" tIns="0" rIns="0" bIns="0" rtlCol="0" anchor="ctr"/>
          <a:lstStyle/>
          <a:p>
            <a:pPr indent="0" marL="0">
              <a:buNone/>
            </a:pPr>
            <a:r>
              <a:rPr lang="en-US" sz="2600" dirty="0">
                <a:solidFill>
                  <a:srgbClr val="F2F0FF"/>
                </a:solidFill>
                <a:latin typeface="Segoe UI Semibold" pitchFamily="34" charset="0"/>
                <a:ea typeface="Segoe UI Semibold" pitchFamily="34" charset="-122"/>
                <a:cs typeface="Segoe UI Semibold" pitchFamily="34" charset="-120"/>
              </a:rPr>
              <a:t>Flat sensors</a:t>
            </a:r>
            <a:endParaRPr lang="en-US" sz="2600" dirty="0"/>
          </a:p>
        </p:txBody>
      </p:sp>
      <p:sp>
        <p:nvSpPr>
          <p:cNvPr id="21" name="Text 15"/>
          <p:cNvSpPr txBox="1"/>
          <p:nvPr/>
        </p:nvSpPr>
        <p:spPr>
          <a:xfrm>
            <a:off x="8442655" y="3931920"/>
            <a:ext cx="2880360" cy="1325880"/>
          </a:xfrm>
          <a:prstGeom prst="rect">
            <a:avLst/>
          </a:prstGeom>
          <a:noFill/>
          <a:ln/>
        </p:spPr>
        <p:txBody>
          <a:bodyPr wrap="square" lIns="0" tIns="0" rIns="0" bIns="0" rtlCol="0" anchor="t"/>
          <a:lstStyle/>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The Calibration Wizard</a:t>
            </a:r>
            <a:endParaRPr lang="en-US" sz="1700" dirty="0"/>
          </a:p>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Guided and automatic fixes</a:t>
            </a:r>
            <a:endParaRPr lang="en-US" sz="1700" dirty="0"/>
          </a:p>
          <a:p>
            <a:pPr marL="279400" indent="-279400">
              <a:spcAft>
                <a:spcPts val="900"/>
              </a:spcAft>
              <a:buSzPct val="100000"/>
              <a:buChar char="●"/>
            </a:pPr>
            <a:r>
              <a:rPr lang="en-US" sz="1700" dirty="0">
                <a:solidFill>
                  <a:srgbClr val="B4BBE0"/>
                </a:solidFill>
                <a:latin typeface="Segoe UI" pitchFamily="34" charset="0"/>
                <a:ea typeface="Segoe UI" pitchFamily="34" charset="-122"/>
                <a:cs typeface="Segoe UI" pitchFamily="34" charset="-120"/>
              </a:rPr>
              <a:t>Indoor simulators</a:t>
            </a:r>
            <a:endParaRPr lang="en-US" sz="17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8183880" y="1691640"/>
            <a:ext cx="3383280" cy="3383280"/>
          </a:xfrm>
          <a:prstGeom prst="ellipse">
            <a:avLst/>
          </a:prstGeom>
          <a:solidFill>
            <a:srgbClr val="8B5CF6">
              <a:alpha val="18000"/>
            </a:srgbClr>
          </a:solidFill>
          <a:ln w="15875">
            <a:solidFill>
              <a:srgbClr val="8B5CF6"/>
            </a:solidFill>
            <a:prstDash val="solid"/>
          </a:ln>
        </p:spPr>
      </p:sp>
      <p:pic>
        <p:nvPicPr>
          <p:cNvPr id="4" name="Image 0" descr="/home/ghilios/src/hocus-focus/presentations/hocus-focus-v4/assets/icon-sliders.png">    </p:cNvPr>
          <p:cNvPicPr>
            <a:picLocks noChangeAspect="1"/>
          </p:cNvPicPr>
          <p:nvPr/>
        </p:nvPicPr>
        <p:blipFill>
          <a:blip r:embed="rId2">
            <a:alphaModFix amt="75000"/>
          </a:blip>
          <a:stretch>
            <a:fillRect/>
          </a:stretch>
        </p:blipFill>
        <p:spPr>
          <a:xfrm>
            <a:off x="9052560" y="2560320"/>
            <a:ext cx="1645920" cy="1645920"/>
          </a:xfrm>
          <a:prstGeom prst="rect">
            <a:avLst/>
          </a:prstGeom>
        </p:spPr>
      </p:pic>
      <p:sp>
        <p:nvSpPr>
          <p:cNvPr id="5" name="Text 1"/>
          <p:cNvSpPr txBox="1"/>
          <p:nvPr/>
        </p:nvSpPr>
        <p:spPr>
          <a:xfrm>
            <a:off x="640080" y="1554480"/>
            <a:ext cx="3657600" cy="1463040"/>
          </a:xfrm>
          <a:prstGeom prst="rect">
            <a:avLst/>
          </a:prstGeom>
          <a:noFill/>
          <a:ln/>
        </p:spPr>
        <p:txBody>
          <a:bodyPr wrap="square" lIns="0" tIns="0" rIns="0" bIns="0" rtlCol="0" anchor="ctr"/>
          <a:lstStyle/>
          <a:p>
            <a:pPr indent="0" marL="0">
              <a:buNone/>
            </a:pPr>
            <a:r>
              <a:rPr lang="en-US" sz="11000" dirty="0">
                <a:solidFill>
                  <a:srgbClr val="8B5CF6"/>
                </a:solidFill>
                <a:latin typeface="Segoe UI Light" pitchFamily="34" charset="0"/>
                <a:ea typeface="Segoe UI Light" pitchFamily="34" charset="-122"/>
                <a:cs typeface="Segoe UI Light" pitchFamily="34" charset="-120"/>
              </a:rPr>
              <a:t>01</a:t>
            </a:r>
            <a:endParaRPr lang="en-US" sz="11000" dirty="0"/>
          </a:p>
        </p:txBody>
      </p:sp>
      <p:sp>
        <p:nvSpPr>
          <p:cNvPr id="6" name="Text 2"/>
          <p:cNvSpPr txBox="1"/>
          <p:nvPr/>
        </p:nvSpPr>
        <p:spPr>
          <a:xfrm>
            <a:off x="640080" y="3063240"/>
            <a:ext cx="7315200" cy="914400"/>
          </a:xfrm>
          <a:prstGeom prst="rect">
            <a:avLst/>
          </a:prstGeom>
          <a:noFill/>
          <a:ln/>
        </p:spPr>
        <p:txBody>
          <a:bodyPr wrap="square" lIns="0" tIns="0" rIns="0" bIns="0" rtlCol="0" anchor="ctr"/>
          <a:lstStyle/>
          <a:p>
            <a:pPr indent="0" marL="0">
              <a:buNone/>
            </a:pPr>
            <a:r>
              <a:rPr lang="en-US" sz="4400" dirty="0">
                <a:solidFill>
                  <a:srgbClr val="F2F0FF"/>
                </a:solidFill>
                <a:latin typeface="Segoe UI Semibold" pitchFamily="34" charset="0"/>
                <a:ea typeface="Segoe UI Semibold" pitchFamily="34" charset="-122"/>
                <a:cs typeface="Segoe UI Semibold" pitchFamily="34" charset="-120"/>
              </a:rPr>
              <a:t>Fewer decisions</a:t>
            </a:r>
            <a:endParaRPr lang="en-US" sz="4400" dirty="0"/>
          </a:p>
        </p:txBody>
      </p:sp>
      <p:sp>
        <p:nvSpPr>
          <p:cNvPr id="7" name="Text 3"/>
          <p:cNvSpPr txBox="1"/>
          <p:nvPr/>
        </p:nvSpPr>
        <p:spPr>
          <a:xfrm>
            <a:off x="640080" y="4069080"/>
            <a:ext cx="7452360" cy="457200"/>
          </a:xfrm>
          <a:prstGeom prst="rect">
            <a:avLst/>
          </a:prstGeom>
          <a:noFill/>
          <a:ln/>
        </p:spPr>
        <p:txBody>
          <a:bodyPr wrap="square" lIns="0" tIns="0" rIns="0" bIns="0" rtlCol="0" anchor="ctr"/>
          <a:lstStyle/>
          <a:p>
            <a:pPr indent="0" marL="0">
              <a:buNone/>
            </a:pPr>
            <a:r>
              <a:rPr lang="en-US" sz="1800" dirty="0">
                <a:solidFill>
                  <a:srgbClr val="B4BBE0"/>
                </a:solidFill>
                <a:latin typeface="Segoe UI" pitchFamily="34" charset="0"/>
                <a:ea typeface="Segoe UI" pitchFamily="34" charset="-122"/>
                <a:cs typeface="Segoe UI" pitchFamily="34" charset="-120"/>
              </a:rPr>
              <a:t>The Star Detection Optimization Wizard, and why the settings exist at all</a:t>
            </a:r>
            <a:endParaRPr lang="en-US" sz="18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b="1" spc="200" kern="0" dirty="0">
                <a:solidFill>
                  <a:srgbClr val="F2F0FF"/>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“There are too many settings”</a:t>
            </a:r>
            <a:endParaRPr lang="en-US" sz="3200" dirty="0"/>
          </a:p>
        </p:txBody>
      </p:sp>
      <p:sp>
        <p:nvSpPr>
          <p:cNvPr id="5" name="Shape 2"/>
          <p:cNvSpPr/>
          <p:nvPr/>
        </p:nvSpPr>
        <p:spPr>
          <a:xfrm>
            <a:off x="640080" y="1691640"/>
            <a:ext cx="4132525" cy="4389120"/>
          </a:xfrm>
          <a:prstGeom prst="roundRect">
            <a:avLst>
              <a:gd name="adj" fmla="val 2213"/>
            </a:avLst>
          </a:prstGeom>
          <a:solidFill>
            <a:srgbClr val="FFFFFF"/>
          </a:solidFill>
          <a:ln/>
          <a:effectLst>
            <a:outerShdw sx="100000" sy="100000" kx="0" ky="0" algn="bl" rotWithShape="0" blurRad="177800" dist="50800" dir="5400000">
              <a:srgbClr val="000000">
                <a:alpha val="45000"/>
              </a:srgbClr>
            </a:outerShdw>
          </a:effectLst>
        </p:spPr>
      </p:sp>
      <p:pic>
        <p:nvPicPr>
          <p:cNvPr id="6" name="Image 0" descr="/home/ghilios/src/hocus-focus/presentations/hocus-focus-v4/assets/settings-wall.png">    </p:cNvPr>
          <p:cNvPicPr>
            <a:picLocks noChangeAspect="1"/>
          </p:cNvPicPr>
          <p:nvPr/>
        </p:nvPicPr>
        <p:blipFill>
          <a:blip r:embed="rId2"/>
          <a:stretch>
            <a:fillRect/>
          </a:stretch>
        </p:blipFill>
        <p:spPr>
          <a:xfrm>
            <a:off x="749808" y="1801368"/>
            <a:ext cx="3913069" cy="4169664"/>
          </a:xfrm>
          <a:prstGeom prst="rect">
            <a:avLst/>
          </a:prstGeom>
        </p:spPr>
      </p:pic>
      <p:sp>
        <p:nvSpPr>
          <p:cNvPr id="7" name="Text 3"/>
          <p:cNvSpPr txBox="1"/>
          <p:nvPr/>
        </p:nvSpPr>
        <p:spPr>
          <a:xfrm>
            <a:off x="5577840" y="1691640"/>
            <a:ext cx="2743200" cy="1188720"/>
          </a:xfrm>
          <a:prstGeom prst="rect">
            <a:avLst/>
          </a:prstGeom>
          <a:noFill/>
          <a:ln/>
        </p:spPr>
        <p:txBody>
          <a:bodyPr wrap="square" lIns="0" tIns="0" rIns="0" bIns="0" rtlCol="0" anchor="ctr"/>
          <a:lstStyle/>
          <a:p>
            <a:pPr indent="0" marL="0">
              <a:buNone/>
            </a:pPr>
            <a:r>
              <a:rPr lang="en-US" sz="8400" dirty="0">
                <a:solidFill>
                  <a:srgbClr val="FF4D9D"/>
                </a:solidFill>
                <a:latin typeface="Segoe UI Semibold" pitchFamily="34" charset="0"/>
                <a:ea typeface="Segoe UI Semibold" pitchFamily="34" charset="-122"/>
                <a:cs typeface="Segoe UI Semibold" pitchFamily="34" charset="-120"/>
              </a:rPr>
              <a:t>40+</a:t>
            </a:r>
            <a:endParaRPr lang="en-US" sz="8400" dirty="0"/>
          </a:p>
        </p:txBody>
      </p:sp>
      <p:sp>
        <p:nvSpPr>
          <p:cNvPr id="8" name="Text 4"/>
          <p:cNvSpPr txBox="1"/>
          <p:nvPr/>
        </p:nvSpPr>
        <p:spPr>
          <a:xfrm>
            <a:off x="8229600" y="1691640"/>
            <a:ext cx="3319272" cy="1188720"/>
          </a:xfrm>
          <a:prstGeom prst="rect">
            <a:avLst/>
          </a:prstGeom>
          <a:noFill/>
          <a:ln/>
        </p:spPr>
        <p:txBody>
          <a:bodyPr wrap="square" lIns="0" tIns="0" rIns="0" bIns="0" rtlCol="0" anchor="ctr"/>
          <a:lstStyle/>
          <a:p>
            <a:pPr indent="0" marL="0">
              <a:buNone/>
            </a:pPr>
            <a:r>
              <a:rPr lang="en-US" sz="1800" dirty="0">
                <a:solidFill>
                  <a:srgbClr val="B4BBE0"/>
                </a:solidFill>
                <a:latin typeface="Segoe UI" pitchFamily="34" charset="0"/>
                <a:ea typeface="Segoe UI" pitchFamily="34" charset="-122"/>
                <a:cs typeface="Segoe UI" pitchFamily="34" charset="-120"/>
              </a:rPr>
              <a:t>star detection settings in Advanced mode. The #1 complaint from the community.</a:t>
            </a:r>
            <a:endParaRPr lang="en-US" sz="1800" dirty="0"/>
          </a:p>
        </p:txBody>
      </p:sp>
      <p:sp>
        <p:nvSpPr>
          <p:cNvPr id="9" name="Shape 5"/>
          <p:cNvSpPr/>
          <p:nvPr/>
        </p:nvSpPr>
        <p:spPr>
          <a:xfrm>
            <a:off x="5577840" y="3108960"/>
            <a:ext cx="5971032" cy="2971800"/>
          </a:xfrm>
          <a:prstGeom prst="roundRect">
            <a:avLst>
              <a:gd name="adj" fmla="val 4308"/>
            </a:avLst>
          </a:prstGeom>
          <a:solidFill>
            <a:srgbClr val="151B3A">
              <a:alpha val="92000"/>
            </a:srgbClr>
          </a:solidFill>
          <a:ln w="9525">
            <a:solidFill>
              <a:srgbClr val="3A4380"/>
            </a:solidFill>
            <a:prstDash val="solid"/>
          </a:ln>
        </p:spPr>
      </p:sp>
      <p:sp>
        <p:nvSpPr>
          <p:cNvPr id="10" name="Text 6"/>
          <p:cNvSpPr txBox="1"/>
          <p:nvPr/>
        </p:nvSpPr>
        <p:spPr>
          <a:xfrm>
            <a:off x="5897880" y="3337560"/>
            <a:ext cx="36576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GOOD NEWS #1</a:t>
            </a:r>
            <a:endParaRPr lang="en-US" sz="1300" dirty="0"/>
          </a:p>
        </p:txBody>
      </p:sp>
      <p:sp>
        <p:nvSpPr>
          <p:cNvPr id="11" name="Text 7"/>
          <p:cNvSpPr txBox="1"/>
          <p:nvPr/>
        </p:nvSpPr>
        <p:spPr>
          <a:xfrm>
            <a:off x="5897880" y="3703320"/>
            <a:ext cx="3566160" cy="914400"/>
          </a:xfrm>
          <a:prstGeom prst="rect">
            <a:avLst/>
          </a:prstGeom>
          <a:noFill/>
          <a:ln/>
        </p:spPr>
        <p:txBody>
          <a:bodyPr wrap="square" lIns="0" tIns="0" rIns="0" bIns="0" rtlCol="0" anchor="t"/>
          <a:lstStyle/>
          <a:p>
            <a:pPr indent="0" marL="0">
              <a:buNone/>
            </a:pPr>
            <a:r>
              <a:rPr lang="en-US" sz="2400" dirty="0">
                <a:solidFill>
                  <a:srgbClr val="F2F0FF"/>
                </a:solidFill>
                <a:latin typeface="Segoe UI Semibold" pitchFamily="34" charset="0"/>
                <a:ea typeface="Segoe UI Semibold" pitchFamily="34" charset="-122"/>
                <a:cs typeface="Segoe UI Semibold" pitchFamily="34" charset="-120"/>
              </a:rPr>
              <a:t>Every setting is now fully documented</a:t>
            </a:r>
            <a:endParaRPr lang="en-US" sz="2400" dirty="0"/>
          </a:p>
        </p:txBody>
      </p:sp>
      <p:sp>
        <p:nvSpPr>
          <p:cNvPr id="12" name="Text 8"/>
          <p:cNvSpPr txBox="1"/>
          <p:nvPr/>
        </p:nvSpPr>
        <p:spPr>
          <a:xfrm>
            <a:off x="5897880" y="4663440"/>
            <a:ext cx="3566160" cy="640080"/>
          </a:xfrm>
          <a:prstGeom prst="rect">
            <a:avLst/>
          </a:prstGeom>
          <a:noFill/>
          <a:ln/>
        </p:spPr>
        <p:txBody>
          <a:bodyPr wrap="square" lIns="0" tIns="0" rIns="0" bIns="0" rtlCol="0" anchor="t"/>
          <a:lstStyle/>
          <a:p>
            <a:pPr indent="0" marL="0">
              <a:buNone/>
            </a:pPr>
            <a:r>
              <a:rPr lang="en-US" sz="1600" dirty="0">
                <a:solidFill>
                  <a:srgbClr val="B4BBE0"/>
                </a:solidFill>
                <a:latin typeface="Segoe UI" pitchFamily="34" charset="0"/>
                <a:ea typeface="Segoe UI" pitchFamily="34" charset="-122"/>
                <a:cs typeface="Segoe UI" pitchFamily="34" charset="-120"/>
              </a:rPr>
              <a:t>What it does, when to touch it, and what it trades off.</a:t>
            </a:r>
            <a:endParaRPr lang="en-US" sz="1600" dirty="0"/>
          </a:p>
        </p:txBody>
      </p:sp>
      <p:sp>
        <p:nvSpPr>
          <p:cNvPr id="13" name="Text 9"/>
          <p:cNvSpPr txBox="1"/>
          <p:nvPr/>
        </p:nvSpPr>
        <p:spPr>
          <a:xfrm>
            <a:off x="5897880" y="5440680"/>
            <a:ext cx="3657600" cy="365760"/>
          </a:xfrm>
          <a:prstGeom prst="rect">
            <a:avLst/>
          </a:prstGeom>
          <a:noFill/>
          <a:ln/>
        </p:spPr>
        <p:txBody>
          <a:bodyPr wrap="square" lIns="0" tIns="0" rIns="0" bIns="0" rtlCol="0" anchor="t"/>
          <a:lstStyle/>
          <a:p>
            <a:pPr indent="0" marL="0">
              <a:buNone/>
            </a:pPr>
            <a:r>
              <a:rPr lang="en-US" sz="15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ghilios.github.io/hocus-focus/settings</a:t>
            </a:r>
            <a:endParaRPr lang="en-US" sz="1500" dirty="0"/>
          </a:p>
        </p:txBody>
      </p:sp>
      <p:sp>
        <p:nvSpPr>
          <p:cNvPr id="14" name="Shape 10"/>
          <p:cNvSpPr/>
          <p:nvPr/>
        </p:nvSpPr>
        <p:spPr>
          <a:xfrm>
            <a:off x="9692640" y="3429000"/>
            <a:ext cx="1600200" cy="1600200"/>
          </a:xfrm>
          <a:prstGeom prst="roundRect">
            <a:avLst>
              <a:gd name="adj" fmla="val 4571"/>
            </a:avLst>
          </a:prstGeom>
          <a:solidFill>
            <a:srgbClr val="FFFFFF"/>
          </a:solidFill>
          <a:ln/>
        </p:spPr>
      </p:sp>
      <p:pic>
        <p:nvPicPr>
          <p:cNvPr id="15" name="Image 1" descr="/home/ghilios/src/hocus-focus/presentations/hocus-focus-v4/assets/qr-settings.png">    </p:cNvPr>
          <p:cNvPicPr>
            <a:picLocks noChangeAspect="1"/>
          </p:cNvPicPr>
          <p:nvPr/>
        </p:nvPicPr>
        <p:blipFill>
          <a:blip r:embed="rId4"/>
          <a:stretch>
            <a:fillRect/>
          </a:stretch>
        </p:blipFill>
        <p:spPr>
          <a:xfrm>
            <a:off x="9765792" y="3502152"/>
            <a:ext cx="1453896" cy="1453896"/>
          </a:xfrm>
          <a:prstGeom prst="rect">
            <a:avLst/>
          </a:prstGeom>
        </p:spPr>
      </p:pic>
      <p:sp>
        <p:nvSpPr>
          <p:cNvPr id="16" name="Text 11"/>
          <p:cNvSpPr txBox="1"/>
          <p:nvPr/>
        </p:nvSpPr>
        <p:spPr>
          <a:xfrm>
            <a:off x="9555480" y="5102352"/>
            <a:ext cx="1874520" cy="292608"/>
          </a:xfrm>
          <a:prstGeom prst="rect">
            <a:avLst/>
          </a:prstGeom>
          <a:noFill/>
          <a:ln/>
        </p:spPr>
        <p:txBody>
          <a:bodyPr wrap="square" lIns="0" tIns="0" rIns="0" bIns="0" rtlCol="0" anchor="t"/>
          <a:lstStyle/>
          <a:p>
            <a:pPr algn="ctr" indent="0" marL="0">
              <a:buNone/>
            </a:pPr>
            <a:r>
              <a:rPr lang="en-US" sz="1400" dirty="0">
                <a:solidFill>
                  <a:srgbClr val="B4BBE0"/>
                </a:solidFill>
                <a:latin typeface="Segoe UI" pitchFamily="34" charset="0"/>
                <a:ea typeface="Segoe UI" pitchFamily="34" charset="-122"/>
                <a:cs typeface="Segoe UI" pitchFamily="34" charset="-120"/>
              </a:rPr>
              <a:t>scan for the docs</a:t>
            </a:r>
            <a:endParaRPr lang="en-US" sz="14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b="1" spc="200" kern="0" dirty="0">
                <a:solidFill>
                  <a:srgbClr val="F2F0FF"/>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Good news #2: you don't have to set them</a:t>
            </a:r>
            <a:endParaRPr lang="en-US" sz="3200" dirty="0"/>
          </a:p>
        </p:txBody>
      </p:sp>
      <p:sp>
        <p:nvSpPr>
          <p:cNvPr id="4" name="Shape 2"/>
          <p:cNvSpPr/>
          <p:nvPr/>
        </p:nvSpPr>
        <p:spPr>
          <a:xfrm>
            <a:off x="640080" y="6108192"/>
            <a:ext cx="4027018"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3478378"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ghilios.github.io/hocus-focus/optimization</a:t>
            </a:r>
            <a:endParaRPr lang="en-US" sz="1300" dirty="0"/>
          </a:p>
        </p:txBody>
      </p:sp>
      <p:sp>
        <p:nvSpPr>
          <p:cNvPr id="8" name="Shape 4"/>
          <p:cNvSpPr/>
          <p:nvPr/>
        </p:nvSpPr>
        <p:spPr>
          <a:xfrm>
            <a:off x="640080" y="1691640"/>
            <a:ext cx="6292972" cy="4160520"/>
          </a:xfrm>
          <a:prstGeom prst="roundRect">
            <a:avLst>
              <a:gd name="adj" fmla="val 2198"/>
            </a:avLst>
          </a:prstGeom>
          <a:solidFill>
            <a:srgbClr val="FFFFFF"/>
          </a:solidFill>
          <a:ln/>
          <a:effectLst>
            <a:outerShdw sx="100000" sy="100000" kx="0" ky="0" algn="bl" rotWithShape="0" blurRad="177800" dist="50800" dir="5400000">
              <a:srgbClr val="000000">
                <a:alpha val="45000"/>
              </a:srgbClr>
            </a:outerShdw>
          </a:effectLst>
        </p:spPr>
      </p:sp>
      <p:pic>
        <p:nvPicPr>
          <p:cNvPr id="9" name="Image 1" descr="/home/ghilios/src/hocus-focus/presentations/hocus-focus-v4/screenshots/optimizer-start.png">    </p:cNvPr>
          <p:cNvPicPr>
            <a:picLocks noChangeAspect="1"/>
          </p:cNvPicPr>
          <p:nvPr/>
        </p:nvPicPr>
        <p:blipFill>
          <a:blip r:embed="rId4"/>
          <a:stretch>
            <a:fillRect/>
          </a:stretch>
        </p:blipFill>
        <p:spPr>
          <a:xfrm>
            <a:off x="749808" y="1801368"/>
            <a:ext cx="6073516" cy="3941064"/>
          </a:xfrm>
          <a:prstGeom prst="rect">
            <a:avLst/>
          </a:prstGeom>
        </p:spPr>
      </p:pic>
      <p:sp>
        <p:nvSpPr>
          <p:cNvPr id="10" name="Text 5"/>
          <p:cNvSpPr txBox="1"/>
          <p:nvPr/>
        </p:nvSpPr>
        <p:spPr>
          <a:xfrm>
            <a:off x="7406640" y="1691640"/>
            <a:ext cx="41148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THE OPTIMIZATION WIZARD</a:t>
            </a:r>
            <a:endParaRPr lang="en-US" sz="1300" dirty="0"/>
          </a:p>
        </p:txBody>
      </p:sp>
      <p:sp>
        <p:nvSpPr>
          <p:cNvPr id="11" name="Text 6"/>
          <p:cNvSpPr txBox="1"/>
          <p:nvPr/>
        </p:nvSpPr>
        <p:spPr>
          <a:xfrm>
            <a:off x="7406640" y="2057400"/>
            <a:ext cx="4142232" cy="3794760"/>
          </a:xfrm>
          <a:prstGeom prst="rect">
            <a:avLst/>
          </a:prstGeom>
          <a:noFill/>
          <a:ln/>
        </p:spPr>
        <p:txBody>
          <a:bodyPr wrap="square" lIns="0" tIns="0" rIns="0" bIns="0" rtlCol="0" anchor="ctr"/>
          <a:lstStyle/>
          <a:p>
            <a:pPr marL="279400" indent="-279400">
              <a:spcAft>
                <a:spcPts val="1400"/>
              </a:spcAft>
              <a:buSzPct val="100000"/>
              <a:buChar char="●"/>
            </a:pPr>
            <a:r>
              <a:rPr lang="en-US" sz="1900" b="1" dirty="0">
                <a:solidFill>
                  <a:srgbClr val="F2F0FF"/>
                </a:solidFill>
                <a:latin typeface="Segoe UI" pitchFamily="34" charset="0"/>
                <a:ea typeface="Segoe UI" pitchFamily="34" charset="-122"/>
                <a:cs typeface="Segoe UI" pitchFamily="34" charset="-120"/>
              </a:rPr>
              <a:t>Point it at a saved autofocus run</a:t>
            </a:r>
            <a:pPr indent="0" marL="0">
              <a:buNone/>
            </a:pPr>
            <a:r>
              <a:rPr lang="en-US" sz="1900" dirty="0">
                <a:solidFill>
                  <a:srgbClr val="F2F0FF"/>
                </a:solidFill>
                <a:latin typeface="Segoe UI" pitchFamily="34" charset="0"/>
                <a:ea typeface="Segoe UI" pitchFamily="34" charset="-122"/>
                <a:cs typeface="Segoe UI" pitchFamily="34" charset="-120"/>
              </a:rPr>
              <a:t>, or let it capture one live</a:t>
            </a:r>
            <a:endParaRPr lang="en-US" sz="1900" dirty="0"/>
          </a:p>
          <a:p>
            <a:pPr marL="279400" indent="-279400">
              <a:spcAft>
                <a:spcPts val="1400"/>
              </a:spcAft>
              <a:buSzPct val="100000"/>
              <a:buChar char="●"/>
            </a:pPr>
            <a:r>
              <a:rPr lang="en-US" sz="1900" dirty="0">
                <a:solidFill>
                  <a:srgbClr val="F2F0FF"/>
                </a:solidFill>
                <a:latin typeface="Segoe UI" pitchFamily="34" charset="0"/>
                <a:ea typeface="Segoe UI" pitchFamily="34" charset="-122"/>
                <a:cs typeface="Segoe UI" pitchFamily="34" charset="-120"/>
              </a:rPr>
              <a:t>It re-runs star detection on those frames with many combinations of settings</a:t>
            </a:r>
            <a:endParaRPr lang="en-US" sz="1900" dirty="0"/>
          </a:p>
          <a:p>
            <a:pPr marL="279400" indent="-279400">
              <a:spcAft>
                <a:spcPts val="1400"/>
              </a:spcAft>
              <a:buSzPct val="100000"/>
              <a:buChar char="●"/>
            </a:pPr>
            <a:r>
              <a:rPr lang="en-US" sz="1900" b="1" dirty="0">
                <a:solidFill>
                  <a:srgbClr val="F2F0FF"/>
                </a:solidFill>
                <a:latin typeface="Segoe UI" pitchFamily="34" charset="0"/>
                <a:ea typeface="Segoe UI" pitchFamily="34" charset="-122"/>
                <a:cs typeface="Segoe UI" pitchFamily="34" charset="-120"/>
              </a:rPr>
              <a:t>It keeps what best pins down focus</a:t>
            </a:r>
            <a:pPr indent="0" marL="0">
              <a:buNone/>
            </a:pPr>
            <a:r>
              <a:rPr lang="en-US" sz="1900" dirty="0">
                <a:solidFill>
                  <a:srgbClr val="F2F0FF"/>
                </a:solidFill>
                <a:latin typeface="Segoe UI" pitchFamily="34" charset="0"/>
                <a:ea typeface="Segoe UI" pitchFamily="34" charset="-122"/>
                <a:cs typeface="Segoe UI" pitchFamily="34" charset="-120"/>
              </a:rPr>
              <a:t> for your rig and your sky</a:t>
            </a:r>
            <a:endParaRPr lang="en-US" sz="1900" dirty="0"/>
          </a:p>
        </p:txBody>
      </p:sp>
      <p:sp>
        <p:nvSpPr>
          <p:cNvPr id="12" name="Shape 7"/>
          <p:cNvSpPr/>
          <p:nvPr/>
        </p:nvSpPr>
        <p:spPr>
          <a:xfrm>
            <a:off x="640080" y="6126480"/>
            <a:ext cx="10911535" cy="-274320"/>
          </a:xfrm>
          <a:prstGeom prst="roundRect">
            <a:avLst>
              <a:gd name="adj" fmla="val -46667"/>
            </a:avLst>
          </a:prstGeom>
          <a:solidFill>
            <a:srgbClr val="151B3A">
              <a:alpha val="92000"/>
            </a:srgbClr>
          </a:solidFill>
          <a:ln w="9525">
            <a:solidFill>
              <a:srgbClr val="3A4380"/>
            </a:solidFill>
            <a:prstDash val="solid"/>
          </a:ln>
        </p:spPr>
      </p:sp>
      <p:sp>
        <p:nvSpPr>
          <p:cNvPr id="13" name="Text 8"/>
          <p:cNvSpPr txBox="1"/>
          <p:nvPr/>
        </p:nvSpPr>
        <p:spPr>
          <a:xfrm>
            <a:off x="960120" y="6217920"/>
            <a:ext cx="54864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REMEMBER THESE TWO SWITCHES</a:t>
            </a:r>
            <a:endParaRPr lang="en-US" sz="1300" dirty="0"/>
          </a:p>
        </p:txBody>
      </p:sp>
      <p:sp>
        <p:nvSpPr>
          <p:cNvPr id="14" name="Text 9"/>
          <p:cNvSpPr txBox="1"/>
          <p:nvPr/>
        </p:nvSpPr>
        <p:spPr>
          <a:xfrm>
            <a:off x="960120" y="6510528"/>
            <a:ext cx="4952848" cy="-731520"/>
          </a:xfrm>
          <a:prstGeom prst="rect">
            <a:avLst/>
          </a:prstGeom>
          <a:noFill/>
          <a:ln/>
        </p:spPr>
        <p:txBody>
          <a:bodyPr wrap="square" lIns="0" tIns="0" rIns="0" bIns="0" rtlCol="0" anchor="ctr"/>
          <a:lstStyle/>
          <a:p>
            <a:pPr indent="0" marL="0">
              <a:buNone/>
            </a:pPr>
            <a:r>
              <a:rPr lang="en-US" sz="1700" b="1" dirty="0">
                <a:solidFill>
                  <a:srgbClr val="F2F0FF"/>
                </a:solidFill>
                <a:latin typeface="Segoe UI" pitchFamily="34" charset="0"/>
                <a:ea typeface="Segoe UI" pitchFamily="34" charset="-122"/>
                <a:cs typeface="Segoe UI" pitchFamily="34" charset="-120"/>
              </a:rPr>
              <a:t>Recover out-of-focus donut stars</a:t>
            </a:r>
            <a:endParaRPr lang="en-US" sz="1700" dirty="0"/>
          </a:p>
        </p:txBody>
      </p:sp>
      <p:sp>
        <p:nvSpPr>
          <p:cNvPr id="15" name="Text 10"/>
          <p:cNvSpPr txBox="1"/>
          <p:nvPr/>
        </p:nvSpPr>
        <p:spPr>
          <a:xfrm>
            <a:off x="6095848" y="6510528"/>
            <a:ext cx="4952848" cy="-731520"/>
          </a:xfrm>
          <a:prstGeom prst="rect">
            <a:avLst/>
          </a:prstGeom>
          <a:noFill/>
          <a:ln/>
        </p:spPr>
        <p:txBody>
          <a:bodyPr wrap="square" lIns="0" tIns="0" rIns="0" bIns="0" rtlCol="0" anchor="ctr"/>
          <a:lstStyle/>
          <a:p>
            <a:pPr indent="0" marL="0">
              <a:buNone/>
            </a:pPr>
            <a:r>
              <a:rPr lang="en-US" sz="1700" b="1" dirty="0">
                <a:solidFill>
                  <a:srgbClr val="F2F0FF"/>
                </a:solidFill>
                <a:latin typeface="Segoe UI" pitchFamily="34" charset="0"/>
                <a:ea typeface="Segoe UI" pitchFamily="34" charset="-122"/>
                <a:cs typeface="Segoe UI" pitchFamily="34" charset="-120"/>
              </a:rPr>
              <a:t>Optimize for aberration inspection</a:t>
            </a:r>
            <a:endParaRPr lang="en-US" sz="17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1097280" y="1371600"/>
            <a:ext cx="9997135" cy="1097280"/>
          </a:xfrm>
          <a:prstGeom prst="rect">
            <a:avLst/>
          </a:prstGeom>
          <a:noFill/>
          <a:ln/>
        </p:spPr>
        <p:txBody>
          <a:bodyPr wrap="square" lIns="0" tIns="0" rIns="0" bIns="0" rtlCol="0" anchor="ctr"/>
          <a:lstStyle/>
          <a:p>
            <a:pPr algn="ctr" indent="0" marL="0">
              <a:buNone/>
            </a:pPr>
            <a:r>
              <a:rPr lang="en-US" sz="4600" dirty="0">
                <a:solidFill>
                  <a:srgbClr val="F2F0FF"/>
                </a:solidFill>
                <a:latin typeface="Segoe UI Semibold" pitchFamily="34" charset="0"/>
                <a:ea typeface="Segoe UI Semibold" pitchFamily="34" charset="-122"/>
                <a:cs typeface="Segoe UI Semibold" pitchFamily="34" charset="-120"/>
              </a:rPr>
              <a:t>So why are there so many settings?</a:t>
            </a:r>
            <a:endParaRPr lang="en-US" sz="4600" dirty="0"/>
          </a:p>
        </p:txBody>
      </p:sp>
      <p:sp>
        <p:nvSpPr>
          <p:cNvPr id="4" name="Text 1"/>
          <p:cNvSpPr txBox="1"/>
          <p:nvPr/>
        </p:nvSpPr>
        <p:spPr>
          <a:xfrm>
            <a:off x="1097280" y="2514600"/>
            <a:ext cx="9997135" cy="548640"/>
          </a:xfrm>
          <a:prstGeom prst="rect">
            <a:avLst/>
          </a:prstGeom>
          <a:noFill/>
          <a:ln/>
        </p:spPr>
        <p:txBody>
          <a:bodyPr wrap="square" lIns="0" tIns="0" rIns="0" bIns="0" rtlCol="0" anchor="ctr"/>
          <a:lstStyle/>
          <a:p>
            <a:pPr algn="ctr" indent="0" marL="0">
              <a:buNone/>
            </a:pPr>
            <a:r>
              <a:rPr lang="en-US" sz="2200" dirty="0">
                <a:solidFill>
                  <a:srgbClr val="B4BBE0"/>
                </a:solidFill>
                <a:latin typeface="Segoe UI" pitchFamily="34" charset="0"/>
                <a:ea typeface="Segoe UI" pitchFamily="34" charset="-122"/>
                <a:cs typeface="Segoe UI" pitchFamily="34" charset="-120"/>
              </a:rPr>
              <a:t>It comes down to something everyone here already obsesses over…</a:t>
            </a:r>
            <a:endParaRPr lang="en-US" sz="2200" dirty="0"/>
          </a:p>
        </p:txBody>
      </p:sp>
      <p:sp>
        <p:nvSpPr>
          <p:cNvPr id="5" name="Shape 2"/>
          <p:cNvSpPr/>
          <p:nvPr/>
        </p:nvSpPr>
        <p:spPr>
          <a:xfrm>
            <a:off x="4381348" y="3429000"/>
            <a:ext cx="3429000" cy="1417320"/>
          </a:xfrm>
          <a:prstGeom prst="roundRect">
            <a:avLst>
              <a:gd name="adj" fmla="val 50000"/>
            </a:avLst>
          </a:prstGeom>
          <a:solidFill>
            <a:srgbClr val="FFB020"/>
          </a:solidFill>
          <a:ln/>
          <a:effectLst>
            <a:outerShdw sx="100000" sy="100000" kx="0" ky="0" algn="bl" rotWithShape="0" blurRad="177800" dist="50800" dir="5400000">
              <a:srgbClr val="000000">
                <a:alpha val="45000"/>
              </a:srgbClr>
            </a:outerShdw>
          </a:effectLst>
        </p:spPr>
      </p:sp>
      <p:sp>
        <p:nvSpPr>
          <p:cNvPr id="6" name="Text 3"/>
          <p:cNvSpPr txBox="1"/>
          <p:nvPr/>
        </p:nvSpPr>
        <p:spPr>
          <a:xfrm>
            <a:off x="4381348" y="3429000"/>
            <a:ext cx="3429000" cy="1417320"/>
          </a:xfrm>
          <a:prstGeom prst="rect">
            <a:avLst/>
          </a:prstGeom>
          <a:noFill/>
          <a:ln/>
        </p:spPr>
        <p:txBody>
          <a:bodyPr wrap="square" lIns="0" tIns="0" rIns="0" bIns="0" rtlCol="0" anchor="ctr"/>
          <a:lstStyle/>
          <a:p>
            <a:pPr algn="ctr" indent="0" marL="0">
              <a:buNone/>
            </a:pPr>
            <a:r>
              <a:rPr lang="en-US" sz="5000" b="1" spc="300" kern="0" dirty="0">
                <a:solidFill>
                  <a:srgbClr val="0B1026"/>
                </a:solidFill>
                <a:latin typeface="Segoe UI Semibold" pitchFamily="34" charset="0"/>
                <a:ea typeface="Segoe UI Semibold" pitchFamily="34" charset="-122"/>
                <a:cs typeface="Segoe UI Semibold" pitchFamily="34" charset="-120"/>
              </a:rPr>
              <a:t>SNR</a:t>
            </a:r>
            <a:endParaRPr lang="en-US" sz="5000" dirty="0"/>
          </a:p>
        </p:txBody>
      </p:sp>
      <p:sp>
        <p:nvSpPr>
          <p:cNvPr id="7" name="Text 4"/>
          <p:cNvSpPr txBox="1"/>
          <p:nvPr/>
        </p:nvSpPr>
        <p:spPr>
          <a:xfrm>
            <a:off x="1097280" y="5257800"/>
            <a:ext cx="9997135" cy="548640"/>
          </a:xfrm>
          <a:prstGeom prst="rect">
            <a:avLst/>
          </a:prstGeom>
          <a:noFill/>
          <a:ln/>
        </p:spPr>
        <p:txBody>
          <a:bodyPr wrap="square" lIns="0" tIns="0" rIns="0" bIns="0" rtlCol="0" anchor="ctr"/>
          <a:lstStyle/>
          <a:p>
            <a:pPr algn="ctr" indent="0" marL="0">
              <a:buNone/>
            </a:pPr>
            <a:r>
              <a:rPr lang="en-US" sz="2400" dirty="0">
                <a:solidFill>
                  <a:srgbClr val="F2F0FF"/>
                </a:solidFill>
                <a:latin typeface="Segoe UI" pitchFamily="34" charset="0"/>
                <a:ea typeface="Segoe UI" pitchFamily="34" charset="-122"/>
                <a:cs typeface="Segoe UI" pitchFamily="34" charset="-120"/>
              </a:rPr>
              <a:t>Hold that thought.</a:t>
            </a:r>
            <a:endParaRPr lang="en-US" sz="24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b="1" spc="200" kern="0" dirty="0">
                <a:solidFill>
                  <a:srgbClr val="F2F0FF"/>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It tries a few hundred combinations for you</a:t>
            </a:r>
            <a:endParaRPr lang="en-US" sz="3200" dirty="0"/>
          </a:p>
        </p:txBody>
      </p:sp>
      <p:sp>
        <p:nvSpPr>
          <p:cNvPr id="4" name="Shape 2"/>
          <p:cNvSpPr/>
          <p:nvPr/>
        </p:nvSpPr>
        <p:spPr>
          <a:xfrm>
            <a:off x="640080" y="6108192"/>
            <a:ext cx="4027018"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3478378"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ghilios.github.io/hocus-focus/optimization</a:t>
            </a:r>
            <a:endParaRPr lang="en-US" sz="1300" dirty="0"/>
          </a:p>
        </p:txBody>
      </p:sp>
      <p:sp>
        <p:nvSpPr>
          <p:cNvPr id="8" name="Shape 4"/>
          <p:cNvSpPr/>
          <p:nvPr/>
        </p:nvSpPr>
        <p:spPr>
          <a:xfrm>
            <a:off x="640080" y="1737360"/>
            <a:ext cx="1874520" cy="868680"/>
          </a:xfrm>
          <a:prstGeom prst="roundRect">
            <a:avLst>
              <a:gd name="adj" fmla="val 14737"/>
            </a:avLst>
          </a:prstGeom>
          <a:solidFill>
            <a:srgbClr val="151B3A">
              <a:alpha val="92000"/>
            </a:srgbClr>
          </a:solidFill>
          <a:ln w="9525">
            <a:solidFill>
              <a:srgbClr val="3A4380"/>
            </a:solidFill>
            <a:prstDash val="solid"/>
          </a:ln>
        </p:spPr>
      </p:sp>
      <p:sp>
        <p:nvSpPr>
          <p:cNvPr id="9" name="Text 5"/>
          <p:cNvSpPr txBox="1"/>
          <p:nvPr/>
        </p:nvSpPr>
        <p:spPr>
          <a:xfrm>
            <a:off x="749808" y="1737360"/>
            <a:ext cx="1655064" cy="868680"/>
          </a:xfrm>
          <a:prstGeom prst="rect">
            <a:avLst/>
          </a:prstGeom>
          <a:noFill/>
          <a:ln/>
        </p:spPr>
        <p:txBody>
          <a:bodyPr wrap="square" lIns="0" tIns="0" rIns="0" bIns="0" rtlCol="0" anchor="ctr"/>
          <a:lstStyle/>
          <a:p>
            <a:pPr algn="ctr" indent="0" marL="0">
              <a:buNone/>
            </a:pPr>
            <a:r>
              <a:rPr lang="en-US" sz="1600" dirty="0">
                <a:solidFill>
                  <a:srgbClr val="F2F0FF"/>
                </a:solidFill>
                <a:latin typeface="Segoe UI" pitchFamily="34" charset="0"/>
                <a:ea typeface="Segoe UI" pitchFamily="34" charset="-122"/>
                <a:cs typeface="Segoe UI" pitchFamily="34" charset="-120"/>
              </a:rPr>
              <a:t>Saved autofocus frames</a:t>
            </a:r>
            <a:endParaRPr lang="en-US" sz="1600" dirty="0"/>
          </a:p>
        </p:txBody>
      </p:sp>
      <p:sp>
        <p:nvSpPr>
          <p:cNvPr id="10" name="Shape 6"/>
          <p:cNvSpPr/>
          <p:nvPr/>
        </p:nvSpPr>
        <p:spPr>
          <a:xfrm>
            <a:off x="2569464" y="2171700"/>
            <a:ext cx="275006" cy="0"/>
          </a:xfrm>
          <a:prstGeom prst="line">
            <a:avLst/>
          </a:prstGeom>
          <a:noFill/>
          <a:ln w="28575">
            <a:solidFill>
              <a:srgbClr val="B4BBE0"/>
            </a:solidFill>
            <a:prstDash val="solid"/>
            <a:tailEnd type="triangle"/>
          </a:ln>
        </p:spPr>
      </p:sp>
      <p:sp>
        <p:nvSpPr>
          <p:cNvPr id="11" name="Shape 7"/>
          <p:cNvSpPr/>
          <p:nvPr/>
        </p:nvSpPr>
        <p:spPr>
          <a:xfrm>
            <a:off x="2899334" y="1737360"/>
            <a:ext cx="1874520" cy="868680"/>
          </a:xfrm>
          <a:prstGeom prst="roundRect">
            <a:avLst>
              <a:gd name="adj" fmla="val 14737"/>
            </a:avLst>
          </a:prstGeom>
          <a:solidFill>
            <a:srgbClr val="151B3A">
              <a:alpha val="92000"/>
            </a:srgbClr>
          </a:solidFill>
          <a:ln w="9525">
            <a:solidFill>
              <a:srgbClr val="3A4380"/>
            </a:solidFill>
            <a:prstDash val="solid"/>
          </a:ln>
        </p:spPr>
      </p:sp>
      <p:sp>
        <p:nvSpPr>
          <p:cNvPr id="12" name="Text 8"/>
          <p:cNvSpPr txBox="1"/>
          <p:nvPr/>
        </p:nvSpPr>
        <p:spPr>
          <a:xfrm>
            <a:off x="3009062" y="1737360"/>
            <a:ext cx="1655064" cy="868680"/>
          </a:xfrm>
          <a:prstGeom prst="rect">
            <a:avLst/>
          </a:prstGeom>
          <a:noFill/>
          <a:ln/>
        </p:spPr>
        <p:txBody>
          <a:bodyPr wrap="square" lIns="0" tIns="0" rIns="0" bIns="0" rtlCol="0" anchor="ctr"/>
          <a:lstStyle/>
          <a:p>
            <a:pPr algn="ctr" indent="0" marL="0">
              <a:buNone/>
            </a:pPr>
            <a:r>
              <a:rPr lang="en-US" sz="1600" dirty="0">
                <a:solidFill>
                  <a:srgbClr val="F2F0FF"/>
                </a:solidFill>
                <a:latin typeface="Segoe UI" pitchFamily="34" charset="0"/>
                <a:ea typeface="Segoe UI" pitchFamily="34" charset="-122"/>
                <a:cs typeface="Segoe UI" pitchFamily="34" charset="-120"/>
              </a:rPr>
              <a:t>Try a set of settings</a:t>
            </a:r>
            <a:endParaRPr lang="en-US" sz="1600" dirty="0"/>
          </a:p>
        </p:txBody>
      </p:sp>
      <p:sp>
        <p:nvSpPr>
          <p:cNvPr id="13" name="Shape 9"/>
          <p:cNvSpPr/>
          <p:nvPr/>
        </p:nvSpPr>
        <p:spPr>
          <a:xfrm>
            <a:off x="4828718" y="2171700"/>
            <a:ext cx="275006" cy="0"/>
          </a:xfrm>
          <a:prstGeom prst="line">
            <a:avLst/>
          </a:prstGeom>
          <a:noFill/>
          <a:ln w="28575">
            <a:solidFill>
              <a:srgbClr val="B4BBE0"/>
            </a:solidFill>
            <a:prstDash val="solid"/>
            <a:tailEnd type="triangle"/>
          </a:ln>
        </p:spPr>
      </p:sp>
      <p:sp>
        <p:nvSpPr>
          <p:cNvPr id="14" name="Shape 10"/>
          <p:cNvSpPr/>
          <p:nvPr/>
        </p:nvSpPr>
        <p:spPr>
          <a:xfrm>
            <a:off x="5158588" y="1737360"/>
            <a:ext cx="1874520" cy="868680"/>
          </a:xfrm>
          <a:prstGeom prst="roundRect">
            <a:avLst>
              <a:gd name="adj" fmla="val 14737"/>
            </a:avLst>
          </a:prstGeom>
          <a:solidFill>
            <a:srgbClr val="151B3A">
              <a:alpha val="92000"/>
            </a:srgbClr>
          </a:solidFill>
          <a:ln w="9525">
            <a:solidFill>
              <a:srgbClr val="3A4380"/>
            </a:solidFill>
            <a:prstDash val="solid"/>
          </a:ln>
        </p:spPr>
      </p:sp>
      <p:sp>
        <p:nvSpPr>
          <p:cNvPr id="15" name="Text 11"/>
          <p:cNvSpPr txBox="1"/>
          <p:nvPr/>
        </p:nvSpPr>
        <p:spPr>
          <a:xfrm>
            <a:off x="5268316" y="1737360"/>
            <a:ext cx="1655064" cy="868680"/>
          </a:xfrm>
          <a:prstGeom prst="rect">
            <a:avLst/>
          </a:prstGeom>
          <a:noFill/>
          <a:ln/>
        </p:spPr>
        <p:txBody>
          <a:bodyPr wrap="square" lIns="0" tIns="0" rIns="0" bIns="0" rtlCol="0" anchor="ctr"/>
          <a:lstStyle/>
          <a:p>
            <a:pPr algn="ctr" indent="0" marL="0">
              <a:buNone/>
            </a:pPr>
            <a:r>
              <a:rPr lang="en-US" sz="1600" dirty="0">
                <a:solidFill>
                  <a:srgbClr val="F2F0FF"/>
                </a:solidFill>
                <a:latin typeface="Segoe UI" pitchFamily="34" charset="0"/>
                <a:ea typeface="Segoe UI" pitchFamily="34" charset="-122"/>
                <a:cs typeface="Segoe UI" pitchFamily="34" charset="-120"/>
              </a:rPr>
              <a:t>Re-detect stars in every frame</a:t>
            </a:r>
            <a:endParaRPr lang="en-US" sz="1600" dirty="0"/>
          </a:p>
        </p:txBody>
      </p:sp>
      <p:sp>
        <p:nvSpPr>
          <p:cNvPr id="16" name="Shape 12"/>
          <p:cNvSpPr/>
          <p:nvPr/>
        </p:nvSpPr>
        <p:spPr>
          <a:xfrm>
            <a:off x="7087972" y="2171700"/>
            <a:ext cx="275006" cy="0"/>
          </a:xfrm>
          <a:prstGeom prst="line">
            <a:avLst/>
          </a:prstGeom>
          <a:noFill/>
          <a:ln w="28575">
            <a:solidFill>
              <a:srgbClr val="B4BBE0"/>
            </a:solidFill>
            <a:prstDash val="solid"/>
            <a:tailEnd type="triangle"/>
          </a:ln>
        </p:spPr>
      </p:sp>
      <p:sp>
        <p:nvSpPr>
          <p:cNvPr id="17" name="Shape 13"/>
          <p:cNvSpPr/>
          <p:nvPr/>
        </p:nvSpPr>
        <p:spPr>
          <a:xfrm>
            <a:off x="7417841" y="1737360"/>
            <a:ext cx="1874520" cy="868680"/>
          </a:xfrm>
          <a:prstGeom prst="roundRect">
            <a:avLst>
              <a:gd name="adj" fmla="val 14737"/>
            </a:avLst>
          </a:prstGeom>
          <a:solidFill>
            <a:srgbClr val="151B3A">
              <a:alpha val="92000"/>
            </a:srgbClr>
          </a:solidFill>
          <a:ln w="9525">
            <a:solidFill>
              <a:srgbClr val="3A4380"/>
            </a:solidFill>
            <a:prstDash val="solid"/>
          </a:ln>
        </p:spPr>
      </p:sp>
      <p:sp>
        <p:nvSpPr>
          <p:cNvPr id="18" name="Text 14"/>
          <p:cNvSpPr txBox="1"/>
          <p:nvPr/>
        </p:nvSpPr>
        <p:spPr>
          <a:xfrm>
            <a:off x="7527569" y="1737360"/>
            <a:ext cx="1655064" cy="868680"/>
          </a:xfrm>
          <a:prstGeom prst="rect">
            <a:avLst/>
          </a:prstGeom>
          <a:noFill/>
          <a:ln/>
        </p:spPr>
        <p:txBody>
          <a:bodyPr wrap="square" lIns="0" tIns="0" rIns="0" bIns="0" rtlCol="0" anchor="ctr"/>
          <a:lstStyle/>
          <a:p>
            <a:pPr algn="ctr" indent="0" marL="0">
              <a:buNone/>
            </a:pPr>
            <a:r>
              <a:rPr lang="en-US" sz="1600" dirty="0">
                <a:solidFill>
                  <a:srgbClr val="F2F0FF"/>
                </a:solidFill>
                <a:latin typeface="Segoe UI" pitchFamily="34" charset="0"/>
                <a:ea typeface="Segoe UI" pitchFamily="34" charset="-122"/>
                <a:cs typeface="Segoe UI" pitchFamily="34" charset="-120"/>
              </a:rPr>
              <a:t>Fit the focus curve</a:t>
            </a:r>
            <a:endParaRPr lang="en-US" sz="1600" dirty="0"/>
          </a:p>
        </p:txBody>
      </p:sp>
      <p:sp>
        <p:nvSpPr>
          <p:cNvPr id="19" name="Shape 15"/>
          <p:cNvSpPr/>
          <p:nvPr/>
        </p:nvSpPr>
        <p:spPr>
          <a:xfrm>
            <a:off x="9347225" y="2171700"/>
            <a:ext cx="275006" cy="0"/>
          </a:xfrm>
          <a:prstGeom prst="line">
            <a:avLst/>
          </a:prstGeom>
          <a:noFill/>
          <a:ln w="28575">
            <a:solidFill>
              <a:srgbClr val="B4BBE0"/>
            </a:solidFill>
            <a:prstDash val="solid"/>
            <a:tailEnd type="triangle"/>
          </a:ln>
        </p:spPr>
      </p:sp>
      <p:sp>
        <p:nvSpPr>
          <p:cNvPr id="20" name="Shape 16"/>
          <p:cNvSpPr/>
          <p:nvPr/>
        </p:nvSpPr>
        <p:spPr>
          <a:xfrm>
            <a:off x="9677095" y="1737360"/>
            <a:ext cx="1874520" cy="868680"/>
          </a:xfrm>
          <a:prstGeom prst="roundRect">
            <a:avLst>
              <a:gd name="adj" fmla="val 14737"/>
            </a:avLst>
          </a:prstGeom>
          <a:solidFill>
            <a:srgbClr val="1E2650"/>
          </a:solidFill>
          <a:ln w="19050">
            <a:solidFill>
              <a:srgbClr val="8B5CF6"/>
            </a:solidFill>
            <a:prstDash val="solid"/>
          </a:ln>
        </p:spPr>
      </p:sp>
      <p:sp>
        <p:nvSpPr>
          <p:cNvPr id="21" name="Text 17"/>
          <p:cNvSpPr txBox="1"/>
          <p:nvPr/>
        </p:nvSpPr>
        <p:spPr>
          <a:xfrm>
            <a:off x="9786823" y="1737360"/>
            <a:ext cx="1655064" cy="868680"/>
          </a:xfrm>
          <a:prstGeom prst="rect">
            <a:avLst/>
          </a:prstGeom>
          <a:noFill/>
          <a:ln/>
        </p:spPr>
        <p:txBody>
          <a:bodyPr wrap="square" lIns="0" tIns="0" rIns="0" bIns="0" rtlCol="0" anchor="ctr"/>
          <a:lstStyle/>
          <a:p>
            <a:pPr algn="ctr" indent="0" marL="0">
              <a:buNone/>
            </a:pPr>
            <a:r>
              <a:rPr lang="en-US" sz="1600" b="1" dirty="0">
                <a:solidFill>
                  <a:srgbClr val="F2F0FF"/>
                </a:solidFill>
                <a:latin typeface="Segoe UI" pitchFamily="34" charset="0"/>
                <a:ea typeface="Segoe UI" pitchFamily="34" charset="-122"/>
                <a:cs typeface="Segoe UI" pitchFamily="34" charset="-120"/>
              </a:rPr>
              <a:t>Score it</a:t>
            </a:r>
            <a:endParaRPr lang="en-US" sz="1600" dirty="0"/>
          </a:p>
        </p:txBody>
      </p:sp>
      <p:sp>
        <p:nvSpPr>
          <p:cNvPr id="22" name="Shape 18"/>
          <p:cNvSpPr/>
          <p:nvPr/>
        </p:nvSpPr>
        <p:spPr>
          <a:xfrm>
            <a:off x="10614355" y="2606040"/>
            <a:ext cx="0" cy="365760"/>
          </a:xfrm>
          <a:prstGeom prst="line">
            <a:avLst/>
          </a:prstGeom>
          <a:noFill/>
          <a:ln w="28575">
            <a:solidFill>
              <a:srgbClr val="8B5CF6"/>
            </a:solidFill>
            <a:prstDash val="solid"/>
          </a:ln>
        </p:spPr>
      </p:sp>
      <p:sp>
        <p:nvSpPr>
          <p:cNvPr id="23" name="Shape 19"/>
          <p:cNvSpPr/>
          <p:nvPr/>
        </p:nvSpPr>
        <p:spPr>
          <a:xfrm>
            <a:off x="3836594" y="2971800"/>
            <a:ext cx="6777761" cy="0"/>
          </a:xfrm>
          <a:prstGeom prst="line">
            <a:avLst/>
          </a:prstGeom>
          <a:noFill/>
          <a:ln w="28575">
            <a:solidFill>
              <a:srgbClr val="8B5CF6"/>
            </a:solidFill>
            <a:prstDash val="solid"/>
          </a:ln>
        </p:spPr>
      </p:sp>
      <p:sp>
        <p:nvSpPr>
          <p:cNvPr id="24" name="Shape 20"/>
          <p:cNvSpPr/>
          <p:nvPr/>
        </p:nvSpPr>
        <p:spPr>
          <a:xfrm>
            <a:off x="3836594" y="2642616"/>
            <a:ext cx="0" cy="329184"/>
          </a:xfrm>
          <a:prstGeom prst="line">
            <a:avLst/>
          </a:prstGeom>
          <a:noFill/>
          <a:ln w="28575">
            <a:solidFill>
              <a:srgbClr val="8B5CF6"/>
            </a:solidFill>
            <a:prstDash val="solid"/>
            <a:headEnd type="triangle"/>
          </a:ln>
        </p:spPr>
      </p:sp>
      <p:sp>
        <p:nvSpPr>
          <p:cNvPr id="25" name="Shape 21"/>
          <p:cNvSpPr/>
          <p:nvPr/>
        </p:nvSpPr>
        <p:spPr>
          <a:xfrm>
            <a:off x="5625275" y="2770632"/>
            <a:ext cx="3200400" cy="402336"/>
          </a:xfrm>
          <a:prstGeom prst="roundRect">
            <a:avLst>
              <a:gd name="adj" fmla="val 18182"/>
            </a:avLst>
          </a:prstGeom>
          <a:solidFill>
            <a:srgbClr val="8B5CF6"/>
          </a:solidFill>
          <a:ln/>
        </p:spPr>
      </p:sp>
      <p:sp>
        <p:nvSpPr>
          <p:cNvPr id="26" name="Text 22"/>
          <p:cNvSpPr txBox="1"/>
          <p:nvPr/>
        </p:nvSpPr>
        <p:spPr>
          <a:xfrm>
            <a:off x="5625275" y="2770632"/>
            <a:ext cx="320040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repeat a few hundred times</a:t>
            </a:r>
            <a:endParaRPr lang="en-US" sz="1500" dirty="0"/>
          </a:p>
        </p:txBody>
      </p:sp>
      <p:pic>
        <p:nvPicPr>
          <p:cNvPr id="27" name="Image 1" descr="/home/ghilios/src/hocus-focus/presentations/hocus-focus-v4/assets/art-search.png">    </p:cNvPr>
          <p:cNvPicPr>
            <a:picLocks noChangeAspect="1"/>
          </p:cNvPicPr>
          <p:nvPr/>
        </p:nvPicPr>
        <p:blipFill>
          <a:blip r:embed="rId4"/>
          <a:stretch>
            <a:fillRect/>
          </a:stretch>
        </p:blipFill>
        <p:spPr>
          <a:xfrm>
            <a:off x="640080" y="3383280"/>
            <a:ext cx="3474720" cy="2468880"/>
          </a:xfrm>
          <a:prstGeom prst="rect">
            <a:avLst/>
          </a:prstGeom>
        </p:spPr>
      </p:pic>
      <p:sp>
        <p:nvSpPr>
          <p:cNvPr id="28" name="Text 23"/>
          <p:cNvSpPr txBox="1"/>
          <p:nvPr/>
        </p:nvSpPr>
        <p:spPr>
          <a:xfrm>
            <a:off x="4572000" y="3383280"/>
            <a:ext cx="6979615" cy="2468880"/>
          </a:xfrm>
          <a:prstGeom prst="rect">
            <a:avLst/>
          </a:prstGeom>
          <a:noFill/>
          <a:ln/>
        </p:spPr>
        <p:txBody>
          <a:bodyPr wrap="square" lIns="0" tIns="0" rIns="0" bIns="0" rtlCol="0" anchor="ctr"/>
          <a:lstStyle/>
          <a:p>
            <a:pPr marL="279400" indent="-279400">
              <a:spcAft>
                <a:spcPts val="900"/>
              </a:spcAft>
              <a:buSzPct val="100000"/>
              <a:buChar char="●"/>
            </a:pPr>
            <a:r>
              <a:rPr lang="en-US" sz="1800" b="1" dirty="0">
                <a:solidFill>
                  <a:srgbClr val="F2F0FF"/>
                </a:solidFill>
                <a:latin typeface="Segoe UI" pitchFamily="34" charset="0"/>
                <a:ea typeface="Segoe UI" pitchFamily="34" charset="-122"/>
                <a:cs typeface="Segoe UI" pitchFamily="34" charset="-120"/>
              </a:rPr>
              <a:t>A methodical search.</a:t>
            </a:r>
            <a:pPr indent="0" marL="0">
              <a:buNone/>
            </a:pPr>
            <a:r>
              <a:rPr lang="en-US" sz="1800" dirty="0">
                <a:solidFill>
                  <a:srgbClr val="F2F0FF"/>
                </a:solidFill>
                <a:latin typeface="Segoe UI" pitchFamily="34" charset="0"/>
                <a:ea typeface="Segoe UI" pitchFamily="34" charset="-122"/>
                <a:cs typeface="Segoe UI" pitchFamily="34" charset="-120"/>
              </a:rPr>
              <a:t> No randomness, so the same frames give the same answer</a:t>
            </a:r>
            <a:endParaRPr lang="en-US" sz="1800" dirty="0"/>
          </a:p>
          <a:p>
            <a:pPr marL="279400" indent="-279400">
              <a:spcAft>
                <a:spcPts val="900"/>
              </a:spcAft>
              <a:buSzPct val="100000"/>
              <a:buChar char="●"/>
            </a:pPr>
            <a:r>
              <a:rPr lang="en-US" sz="1800" dirty="0">
                <a:solidFill>
                  <a:srgbClr val="F2F0FF"/>
                </a:solidFill>
                <a:latin typeface="Segoe UI" pitchFamily="34" charset="0"/>
                <a:ea typeface="Segoe UI" pitchFamily="34" charset="-122"/>
                <a:cs typeface="Segoe UI" pitchFamily="34" charset="-120"/>
              </a:rPr>
              <a:t>Each candidate is judged by how precisely the frames pin down best focus</a:t>
            </a:r>
            <a:endParaRPr lang="en-US" sz="1800" dirty="0"/>
          </a:p>
          <a:p>
            <a:pPr marL="279400" indent="-279400">
              <a:spcAft>
                <a:spcPts val="900"/>
              </a:spcAft>
              <a:buSzPct val="100000"/>
              <a:buChar char="●"/>
            </a:pPr>
            <a:r>
              <a:rPr lang="en-US" sz="1800" b="1" dirty="0">
                <a:solidFill>
                  <a:srgbClr val="F2F0FF"/>
                </a:solidFill>
                <a:latin typeface="Segoe UI" pitchFamily="34" charset="0"/>
                <a:ea typeface="Segoe UI" pitchFamily="34" charset="-122"/>
                <a:cs typeface="Segoe UI" pitchFamily="34" charset="-120"/>
              </a:rPr>
              <a:t>It never hands back anything worse</a:t>
            </a:r>
            <a:pPr indent="0" marL="0">
              <a:buNone/>
            </a:pPr>
            <a:r>
              <a:rPr lang="en-US" sz="1800" dirty="0">
                <a:solidFill>
                  <a:srgbClr val="F2F0FF"/>
                </a:solidFill>
                <a:latin typeface="Segoe UI" pitchFamily="34" charset="0"/>
                <a:ea typeface="Segoe UI" pitchFamily="34" charset="-122"/>
                <a:cs typeface="Segoe UI" pitchFamily="34" charset="-120"/>
              </a:rPr>
              <a:t> than what you have now</a:t>
            </a:r>
            <a:endParaRPr lang="en-US" sz="1800" dirty="0"/>
          </a:p>
          <a:p>
            <a:pPr indent="0" marL="0">
              <a:spcBef>
                <a:spcPts val="600"/>
              </a:spcBef>
              <a:buNone/>
            </a:pPr>
            <a:r>
              <a:rPr lang="en-US" sz="1400" dirty="0">
                <a:solidFill>
                  <a:srgbClr val="B4BBE0"/>
                </a:solidFill>
                <a:latin typeface="Segoe UI" pitchFamily="34" charset="0"/>
                <a:ea typeface="Segoe UI" pitchFamily="34" charset="-122"/>
                <a:cs typeface="Segoe UI" pitchFamily="34" charset="-120"/>
              </a:rPr>
              <a:t>Brighter = better score  ·  dots = a coarse first pass  ·  white path = the search</a:t>
            </a:r>
            <a:endParaRPr lang="en-US" sz="18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b="1" spc="200" kern="0" dirty="0">
                <a:solidFill>
                  <a:srgbClr val="F2F0FF"/>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You get a tighter curve, and advice</a:t>
            </a:r>
            <a:endParaRPr lang="en-US" sz="3200" dirty="0"/>
          </a:p>
        </p:txBody>
      </p:sp>
      <p:sp>
        <p:nvSpPr>
          <p:cNvPr id="4" name="Shape 2"/>
          <p:cNvSpPr/>
          <p:nvPr/>
        </p:nvSpPr>
        <p:spPr>
          <a:xfrm>
            <a:off x="640080" y="6108192"/>
            <a:ext cx="4027018"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3478378"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ghilios.github.io/hocus-focus/optimization</a:t>
            </a:r>
            <a:endParaRPr lang="en-US" sz="1300" dirty="0"/>
          </a:p>
        </p:txBody>
      </p:sp>
      <p:sp>
        <p:nvSpPr>
          <p:cNvPr id="8" name="Shape 4"/>
          <p:cNvSpPr/>
          <p:nvPr/>
        </p:nvSpPr>
        <p:spPr>
          <a:xfrm>
            <a:off x="640080" y="1920240"/>
            <a:ext cx="6675120" cy="3889813"/>
          </a:xfrm>
          <a:prstGeom prst="roundRect">
            <a:avLst>
              <a:gd name="adj" fmla="val 2351"/>
            </a:avLst>
          </a:prstGeom>
          <a:solidFill>
            <a:srgbClr val="FFFFFF"/>
          </a:solidFill>
          <a:ln/>
          <a:effectLst>
            <a:outerShdw sx="100000" sy="100000" kx="0" ky="0" algn="bl" rotWithShape="0" blurRad="177800" dist="50800" dir="5400000">
              <a:srgbClr val="000000">
                <a:alpha val="45000"/>
              </a:srgbClr>
            </a:outerShdw>
          </a:effectLst>
        </p:spPr>
      </p:sp>
      <p:pic>
        <p:nvPicPr>
          <p:cNvPr id="9" name="Image 1" descr="/home/ghilios/src/hocus-focus/presentations/hocus-focus-v4/screenshots/optimizer-summary.png">    </p:cNvPr>
          <p:cNvPicPr>
            <a:picLocks noChangeAspect="1"/>
          </p:cNvPicPr>
          <p:nvPr/>
        </p:nvPicPr>
        <p:blipFill>
          <a:blip r:embed="rId4"/>
          <a:stretch>
            <a:fillRect/>
          </a:stretch>
        </p:blipFill>
        <p:spPr>
          <a:xfrm>
            <a:off x="749808" y="2029968"/>
            <a:ext cx="6455664" cy="3670357"/>
          </a:xfrm>
          <a:prstGeom prst="rect">
            <a:avLst/>
          </a:prstGeom>
        </p:spPr>
      </p:pic>
      <p:sp>
        <p:nvSpPr>
          <p:cNvPr id="10" name="Shape 5"/>
          <p:cNvSpPr/>
          <p:nvPr/>
        </p:nvSpPr>
        <p:spPr>
          <a:xfrm>
            <a:off x="7635240" y="2242087"/>
            <a:ext cx="713232" cy="713232"/>
          </a:xfrm>
          <a:prstGeom prst="ellipse">
            <a:avLst/>
          </a:prstGeom>
          <a:solidFill>
            <a:srgbClr val="8B5CF6"/>
          </a:solidFill>
          <a:ln/>
        </p:spPr>
      </p:sp>
      <p:pic>
        <p:nvPicPr>
          <p:cNvPr id="11" name="Image 2" descr="/home/ghilios/src/hocus-focus/presentations/hocus-focus-v4/assets/icon-curve.png">    </p:cNvPr>
          <p:cNvPicPr>
            <a:picLocks noChangeAspect="1"/>
          </p:cNvPicPr>
          <p:nvPr/>
        </p:nvPicPr>
        <p:blipFill>
          <a:blip r:embed="rId5"/>
          <a:stretch>
            <a:fillRect/>
          </a:stretch>
        </p:blipFill>
        <p:spPr>
          <a:xfrm>
            <a:off x="7827813" y="2434659"/>
            <a:ext cx="328087" cy="328087"/>
          </a:xfrm>
          <a:prstGeom prst="rect">
            <a:avLst/>
          </a:prstGeom>
        </p:spPr>
      </p:pic>
      <p:sp>
        <p:nvSpPr>
          <p:cNvPr id="12" name="Text 6"/>
          <p:cNvSpPr txBox="1"/>
          <p:nvPr/>
        </p:nvSpPr>
        <p:spPr>
          <a:xfrm>
            <a:off x="8622792" y="2187223"/>
            <a:ext cx="2926080" cy="411480"/>
          </a:xfrm>
          <a:prstGeom prst="rect">
            <a:avLst/>
          </a:prstGeom>
          <a:noFill/>
          <a:ln/>
        </p:spPr>
        <p:txBody>
          <a:bodyPr wrap="square" lIns="0" tIns="0" rIns="0" bIns="0" rtlCol="0" anchor="ctr"/>
          <a:lstStyle/>
          <a:p>
            <a:pPr indent="0" marL="0">
              <a:buNone/>
            </a:pPr>
            <a:r>
              <a:rPr lang="en-US" sz="2000" dirty="0">
                <a:solidFill>
                  <a:srgbClr val="F2F0FF"/>
                </a:solidFill>
                <a:latin typeface="Segoe UI Semibold" pitchFamily="34" charset="0"/>
                <a:ea typeface="Segoe UI Semibold" pitchFamily="34" charset="-122"/>
                <a:cs typeface="Segoe UI Semibold" pitchFamily="34" charset="-120"/>
              </a:rPr>
              <a:t>A tighter focus curve</a:t>
            </a:r>
            <a:endParaRPr lang="en-US" sz="2000" dirty="0"/>
          </a:p>
        </p:txBody>
      </p:sp>
      <p:sp>
        <p:nvSpPr>
          <p:cNvPr id="13" name="Text 7"/>
          <p:cNvSpPr txBox="1"/>
          <p:nvPr/>
        </p:nvSpPr>
        <p:spPr>
          <a:xfrm>
            <a:off x="8622792" y="2607847"/>
            <a:ext cx="2926080" cy="68580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Before and after, with the focus precision for each</a:t>
            </a:r>
            <a:endParaRPr lang="en-US" sz="1500" dirty="0"/>
          </a:p>
        </p:txBody>
      </p:sp>
      <p:sp>
        <p:nvSpPr>
          <p:cNvPr id="14" name="Shape 8"/>
          <p:cNvSpPr/>
          <p:nvPr/>
        </p:nvSpPr>
        <p:spPr>
          <a:xfrm>
            <a:off x="7635240" y="3430807"/>
            <a:ext cx="713232" cy="713232"/>
          </a:xfrm>
          <a:prstGeom prst="ellipse">
            <a:avLst/>
          </a:prstGeom>
          <a:solidFill>
            <a:srgbClr val="8B5CF6"/>
          </a:solidFill>
          <a:ln/>
        </p:spPr>
      </p:sp>
      <p:pic>
        <p:nvPicPr>
          <p:cNvPr id="15" name="Image 3" descr="/home/ghilios/src/hocus-focus/presentations/hocus-focus-v4/assets/icon-stars.png">    </p:cNvPr>
          <p:cNvPicPr>
            <a:picLocks noChangeAspect="1"/>
          </p:cNvPicPr>
          <p:nvPr/>
        </p:nvPicPr>
        <p:blipFill>
          <a:blip r:embed="rId6"/>
          <a:stretch>
            <a:fillRect/>
          </a:stretch>
        </p:blipFill>
        <p:spPr>
          <a:xfrm>
            <a:off x="7827813" y="3623379"/>
            <a:ext cx="328087" cy="328087"/>
          </a:xfrm>
          <a:prstGeom prst="rect">
            <a:avLst/>
          </a:prstGeom>
        </p:spPr>
      </p:pic>
      <p:sp>
        <p:nvSpPr>
          <p:cNvPr id="16" name="Text 9"/>
          <p:cNvSpPr txBox="1"/>
          <p:nvPr/>
        </p:nvSpPr>
        <p:spPr>
          <a:xfrm>
            <a:off x="8622792" y="3375943"/>
            <a:ext cx="2926080" cy="411480"/>
          </a:xfrm>
          <a:prstGeom prst="rect">
            <a:avLst/>
          </a:prstGeom>
          <a:noFill/>
          <a:ln/>
        </p:spPr>
        <p:txBody>
          <a:bodyPr wrap="square" lIns="0" tIns="0" rIns="0" bIns="0" rtlCol="0" anchor="ctr"/>
          <a:lstStyle/>
          <a:p>
            <a:pPr indent="0" marL="0">
              <a:buNone/>
            </a:pPr>
            <a:r>
              <a:rPr lang="en-US" sz="2000" dirty="0">
                <a:solidFill>
                  <a:srgbClr val="F2F0FF"/>
                </a:solidFill>
                <a:latin typeface="Segoe UI Semibold" pitchFamily="34" charset="0"/>
                <a:ea typeface="Segoe UI Semibold" pitchFamily="34" charset="-122"/>
                <a:cs typeface="Segoe UI Semibold" pitchFamily="34" charset="-120"/>
              </a:rPr>
              <a:t>Stars per frame, position by position</a:t>
            </a:r>
            <a:endParaRPr lang="en-US" sz="2000" dirty="0"/>
          </a:p>
        </p:txBody>
      </p:sp>
      <p:sp>
        <p:nvSpPr>
          <p:cNvPr id="17" name="Text 10"/>
          <p:cNvSpPr txBox="1"/>
          <p:nvPr/>
        </p:nvSpPr>
        <p:spPr>
          <a:xfrm>
            <a:off x="8622792" y="3796567"/>
            <a:ext cx="2926080" cy="68580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Counted at every focuser position, not just at best focus</a:t>
            </a:r>
            <a:endParaRPr lang="en-US" sz="1500" dirty="0"/>
          </a:p>
        </p:txBody>
      </p:sp>
      <p:sp>
        <p:nvSpPr>
          <p:cNvPr id="18" name="Shape 11"/>
          <p:cNvSpPr/>
          <p:nvPr/>
        </p:nvSpPr>
        <p:spPr>
          <a:xfrm>
            <a:off x="7635240" y="4619527"/>
            <a:ext cx="713232" cy="713232"/>
          </a:xfrm>
          <a:prstGeom prst="ellipse">
            <a:avLst/>
          </a:prstGeom>
          <a:solidFill>
            <a:srgbClr val="8B5CF6"/>
          </a:solidFill>
          <a:ln/>
        </p:spPr>
      </p:sp>
      <p:pic>
        <p:nvPicPr>
          <p:cNvPr id="19" name="Image 4" descr="/home/ghilios/src/hocus-focus/presentations/hocus-focus-v4/assets/icon-step.png">    </p:cNvPr>
          <p:cNvPicPr>
            <a:picLocks noChangeAspect="1"/>
          </p:cNvPicPr>
          <p:nvPr/>
        </p:nvPicPr>
        <p:blipFill>
          <a:blip r:embed="rId7"/>
          <a:stretch>
            <a:fillRect/>
          </a:stretch>
        </p:blipFill>
        <p:spPr>
          <a:xfrm>
            <a:off x="7827813" y="4812099"/>
            <a:ext cx="328087" cy="328087"/>
          </a:xfrm>
          <a:prstGeom prst="rect">
            <a:avLst/>
          </a:prstGeom>
        </p:spPr>
      </p:pic>
      <p:sp>
        <p:nvSpPr>
          <p:cNvPr id="20" name="Text 12"/>
          <p:cNvSpPr txBox="1"/>
          <p:nvPr/>
        </p:nvSpPr>
        <p:spPr>
          <a:xfrm>
            <a:off x="8622792" y="4564663"/>
            <a:ext cx="2926080" cy="411480"/>
          </a:xfrm>
          <a:prstGeom prst="rect">
            <a:avLst/>
          </a:prstGeom>
          <a:noFill/>
          <a:ln/>
        </p:spPr>
        <p:txBody>
          <a:bodyPr wrap="square" lIns="0" tIns="0" rIns="0" bIns="0" rtlCol="0" anchor="ctr"/>
          <a:lstStyle/>
          <a:p>
            <a:pPr indent="0" marL="0">
              <a:buNone/>
            </a:pPr>
            <a:r>
              <a:rPr lang="en-US" sz="2000" dirty="0">
                <a:solidFill>
                  <a:srgbClr val="F2F0FF"/>
                </a:solidFill>
                <a:latin typeface="Segoe UI Semibold" pitchFamily="34" charset="0"/>
                <a:ea typeface="Segoe UI Semibold" pitchFamily="34" charset="-122"/>
                <a:cs typeface="Segoe UI Semibold" pitchFamily="34" charset="-120"/>
              </a:rPr>
              <a:t>Autofocus advice</a:t>
            </a:r>
            <a:endParaRPr lang="en-US" sz="2000" dirty="0"/>
          </a:p>
        </p:txBody>
      </p:sp>
      <p:sp>
        <p:nvSpPr>
          <p:cNvPr id="21" name="Text 13"/>
          <p:cNvSpPr txBox="1"/>
          <p:nvPr/>
        </p:nvSpPr>
        <p:spPr>
          <a:xfrm>
            <a:off x="8622792" y="4985287"/>
            <a:ext cx="2926080" cy="68580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A step size that suits your curve, and a longer exposure when the frames need it</a:t>
            </a:r>
            <a:endParaRPr lang="en-US" sz="15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b="1" spc="200" kern="0" dirty="0">
                <a:solidFill>
                  <a:srgbClr val="F2F0FF"/>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It's a lot of computing</a:t>
            </a:r>
            <a:endParaRPr lang="en-US" sz="3200" dirty="0"/>
          </a:p>
        </p:txBody>
      </p:sp>
      <p:sp>
        <p:nvSpPr>
          <p:cNvPr id="4" name="Shape 2"/>
          <p:cNvSpPr/>
          <p:nvPr/>
        </p:nvSpPr>
        <p:spPr>
          <a:xfrm>
            <a:off x="640080" y="6108192"/>
            <a:ext cx="3708806"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3160166"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ghilios.github.io/hocus-focus/settings</a:t>
            </a:r>
            <a:endParaRPr lang="en-US" sz="1300" dirty="0"/>
          </a:p>
        </p:txBody>
      </p:sp>
      <p:sp>
        <p:nvSpPr>
          <p:cNvPr id="8" name="Shape 4"/>
          <p:cNvSpPr/>
          <p:nvPr/>
        </p:nvSpPr>
        <p:spPr>
          <a:xfrm>
            <a:off x="640080" y="1691640"/>
            <a:ext cx="6035040" cy="1325880"/>
          </a:xfrm>
          <a:prstGeom prst="roundRect">
            <a:avLst>
              <a:gd name="adj" fmla="val 9655"/>
            </a:avLst>
          </a:prstGeom>
          <a:solidFill>
            <a:srgbClr val="151B3A">
              <a:alpha val="92000"/>
            </a:srgbClr>
          </a:solidFill>
          <a:ln w="9525">
            <a:solidFill>
              <a:srgbClr val="3A4380"/>
            </a:solidFill>
            <a:prstDash val="solid"/>
          </a:ln>
        </p:spPr>
      </p:sp>
      <p:sp>
        <p:nvSpPr>
          <p:cNvPr id="9" name="Text 5"/>
          <p:cNvSpPr txBox="1"/>
          <p:nvPr/>
        </p:nvSpPr>
        <p:spPr>
          <a:xfrm>
            <a:off x="914400" y="1691640"/>
            <a:ext cx="3108960" cy="1325880"/>
          </a:xfrm>
          <a:prstGeom prst="rect">
            <a:avLst/>
          </a:prstGeom>
          <a:noFill/>
          <a:ln/>
        </p:spPr>
        <p:txBody>
          <a:bodyPr wrap="square" lIns="0" tIns="0" rIns="0" bIns="0" rtlCol="0" anchor="ctr"/>
          <a:lstStyle/>
          <a:p>
            <a:pPr indent="0" marL="0">
              <a:buNone/>
            </a:pPr>
            <a:r>
              <a:rPr lang="en-US" sz="4600" dirty="0">
                <a:solidFill>
                  <a:srgbClr val="FF4D9D"/>
                </a:solidFill>
                <a:latin typeface="Segoe UI Semibold" pitchFamily="34" charset="0"/>
                <a:ea typeface="Segoe UI Semibold" pitchFamily="34" charset="-122"/>
                <a:cs typeface="Segoe UI Semibold" pitchFamily="34" charset="-120"/>
              </a:rPr>
              <a:t>20–30 min</a:t>
            </a:r>
            <a:endParaRPr lang="en-US" sz="4600" dirty="0"/>
          </a:p>
        </p:txBody>
      </p:sp>
      <p:sp>
        <p:nvSpPr>
          <p:cNvPr id="10" name="Text 6"/>
          <p:cNvSpPr txBox="1"/>
          <p:nvPr/>
        </p:nvSpPr>
        <p:spPr>
          <a:xfrm>
            <a:off x="3931920" y="1691640"/>
            <a:ext cx="2606040" cy="1325880"/>
          </a:xfrm>
          <a:prstGeom prst="rect">
            <a:avLst/>
          </a:prstGeom>
          <a:noFill/>
          <a:ln/>
        </p:spPr>
        <p:txBody>
          <a:bodyPr wrap="square" lIns="0" tIns="0" rIns="0" bIns="0" rtlCol="0" anchor="ctr"/>
          <a:lstStyle/>
          <a:p>
            <a:pPr indent="0" marL="0">
              <a:buNone/>
            </a:pPr>
            <a:r>
              <a:rPr lang="en-US" sz="1500" dirty="0">
                <a:solidFill>
                  <a:srgbClr val="B4BBE0"/>
                </a:solidFill>
                <a:latin typeface="Segoe UI" pitchFamily="34" charset="0"/>
                <a:ea typeface="Segoe UI" pitchFamily="34" charset="-122"/>
                <a:cs typeface="Segoe UI" pitchFamily="34" charset="-120"/>
              </a:rPr>
              <a:t>on a typical imaging PC. Every frame is re-detected a few hundred times.</a:t>
            </a:r>
            <a:endParaRPr lang="en-US" sz="1500" dirty="0"/>
          </a:p>
        </p:txBody>
      </p:sp>
      <p:sp>
        <p:nvSpPr>
          <p:cNvPr id="11" name="Shape 7"/>
          <p:cNvSpPr/>
          <p:nvPr/>
        </p:nvSpPr>
        <p:spPr>
          <a:xfrm>
            <a:off x="640080" y="3291840"/>
            <a:ext cx="603504" cy="603504"/>
          </a:xfrm>
          <a:prstGeom prst="ellipse">
            <a:avLst/>
          </a:prstGeom>
          <a:solidFill>
            <a:srgbClr val="8B5CF6"/>
          </a:solidFill>
          <a:ln/>
        </p:spPr>
      </p:sp>
      <p:pic>
        <p:nvPicPr>
          <p:cNvPr id="12" name="Image 1" descr="/home/ghilios/src/hocus-focus/presentations/hocus-focus-v4/assets/icon-desktop.png">    </p:cNvPr>
          <p:cNvPicPr>
            <a:picLocks noChangeAspect="1"/>
          </p:cNvPicPr>
          <p:nvPr/>
        </p:nvPicPr>
        <p:blipFill>
          <a:blip r:embed="rId4"/>
          <a:stretch>
            <a:fillRect/>
          </a:stretch>
        </p:blipFill>
        <p:spPr>
          <a:xfrm>
            <a:off x="803026" y="3454786"/>
            <a:ext cx="277612" cy="277612"/>
          </a:xfrm>
          <a:prstGeom prst="rect">
            <a:avLst/>
          </a:prstGeom>
        </p:spPr>
      </p:pic>
      <p:sp>
        <p:nvSpPr>
          <p:cNvPr id="13" name="Text 8"/>
          <p:cNvSpPr txBox="1"/>
          <p:nvPr/>
        </p:nvSpPr>
        <p:spPr>
          <a:xfrm>
            <a:off x="1517904" y="3236976"/>
            <a:ext cx="5157216" cy="411480"/>
          </a:xfrm>
          <a:prstGeom prst="rect">
            <a:avLst/>
          </a:prstGeom>
          <a:noFill/>
          <a:ln/>
        </p:spPr>
        <p:txBody>
          <a:bodyPr wrap="square" lIns="0" tIns="0" rIns="0" bIns="0" rtlCol="0" anchor="ctr"/>
          <a:lstStyle/>
          <a:p>
            <a:pPr indent="0" marL="0">
              <a:buNone/>
            </a:pPr>
            <a:r>
              <a:rPr lang="en-US" sz="1900" dirty="0">
                <a:solidFill>
                  <a:srgbClr val="F2F0FF"/>
                </a:solidFill>
                <a:latin typeface="Segoe UI Semibold" pitchFamily="34" charset="0"/>
                <a:ea typeface="Segoe UI Semibold" pitchFamily="34" charset="-122"/>
                <a:cs typeface="Segoe UI Semibold" pitchFamily="34" charset="-120"/>
              </a:rPr>
              <a:t>Run it on another computer</a:t>
            </a:r>
            <a:endParaRPr lang="en-US" sz="1900" dirty="0"/>
          </a:p>
        </p:txBody>
      </p:sp>
      <p:sp>
        <p:nvSpPr>
          <p:cNvPr id="14" name="Text 9"/>
          <p:cNvSpPr txBox="1"/>
          <p:nvPr/>
        </p:nvSpPr>
        <p:spPr>
          <a:xfrm>
            <a:off x="1517904" y="3657600"/>
            <a:ext cx="5157216" cy="36576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Copy a saved autofocus folder to your desktop PC</a:t>
            </a:r>
            <a:endParaRPr lang="en-US" sz="1500" dirty="0"/>
          </a:p>
        </p:txBody>
      </p:sp>
      <p:sp>
        <p:nvSpPr>
          <p:cNvPr id="15" name="Shape 10"/>
          <p:cNvSpPr/>
          <p:nvPr/>
        </p:nvSpPr>
        <p:spPr>
          <a:xfrm>
            <a:off x="640080" y="4187952"/>
            <a:ext cx="603504" cy="603504"/>
          </a:xfrm>
          <a:prstGeom prst="ellipse">
            <a:avLst/>
          </a:prstGeom>
          <a:solidFill>
            <a:srgbClr val="8B5CF6"/>
          </a:solidFill>
          <a:ln/>
        </p:spPr>
      </p:sp>
      <p:pic>
        <p:nvPicPr>
          <p:cNvPr id="16" name="Image 2" descr="/home/ghilios/src/hocus-focus/presentations/hocus-focus-v4/assets/icon-export.png">    </p:cNvPr>
          <p:cNvPicPr>
            <a:picLocks noChangeAspect="1"/>
          </p:cNvPicPr>
          <p:nvPr/>
        </p:nvPicPr>
        <p:blipFill>
          <a:blip r:embed="rId5"/>
          <a:stretch>
            <a:fillRect/>
          </a:stretch>
        </p:blipFill>
        <p:spPr>
          <a:xfrm>
            <a:off x="803026" y="4350898"/>
            <a:ext cx="277612" cy="277612"/>
          </a:xfrm>
          <a:prstGeom prst="rect">
            <a:avLst/>
          </a:prstGeom>
        </p:spPr>
      </p:pic>
      <p:sp>
        <p:nvSpPr>
          <p:cNvPr id="17" name="Text 11"/>
          <p:cNvSpPr txBox="1"/>
          <p:nvPr/>
        </p:nvSpPr>
        <p:spPr>
          <a:xfrm>
            <a:off x="1517904" y="4133088"/>
            <a:ext cx="5157216" cy="411480"/>
          </a:xfrm>
          <a:prstGeom prst="rect">
            <a:avLst/>
          </a:prstGeom>
          <a:noFill/>
          <a:ln/>
        </p:spPr>
        <p:txBody>
          <a:bodyPr wrap="square" lIns="0" tIns="0" rIns="0" bIns="0" rtlCol="0" anchor="ctr"/>
          <a:lstStyle/>
          <a:p>
            <a:pPr indent="0" marL="0">
              <a:buNone/>
            </a:pPr>
            <a:r>
              <a:rPr lang="en-US" sz="1900" dirty="0">
                <a:solidFill>
                  <a:srgbClr val="F2F0FF"/>
                </a:solidFill>
                <a:latin typeface="Segoe UI Semibold" pitchFamily="34" charset="0"/>
                <a:ea typeface="Segoe UI Semibold" pitchFamily="34" charset="-122"/>
                <a:cs typeface="Segoe UI Semibold" pitchFamily="34" charset="-120"/>
              </a:rPr>
              <a:t>Export, then import</a:t>
            </a:r>
            <a:endParaRPr lang="en-US" sz="1900" dirty="0"/>
          </a:p>
        </p:txBody>
      </p:sp>
      <p:sp>
        <p:nvSpPr>
          <p:cNvPr id="18" name="Text 12"/>
          <p:cNvSpPr txBox="1"/>
          <p:nvPr/>
        </p:nvSpPr>
        <p:spPr>
          <a:xfrm>
            <a:off x="1517904" y="4553712"/>
            <a:ext cx="5157216" cy="36576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Carry the optimized settings back as a single file</a:t>
            </a:r>
            <a:endParaRPr lang="en-US" sz="1500" dirty="0"/>
          </a:p>
        </p:txBody>
      </p:sp>
      <p:sp>
        <p:nvSpPr>
          <p:cNvPr id="19" name="Shape 13"/>
          <p:cNvSpPr/>
          <p:nvPr/>
        </p:nvSpPr>
        <p:spPr>
          <a:xfrm>
            <a:off x="640080" y="5084064"/>
            <a:ext cx="603504" cy="603504"/>
          </a:xfrm>
          <a:prstGeom prst="ellipse">
            <a:avLst/>
          </a:prstGeom>
          <a:solidFill>
            <a:srgbClr val="8B5CF6"/>
          </a:solidFill>
          <a:ln/>
        </p:spPr>
      </p:sp>
      <p:pic>
        <p:nvPicPr>
          <p:cNvPr id="20" name="Image 3" descr="/home/ghilios/src/hocus-focus/presentations/hocus-focus-v4/assets/icon-gpu.png">    </p:cNvPr>
          <p:cNvPicPr>
            <a:picLocks noChangeAspect="1"/>
          </p:cNvPicPr>
          <p:nvPr/>
        </p:nvPicPr>
        <p:blipFill>
          <a:blip r:embed="rId6"/>
          <a:stretch>
            <a:fillRect/>
          </a:stretch>
        </p:blipFill>
        <p:spPr>
          <a:xfrm>
            <a:off x="803026" y="5247010"/>
            <a:ext cx="277612" cy="277612"/>
          </a:xfrm>
          <a:prstGeom prst="rect">
            <a:avLst/>
          </a:prstGeom>
        </p:spPr>
      </p:pic>
      <p:sp>
        <p:nvSpPr>
          <p:cNvPr id="21" name="Text 14"/>
          <p:cNvSpPr txBox="1"/>
          <p:nvPr/>
        </p:nvSpPr>
        <p:spPr>
          <a:xfrm>
            <a:off x="1517904" y="5029200"/>
            <a:ext cx="5157216" cy="411480"/>
          </a:xfrm>
          <a:prstGeom prst="rect">
            <a:avLst/>
          </a:prstGeom>
          <a:noFill/>
          <a:ln/>
        </p:spPr>
        <p:txBody>
          <a:bodyPr wrap="square" lIns="0" tIns="0" rIns="0" bIns="0" rtlCol="0" anchor="ctr"/>
          <a:lstStyle/>
          <a:p>
            <a:pPr indent="0" marL="0">
              <a:buNone/>
            </a:pPr>
            <a:r>
              <a:rPr lang="en-US" sz="1900" dirty="0">
                <a:solidFill>
                  <a:srgbClr val="F2F0FF"/>
                </a:solidFill>
                <a:latin typeface="Segoe UI Semibold" pitchFamily="34" charset="0"/>
                <a:ea typeface="Segoe UI Semibold" pitchFamily="34" charset="-122"/>
                <a:cs typeface="Segoe UI Semibold" pitchFamily="34" charset="-120"/>
              </a:rPr>
              <a:t>GPU acceleration</a:t>
            </a:r>
            <a:endParaRPr lang="en-US" sz="1900" dirty="0"/>
          </a:p>
        </p:txBody>
      </p:sp>
      <p:sp>
        <p:nvSpPr>
          <p:cNvPr id="22" name="Text 15"/>
          <p:cNvSpPr txBox="1"/>
          <p:nvPr/>
        </p:nvSpPr>
        <p:spPr>
          <a:xfrm>
            <a:off x="1517904" y="5449824"/>
            <a:ext cx="5157216" cy="36576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New: one toggle on the wizard's start page</a:t>
            </a:r>
            <a:endParaRPr lang="en-US" sz="1500" dirty="0"/>
          </a:p>
        </p:txBody>
      </p:sp>
      <p:sp>
        <p:nvSpPr>
          <p:cNvPr id="23" name="Shape 16"/>
          <p:cNvSpPr/>
          <p:nvPr/>
        </p:nvSpPr>
        <p:spPr>
          <a:xfrm>
            <a:off x="7292216" y="1691640"/>
            <a:ext cx="4051039" cy="3346704"/>
          </a:xfrm>
          <a:prstGeom prst="roundRect">
            <a:avLst>
              <a:gd name="adj" fmla="val 2732"/>
            </a:avLst>
          </a:prstGeom>
          <a:solidFill>
            <a:srgbClr val="FFFFFF"/>
          </a:solidFill>
          <a:ln/>
          <a:effectLst>
            <a:outerShdw sx="100000" sy="100000" kx="0" ky="0" algn="bl" rotWithShape="0" blurRad="177800" dist="50800" dir="5400000">
              <a:srgbClr val="000000">
                <a:alpha val="45000"/>
              </a:srgbClr>
            </a:outerShdw>
          </a:effectLst>
        </p:spPr>
      </p:sp>
      <p:pic>
        <p:nvPicPr>
          <p:cNvPr id="24" name="Image 4" descr="/home/ghilios/src/hocus-focus/presentations/hocus-focus-v4/screenshots/settings-import.png">    </p:cNvPr>
          <p:cNvPicPr>
            <a:picLocks noChangeAspect="1"/>
          </p:cNvPicPr>
          <p:nvPr/>
        </p:nvPicPr>
        <p:blipFill>
          <a:blip r:embed="rId7"/>
          <a:stretch>
            <a:fillRect/>
          </a:stretch>
        </p:blipFill>
        <p:spPr>
          <a:xfrm>
            <a:off x="7401944" y="1801368"/>
            <a:ext cx="3831583" cy="3127248"/>
          </a:xfrm>
          <a:prstGeom prst="rect">
            <a:avLst/>
          </a:prstGeom>
        </p:spPr>
      </p:pic>
      <p:sp>
        <p:nvSpPr>
          <p:cNvPr id="25" name="Text 17"/>
          <p:cNvSpPr txBox="1"/>
          <p:nvPr/>
        </p:nvSpPr>
        <p:spPr>
          <a:xfrm>
            <a:off x="7086600" y="5148072"/>
            <a:ext cx="4462272" cy="640080"/>
          </a:xfrm>
          <a:prstGeom prst="rect">
            <a:avLst/>
          </a:prstGeom>
          <a:noFill/>
          <a:ln/>
        </p:spPr>
        <p:txBody>
          <a:bodyPr wrap="square" lIns="0" tIns="0" rIns="0" bIns="0" rtlCol="0" anchor="t"/>
          <a:lstStyle/>
          <a:p>
            <a:pPr algn="ctr" indent="0" marL="0">
              <a:buNone/>
            </a:pPr>
            <a:r>
              <a:rPr lang="en-US" sz="1500" dirty="0">
                <a:solidFill>
                  <a:srgbClr val="B4BBE0"/>
                </a:solidFill>
                <a:latin typeface="Segoe UI" pitchFamily="34" charset="0"/>
                <a:ea typeface="Segoe UI" pitchFamily="34" charset="-122"/>
                <a:cs typeface="Segoe UI" pitchFamily="34" charset="-120"/>
              </a:rPr>
              <a:t>Import shows exactly what will change before anything is applied</a:t>
            </a:r>
            <a:endParaRPr lang="en-US" sz="15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8183880" y="1691640"/>
            <a:ext cx="3383280" cy="3383280"/>
          </a:xfrm>
          <a:prstGeom prst="ellipse">
            <a:avLst/>
          </a:prstGeom>
          <a:solidFill>
            <a:srgbClr val="8B5CF6">
              <a:alpha val="18000"/>
            </a:srgbClr>
          </a:solidFill>
          <a:ln w="15875">
            <a:solidFill>
              <a:srgbClr val="8B5CF6"/>
            </a:solidFill>
            <a:prstDash val="solid"/>
          </a:ln>
        </p:spPr>
      </p:sp>
      <p:pic>
        <p:nvPicPr>
          <p:cNvPr id="4" name="Image 0" descr="/home/ghilios/src/hocus-focus/presentations/hocus-focus-v4/assets/icon-star.png">    </p:cNvPr>
          <p:cNvPicPr>
            <a:picLocks noChangeAspect="1"/>
          </p:cNvPicPr>
          <p:nvPr/>
        </p:nvPicPr>
        <p:blipFill>
          <a:blip r:embed="rId2">
            <a:alphaModFix amt="75000"/>
          </a:blip>
          <a:stretch>
            <a:fillRect/>
          </a:stretch>
        </p:blipFill>
        <p:spPr>
          <a:xfrm>
            <a:off x="9052560" y="2560320"/>
            <a:ext cx="1645920" cy="1645920"/>
          </a:xfrm>
          <a:prstGeom prst="rect">
            <a:avLst/>
          </a:prstGeom>
        </p:spPr>
      </p:pic>
      <p:sp>
        <p:nvSpPr>
          <p:cNvPr id="5" name="Text 1"/>
          <p:cNvSpPr txBox="1"/>
          <p:nvPr/>
        </p:nvSpPr>
        <p:spPr>
          <a:xfrm>
            <a:off x="640080" y="1554480"/>
            <a:ext cx="3657600" cy="1463040"/>
          </a:xfrm>
          <a:prstGeom prst="rect">
            <a:avLst/>
          </a:prstGeom>
          <a:noFill/>
          <a:ln/>
        </p:spPr>
        <p:txBody>
          <a:bodyPr wrap="square" lIns="0" tIns="0" rIns="0" bIns="0" rtlCol="0" anchor="ctr"/>
          <a:lstStyle/>
          <a:p>
            <a:pPr indent="0" marL="0">
              <a:buNone/>
            </a:pPr>
            <a:r>
              <a:rPr lang="en-US" sz="11000" dirty="0">
                <a:solidFill>
                  <a:srgbClr val="8B5CF6"/>
                </a:solidFill>
                <a:latin typeface="Segoe UI Light" pitchFamily="34" charset="0"/>
                <a:ea typeface="Segoe UI Light" pitchFamily="34" charset="-122"/>
                <a:cs typeface="Segoe UI Light" pitchFamily="34" charset="-120"/>
              </a:rPr>
              <a:t>02</a:t>
            </a:r>
            <a:endParaRPr lang="en-US" sz="11000" dirty="0"/>
          </a:p>
        </p:txBody>
      </p:sp>
      <p:sp>
        <p:nvSpPr>
          <p:cNvPr id="6" name="Text 2"/>
          <p:cNvSpPr txBox="1"/>
          <p:nvPr/>
        </p:nvSpPr>
        <p:spPr>
          <a:xfrm>
            <a:off x="640080" y="3063240"/>
            <a:ext cx="7315200" cy="914400"/>
          </a:xfrm>
          <a:prstGeom prst="rect">
            <a:avLst/>
          </a:prstGeom>
          <a:noFill/>
          <a:ln/>
        </p:spPr>
        <p:txBody>
          <a:bodyPr wrap="square" lIns="0" tIns="0" rIns="0" bIns="0" rtlCol="0" anchor="ctr"/>
          <a:lstStyle/>
          <a:p>
            <a:pPr indent="0" marL="0">
              <a:buNone/>
            </a:pPr>
            <a:r>
              <a:rPr lang="en-US" sz="4400" dirty="0">
                <a:solidFill>
                  <a:srgbClr val="F2F0FF"/>
                </a:solidFill>
                <a:latin typeface="Segoe UI Semibold" pitchFamily="34" charset="0"/>
                <a:ea typeface="Segoe UI Semibold" pitchFamily="34" charset="-122"/>
                <a:cs typeface="Segoe UI Semibold" pitchFamily="34" charset="-120"/>
              </a:rPr>
              <a:t>More stars, better curves</a:t>
            </a:r>
            <a:endParaRPr lang="en-US" sz="4400" dirty="0"/>
          </a:p>
        </p:txBody>
      </p:sp>
      <p:sp>
        <p:nvSpPr>
          <p:cNvPr id="7" name="Text 3"/>
          <p:cNvSpPr txBox="1"/>
          <p:nvPr/>
        </p:nvSpPr>
        <p:spPr>
          <a:xfrm>
            <a:off x="640080" y="4069080"/>
            <a:ext cx="7452360" cy="457200"/>
          </a:xfrm>
          <a:prstGeom prst="rect">
            <a:avLst/>
          </a:prstGeom>
          <a:noFill/>
          <a:ln/>
        </p:spPr>
        <p:txBody>
          <a:bodyPr wrap="square" lIns="0" tIns="0" rIns="0" bIns="0" rtlCol="0" anchor="ctr"/>
          <a:lstStyle/>
          <a:p>
            <a:pPr indent="0" marL="0">
              <a:buNone/>
            </a:pPr>
            <a:r>
              <a:rPr lang="en-US" sz="1800" dirty="0">
                <a:solidFill>
                  <a:srgbClr val="B4BBE0"/>
                </a:solidFill>
                <a:latin typeface="Segoe UI" pitchFamily="34" charset="0"/>
                <a:ea typeface="Segoe UI" pitchFamily="34" charset="-122"/>
                <a:cs typeface="Segoe UI" pitchFamily="34" charset="-120"/>
              </a:rPr>
              <a:t>Donut detection  ·  adaptive binarization  ·  hyperbolic fits  ·  frame review</a:t>
            </a:r>
            <a:endParaRPr lang="en-US" sz="1800" dirty="0"/>
          </a:p>
        </p:txBody>
      </p:sp>
      <p:sp>
        <p:nvSpPr>
          <p:cNvPr id="8" name="Text 4"/>
          <p:cNvSpPr txBox="1"/>
          <p:nvPr/>
        </p:nvSpPr>
        <p:spPr>
          <a:xfrm>
            <a:off x="640080" y="5257800"/>
            <a:ext cx="5486400" cy="411480"/>
          </a:xfrm>
          <a:prstGeom prst="rect">
            <a:avLst/>
          </a:prstGeom>
          <a:noFill/>
          <a:ln/>
        </p:spPr>
        <p:txBody>
          <a:bodyPr wrap="square" lIns="0" tIns="0" rIns="0" bIns="0" rtlCol="0" anchor="ctr"/>
          <a:lstStyle/>
          <a:p>
            <a:pPr indent="0" marL="0">
              <a:buNone/>
            </a:pPr>
            <a:r>
              <a:rPr lang="en-US" sz="1800" dirty="0">
                <a:solidFill>
                  <a:srgbClr val="C4B5FD"/>
                </a:solidFill>
                <a:latin typeface="Segoe UI" pitchFamily="34" charset="0"/>
                <a:ea typeface="Segoe UI" pitchFamily="34" charset="-122"/>
                <a:cs typeface="Segoe UI" pitchFamily="34" charset="-120"/>
              </a:rPr>
              <a:t>Pause: questions so far?</a:t>
            </a:r>
            <a:endParaRPr lang="en-US" sz="18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Out-of-focus donut stars are no longer thrown away</a:t>
            </a:r>
            <a:endParaRPr lang="en-US" sz="3200" dirty="0"/>
          </a:p>
        </p:txBody>
      </p:sp>
      <p:sp>
        <p:nvSpPr>
          <p:cNvPr id="4" name="Shape 2"/>
          <p:cNvSpPr/>
          <p:nvPr/>
        </p:nvSpPr>
        <p:spPr>
          <a:xfrm>
            <a:off x="640080" y="6108192"/>
            <a:ext cx="4663440"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114800"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ghilios.github.io/hocus-focus/settings/donut-aware</a:t>
            </a:r>
            <a:endParaRPr lang="en-US" sz="1300" dirty="0"/>
          </a:p>
        </p:txBody>
      </p:sp>
      <p:sp>
        <p:nvSpPr>
          <p:cNvPr id="8" name="Text 4"/>
          <p:cNvSpPr txBox="1"/>
          <p:nvPr/>
        </p:nvSpPr>
        <p:spPr>
          <a:xfrm>
            <a:off x="640080" y="1645920"/>
            <a:ext cx="36576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DONUT DETECTION</a:t>
            </a:r>
            <a:endParaRPr lang="en-US" sz="1300" dirty="0"/>
          </a:p>
        </p:txBody>
      </p:sp>
      <p:pic>
        <p:nvPicPr>
          <p:cNvPr id="9" name="Image 1" descr="/home/ghilios/src/hocus-focus/presentations/hocus-focus-v4/assets/art-donut.png">    </p:cNvPr>
          <p:cNvPicPr>
            <a:picLocks noChangeAspect="1"/>
          </p:cNvPicPr>
          <p:nvPr/>
        </p:nvPicPr>
        <p:blipFill>
          <a:blip r:embed="rId4"/>
          <a:stretch>
            <a:fillRect/>
          </a:stretch>
        </p:blipFill>
        <p:spPr>
          <a:xfrm>
            <a:off x="640080" y="2057400"/>
            <a:ext cx="3749040" cy="1713847"/>
          </a:xfrm>
          <a:prstGeom prst="rect">
            <a:avLst/>
          </a:prstGeom>
        </p:spPr>
      </p:pic>
      <p:sp>
        <p:nvSpPr>
          <p:cNvPr id="10" name="Text 5"/>
          <p:cNvSpPr txBox="1"/>
          <p:nvPr/>
        </p:nvSpPr>
        <p:spPr>
          <a:xfrm>
            <a:off x="640080" y="3844399"/>
            <a:ext cx="1713847" cy="320040"/>
          </a:xfrm>
          <a:prstGeom prst="rect">
            <a:avLst/>
          </a:prstGeom>
          <a:noFill/>
          <a:ln/>
        </p:spPr>
        <p:txBody>
          <a:bodyPr wrap="square" lIns="0" tIns="0" rIns="0" bIns="0" rtlCol="0" anchor="t"/>
          <a:lstStyle/>
          <a:p>
            <a:pPr algn="ctr" indent="0" marL="0">
              <a:buNone/>
            </a:pPr>
            <a:r>
              <a:rPr lang="en-US" sz="1500" dirty="0">
                <a:solidFill>
                  <a:srgbClr val="B4BBE0"/>
                </a:solidFill>
                <a:latin typeface="Segoe UI" pitchFamily="34" charset="0"/>
                <a:ea typeface="Segoe UI" pitchFamily="34" charset="-122"/>
                <a:cs typeface="Segoe UI" pitchFamily="34" charset="-120"/>
              </a:rPr>
              <a:t>In focus</a:t>
            </a:r>
            <a:endParaRPr lang="en-US" sz="1500" dirty="0"/>
          </a:p>
        </p:txBody>
      </p:sp>
      <p:sp>
        <p:nvSpPr>
          <p:cNvPr id="11" name="Text 6"/>
          <p:cNvSpPr txBox="1"/>
          <p:nvPr/>
        </p:nvSpPr>
        <p:spPr>
          <a:xfrm>
            <a:off x="2675273" y="3844399"/>
            <a:ext cx="1713847" cy="320040"/>
          </a:xfrm>
          <a:prstGeom prst="rect">
            <a:avLst/>
          </a:prstGeom>
          <a:noFill/>
          <a:ln/>
        </p:spPr>
        <p:txBody>
          <a:bodyPr wrap="square" lIns="0" tIns="0" rIns="0" bIns="0" rtlCol="0" anchor="t"/>
          <a:lstStyle/>
          <a:p>
            <a:pPr algn="ctr" indent="0" marL="0">
              <a:buNone/>
            </a:pPr>
            <a:r>
              <a:rPr lang="en-US" sz="1500" dirty="0">
                <a:solidFill>
                  <a:srgbClr val="B4BBE0"/>
                </a:solidFill>
                <a:latin typeface="Segoe UI" pitchFamily="34" charset="0"/>
                <a:ea typeface="Segoe UI" pitchFamily="34" charset="-122"/>
                <a:cs typeface="Segoe UI" pitchFamily="34" charset="-120"/>
              </a:rPr>
              <a:t>Out of focus</a:t>
            </a:r>
            <a:endParaRPr lang="en-US" sz="1500" dirty="0"/>
          </a:p>
        </p:txBody>
      </p:sp>
      <p:sp>
        <p:nvSpPr>
          <p:cNvPr id="12" name="Text 7"/>
          <p:cNvSpPr txBox="1"/>
          <p:nvPr/>
        </p:nvSpPr>
        <p:spPr>
          <a:xfrm>
            <a:off x="640080" y="4343400"/>
            <a:ext cx="3749040" cy="118872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With a central obstruction (Newtonian, SCT, RC), a defocused star is a ring with a hole.</a:t>
            </a:r>
            <a:endParaRPr lang="en-US" sz="1500" dirty="0"/>
          </a:p>
        </p:txBody>
      </p:sp>
      <p:sp>
        <p:nvSpPr>
          <p:cNvPr id="13" name="Shape 8"/>
          <p:cNvSpPr/>
          <p:nvPr/>
        </p:nvSpPr>
        <p:spPr>
          <a:xfrm>
            <a:off x="4754880" y="1697751"/>
            <a:ext cx="3310128" cy="2194531"/>
          </a:xfrm>
          <a:prstGeom prst="roundRect">
            <a:avLst>
              <a:gd name="adj" fmla="val 4167"/>
            </a:avLst>
          </a:prstGeom>
          <a:solidFill>
            <a:srgbClr val="FFFFFF"/>
          </a:solidFill>
          <a:ln/>
          <a:effectLst>
            <a:outerShdw sx="100000" sy="100000" kx="0" ky="0" algn="bl" rotWithShape="0" blurRad="177800" dist="50800" dir="5400000">
              <a:srgbClr val="000000">
                <a:alpha val="45000"/>
              </a:srgbClr>
            </a:outerShdw>
          </a:effectLst>
        </p:spPr>
      </p:sp>
      <p:pic>
        <p:nvPicPr>
          <p:cNvPr id="14" name="Image 2" descr="/home/ghilios/src/hocus-focus/presentations/hocus-focus-v4/screenshots/donut-frame-off.png">    </p:cNvPr>
          <p:cNvPicPr>
            <a:picLocks noChangeAspect="1"/>
          </p:cNvPicPr>
          <p:nvPr/>
        </p:nvPicPr>
        <p:blipFill>
          <a:blip r:embed="rId5"/>
          <a:stretch>
            <a:fillRect/>
          </a:stretch>
        </p:blipFill>
        <p:spPr>
          <a:xfrm>
            <a:off x="4864608" y="1807479"/>
            <a:ext cx="3090672" cy="1975075"/>
          </a:xfrm>
          <a:prstGeom prst="rect">
            <a:avLst/>
          </a:prstGeom>
        </p:spPr>
      </p:pic>
      <p:sp>
        <p:nvSpPr>
          <p:cNvPr id="15" name="Shape 9"/>
          <p:cNvSpPr/>
          <p:nvPr/>
        </p:nvSpPr>
        <p:spPr>
          <a:xfrm>
            <a:off x="8238744" y="1697751"/>
            <a:ext cx="3310128" cy="2194531"/>
          </a:xfrm>
          <a:prstGeom prst="roundRect">
            <a:avLst>
              <a:gd name="adj" fmla="val 4167"/>
            </a:avLst>
          </a:prstGeom>
          <a:solidFill>
            <a:srgbClr val="FFFFFF"/>
          </a:solidFill>
          <a:ln/>
          <a:effectLst>
            <a:outerShdw sx="100000" sy="100000" kx="0" ky="0" algn="bl" rotWithShape="0" blurRad="177800" dist="50800" dir="5400000">
              <a:srgbClr val="000000">
                <a:alpha val="45000"/>
              </a:srgbClr>
            </a:outerShdw>
          </a:effectLst>
        </p:spPr>
      </p:sp>
      <p:pic>
        <p:nvPicPr>
          <p:cNvPr id="16" name="Image 3" descr="/home/ghilios/src/hocus-focus/presentations/hocus-focus-v4/screenshots/donut-frame-on.png">    </p:cNvPr>
          <p:cNvPicPr>
            <a:picLocks noChangeAspect="1"/>
          </p:cNvPicPr>
          <p:nvPr/>
        </p:nvPicPr>
        <p:blipFill>
          <a:blip r:embed="rId6"/>
          <a:stretch>
            <a:fillRect/>
          </a:stretch>
        </p:blipFill>
        <p:spPr>
          <a:xfrm>
            <a:off x="8348472" y="1807479"/>
            <a:ext cx="3090672" cy="1975075"/>
          </a:xfrm>
          <a:prstGeom prst="rect">
            <a:avLst/>
          </a:prstGeom>
        </p:spPr>
      </p:pic>
      <p:sp>
        <p:nvSpPr>
          <p:cNvPr id="17" name="Text 10"/>
          <p:cNvSpPr txBox="1"/>
          <p:nvPr/>
        </p:nvSpPr>
        <p:spPr>
          <a:xfrm>
            <a:off x="4754880" y="4343400"/>
            <a:ext cx="6796735" cy="1508760"/>
          </a:xfrm>
          <a:prstGeom prst="rect">
            <a:avLst/>
          </a:prstGeom>
          <a:noFill/>
          <a:ln/>
        </p:spPr>
        <p:txBody>
          <a:bodyPr wrap="square" lIns="0" tIns="0" rIns="0" bIns="0" rtlCol="0" anchor="t"/>
          <a:lstStyle/>
          <a:p>
            <a:pPr marL="279400" indent="-279400">
              <a:spcAft>
                <a:spcPts val="800"/>
              </a:spcAft>
              <a:buSzPct val="100000"/>
              <a:buChar char="●"/>
            </a:pPr>
            <a:r>
              <a:rPr lang="en-US" sz="1800" dirty="0">
                <a:solidFill>
                  <a:srgbClr val="F2F0FF"/>
                </a:solidFill>
                <a:latin typeface="Segoe UI" pitchFamily="34" charset="0"/>
                <a:ea typeface="Segoe UI" pitchFamily="34" charset="-122"/>
                <a:cs typeface="Segoe UI" pitchFamily="34" charset="-120"/>
              </a:rPr>
              <a:t>The old detector rejected them as too fragmented or too “distorted”</a:t>
            </a:r>
            <a:endParaRPr lang="en-US" sz="1800" dirty="0"/>
          </a:p>
          <a:p>
            <a:pPr marL="279400" indent="-279400">
              <a:spcAft>
                <a:spcPts val="800"/>
              </a:spcAft>
              <a:buSzPct val="100000"/>
              <a:buChar char="●"/>
            </a:pPr>
            <a:r>
              <a:rPr lang="en-US" sz="1800" b="1" dirty="0">
                <a:solidFill>
                  <a:srgbClr val="F2F0FF"/>
                </a:solidFill>
                <a:latin typeface="Segoe UI" pitchFamily="34" charset="0"/>
                <a:ea typeface="Segoe UI" pitchFamily="34" charset="-122"/>
                <a:cs typeface="Segoe UI" pitchFamily="34" charset="-120"/>
              </a:rPr>
              <a:t>v4 recognizes the ring and keeps the star</a:t>
            </a:r>
            <a:endParaRPr lang="en-US" sz="1800" dirty="0"/>
          </a:p>
          <a:p>
            <a:pPr marL="279400" indent="-279400">
              <a:spcAft>
                <a:spcPts val="800"/>
              </a:spcAft>
              <a:buSzPct val="100000"/>
              <a:buChar char="●"/>
            </a:pPr>
            <a:r>
              <a:rPr lang="en-US" sz="1800" dirty="0">
                <a:solidFill>
                  <a:srgbClr val="F2F0FF"/>
                </a:solidFill>
                <a:latin typeface="Segoe UI" pitchFamily="34" charset="0"/>
                <a:ea typeface="Segoe UI" pitchFamily="34" charset="-122"/>
                <a:cs typeface="Segoe UI" pitchFamily="34" charset="-120"/>
              </a:rPr>
              <a:t>Opt-in: flip one toggle, or let the optimizer decide</a:t>
            </a:r>
            <a:endParaRPr lang="en-US" sz="18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One brightness threshold can't fit the whole frame</a:t>
            </a:r>
            <a:endParaRPr lang="en-US" sz="3200" dirty="0"/>
          </a:p>
        </p:txBody>
      </p:sp>
      <p:sp>
        <p:nvSpPr>
          <p:cNvPr id="4" name="Shape 2"/>
          <p:cNvSpPr/>
          <p:nvPr/>
        </p:nvSpPr>
        <p:spPr>
          <a:xfrm>
            <a:off x="640080" y="6108192"/>
            <a:ext cx="5458968"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910328"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ghilios.github.io/hocus-focus/settings/adaptive-binarization</a:t>
            </a:r>
            <a:endParaRPr lang="en-US" sz="1300" dirty="0"/>
          </a:p>
        </p:txBody>
      </p:sp>
      <p:pic>
        <p:nvPicPr>
          <p:cNvPr id="8" name="Image 1" descr="/home/ghilios/src/hocus-focus/presentations/hocus-focus-v4/assets/art-threshold.png">    </p:cNvPr>
          <p:cNvPicPr>
            <a:picLocks noChangeAspect="1"/>
          </p:cNvPicPr>
          <p:nvPr/>
        </p:nvPicPr>
        <p:blipFill>
          <a:blip r:embed="rId4"/>
          <a:stretch>
            <a:fillRect/>
          </a:stretch>
        </p:blipFill>
        <p:spPr>
          <a:xfrm>
            <a:off x="640080" y="1691640"/>
            <a:ext cx="8176846" cy="2834640"/>
          </a:xfrm>
          <a:prstGeom prst="rect">
            <a:avLst/>
          </a:prstGeom>
        </p:spPr>
      </p:pic>
      <p:sp>
        <p:nvSpPr>
          <p:cNvPr id="9" name="Text 4"/>
          <p:cNvSpPr txBox="1"/>
          <p:nvPr/>
        </p:nvSpPr>
        <p:spPr>
          <a:xfrm>
            <a:off x="9136966" y="1691640"/>
            <a:ext cx="2597529" cy="548640"/>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LOCALLY ADAPTIVE BINARIZATION</a:t>
            </a:r>
            <a:endParaRPr lang="en-US" sz="1300" dirty="0"/>
          </a:p>
        </p:txBody>
      </p:sp>
      <p:sp>
        <p:nvSpPr>
          <p:cNvPr id="10" name="Shape 5"/>
          <p:cNvSpPr/>
          <p:nvPr/>
        </p:nvSpPr>
        <p:spPr>
          <a:xfrm>
            <a:off x="9136966" y="2514600"/>
            <a:ext cx="457200" cy="0"/>
          </a:xfrm>
          <a:prstGeom prst="line">
            <a:avLst/>
          </a:prstGeom>
          <a:noFill/>
          <a:ln w="19050">
            <a:solidFill>
              <a:srgbClr val="B4BBE0"/>
            </a:solidFill>
            <a:prstDash val="solid"/>
          </a:ln>
        </p:spPr>
      </p:sp>
      <p:sp>
        <p:nvSpPr>
          <p:cNvPr id="11" name="Text 6"/>
          <p:cNvSpPr txBox="1"/>
          <p:nvPr/>
        </p:nvSpPr>
        <p:spPr>
          <a:xfrm>
            <a:off x="9731326" y="2258568"/>
            <a:ext cx="1820289" cy="512064"/>
          </a:xfrm>
          <a:prstGeom prst="rect">
            <a:avLst/>
          </a:prstGeom>
          <a:noFill/>
          <a:ln/>
        </p:spPr>
        <p:txBody>
          <a:bodyPr wrap="square" lIns="0" tIns="0" rIns="0" bIns="0" rtlCol="0" anchor="ctr"/>
          <a:lstStyle/>
          <a:p>
            <a:pPr indent="0" marL="0">
              <a:buNone/>
            </a:pPr>
            <a:r>
              <a:rPr lang="en-US" sz="1400" dirty="0">
                <a:solidFill>
                  <a:srgbClr val="F2F0FF"/>
                </a:solidFill>
                <a:latin typeface="Segoe UI" pitchFamily="34" charset="0"/>
                <a:ea typeface="Segoe UI" pitchFamily="34" charset="-122"/>
                <a:cs typeface="Segoe UI" pitchFamily="34" charset="-120"/>
              </a:rPr>
              <a:t>Brightness along the marked row</a:t>
            </a:r>
            <a:endParaRPr lang="en-US" sz="1400" dirty="0"/>
          </a:p>
        </p:txBody>
      </p:sp>
      <p:sp>
        <p:nvSpPr>
          <p:cNvPr id="12" name="Shape 7"/>
          <p:cNvSpPr/>
          <p:nvPr/>
        </p:nvSpPr>
        <p:spPr>
          <a:xfrm>
            <a:off x="9136966" y="2971800"/>
            <a:ext cx="457200" cy="0"/>
          </a:xfrm>
          <a:prstGeom prst="line">
            <a:avLst/>
          </a:prstGeom>
          <a:noFill/>
          <a:ln w="38100">
            <a:solidFill>
              <a:srgbClr val="FFFFFF"/>
            </a:solidFill>
            <a:prstDash val="dash"/>
          </a:ln>
        </p:spPr>
      </p:sp>
      <p:sp>
        <p:nvSpPr>
          <p:cNvPr id="13" name="Text 8"/>
          <p:cNvSpPr txBox="1"/>
          <p:nvPr/>
        </p:nvSpPr>
        <p:spPr>
          <a:xfrm>
            <a:off x="9731326" y="2715768"/>
            <a:ext cx="1820289" cy="512064"/>
          </a:xfrm>
          <a:prstGeom prst="rect">
            <a:avLst/>
          </a:prstGeom>
          <a:noFill/>
          <a:ln/>
        </p:spPr>
        <p:txBody>
          <a:bodyPr wrap="square" lIns="0" tIns="0" rIns="0" bIns="0" rtlCol="0" anchor="ctr"/>
          <a:lstStyle/>
          <a:p>
            <a:pPr indent="0" marL="0">
              <a:buNone/>
            </a:pPr>
            <a:r>
              <a:rPr lang="en-US" sz="1400" dirty="0">
                <a:solidFill>
                  <a:srgbClr val="F2F0FF"/>
                </a:solidFill>
                <a:latin typeface="Segoe UI" pitchFamily="34" charset="0"/>
                <a:ea typeface="Segoe UI" pitchFamily="34" charset="-122"/>
                <a:cs typeface="Segoe UI" pitchFamily="34" charset="-120"/>
              </a:rPr>
              <a:t>One global threshold</a:t>
            </a:r>
            <a:endParaRPr lang="en-US" sz="1400" dirty="0"/>
          </a:p>
        </p:txBody>
      </p:sp>
      <p:sp>
        <p:nvSpPr>
          <p:cNvPr id="14" name="Shape 9"/>
          <p:cNvSpPr/>
          <p:nvPr/>
        </p:nvSpPr>
        <p:spPr>
          <a:xfrm>
            <a:off x="9136966" y="3429000"/>
            <a:ext cx="457200" cy="0"/>
          </a:xfrm>
          <a:prstGeom prst="line">
            <a:avLst/>
          </a:prstGeom>
          <a:noFill/>
          <a:ln w="38100">
            <a:solidFill>
              <a:srgbClr val="8B5CF6"/>
            </a:solidFill>
            <a:prstDash val="solid"/>
          </a:ln>
        </p:spPr>
      </p:sp>
      <p:sp>
        <p:nvSpPr>
          <p:cNvPr id="15" name="Text 10"/>
          <p:cNvSpPr txBox="1"/>
          <p:nvPr/>
        </p:nvSpPr>
        <p:spPr>
          <a:xfrm>
            <a:off x="9731326" y="3172968"/>
            <a:ext cx="1820289" cy="512064"/>
          </a:xfrm>
          <a:prstGeom prst="rect">
            <a:avLst/>
          </a:prstGeom>
          <a:noFill/>
          <a:ln/>
        </p:spPr>
        <p:txBody>
          <a:bodyPr wrap="square" lIns="0" tIns="0" rIns="0" bIns="0" rtlCol="0" anchor="ctr"/>
          <a:lstStyle/>
          <a:p>
            <a:pPr indent="0" marL="0">
              <a:buNone/>
            </a:pPr>
            <a:r>
              <a:rPr lang="en-US" sz="1400" dirty="0">
                <a:solidFill>
                  <a:srgbClr val="F2F0FF"/>
                </a:solidFill>
                <a:latin typeface="Segoe UI" pitchFamily="34" charset="0"/>
                <a:ea typeface="Segoe UI" pitchFamily="34" charset="-122"/>
                <a:cs typeface="Segoe UI" pitchFamily="34" charset="-120"/>
              </a:rPr>
              <a:t>v4: adapts to the local background</a:t>
            </a:r>
            <a:endParaRPr lang="en-US" sz="1400" dirty="0"/>
          </a:p>
        </p:txBody>
      </p:sp>
      <p:sp>
        <p:nvSpPr>
          <p:cNvPr id="16" name="Shape 11"/>
          <p:cNvSpPr/>
          <p:nvPr/>
        </p:nvSpPr>
        <p:spPr>
          <a:xfrm>
            <a:off x="9246694" y="3767328"/>
            <a:ext cx="237744" cy="237744"/>
          </a:xfrm>
          <a:prstGeom prst="ellipse">
            <a:avLst/>
          </a:prstGeom>
          <a:solidFill>
            <a:srgbClr val="0B1026">
              <a:alpha val="0"/>
            </a:srgbClr>
          </a:solidFill>
          <a:ln w="31750">
            <a:solidFill>
              <a:srgbClr val="34D399"/>
            </a:solidFill>
            <a:prstDash val="solid"/>
          </a:ln>
        </p:spPr>
      </p:sp>
      <p:sp>
        <p:nvSpPr>
          <p:cNvPr id="17" name="Text 12"/>
          <p:cNvSpPr txBox="1"/>
          <p:nvPr/>
        </p:nvSpPr>
        <p:spPr>
          <a:xfrm>
            <a:off x="9731326" y="3630168"/>
            <a:ext cx="1820289" cy="512064"/>
          </a:xfrm>
          <a:prstGeom prst="rect">
            <a:avLst/>
          </a:prstGeom>
          <a:noFill/>
          <a:ln/>
        </p:spPr>
        <p:txBody>
          <a:bodyPr wrap="square" lIns="0" tIns="0" rIns="0" bIns="0" rtlCol="0" anchor="ctr"/>
          <a:lstStyle/>
          <a:p>
            <a:pPr indent="0" marL="0">
              <a:buNone/>
            </a:pPr>
            <a:r>
              <a:rPr lang="en-US" sz="1400" dirty="0">
                <a:solidFill>
                  <a:srgbClr val="F2F0FF"/>
                </a:solidFill>
                <a:latin typeface="Segoe UI" pitchFamily="34" charset="0"/>
                <a:ea typeface="Segoe UI" pitchFamily="34" charset="-122"/>
                <a:cs typeface="Segoe UI" pitchFamily="34" charset="-120"/>
              </a:rPr>
              <a:t>Faint star: recovered</a:t>
            </a:r>
            <a:endParaRPr lang="en-US" sz="1400" dirty="0"/>
          </a:p>
        </p:txBody>
      </p:sp>
      <p:sp>
        <p:nvSpPr>
          <p:cNvPr id="18" name="Text 13"/>
          <p:cNvSpPr txBox="1"/>
          <p:nvPr/>
        </p:nvSpPr>
        <p:spPr>
          <a:xfrm>
            <a:off x="9136966" y="4142232"/>
            <a:ext cx="457200" cy="402336"/>
          </a:xfrm>
          <a:prstGeom prst="rect">
            <a:avLst/>
          </a:prstGeom>
          <a:noFill/>
          <a:ln/>
        </p:spPr>
        <p:txBody>
          <a:bodyPr wrap="square" lIns="0" tIns="0" rIns="0" bIns="0" rtlCol="0" anchor="ctr"/>
          <a:lstStyle/>
          <a:p>
            <a:pPr algn="ctr" indent="0" marL="0">
              <a:buNone/>
            </a:pPr>
            <a:r>
              <a:rPr lang="en-US" sz="1800" b="1" dirty="0">
                <a:solidFill>
                  <a:srgbClr val="FF4D9D"/>
                </a:solidFill>
                <a:latin typeface="Segoe UI" pitchFamily="34" charset="0"/>
                <a:ea typeface="Segoe UI" pitchFamily="34" charset="-122"/>
                <a:cs typeface="Segoe UI" pitchFamily="34" charset="-120"/>
              </a:rPr>
              <a:t>✕</a:t>
            </a:r>
            <a:endParaRPr lang="en-US" sz="1800" dirty="0"/>
          </a:p>
        </p:txBody>
      </p:sp>
      <p:sp>
        <p:nvSpPr>
          <p:cNvPr id="19" name="Text 14"/>
          <p:cNvSpPr txBox="1"/>
          <p:nvPr/>
        </p:nvSpPr>
        <p:spPr>
          <a:xfrm>
            <a:off x="9731326" y="4087368"/>
            <a:ext cx="1820289" cy="512064"/>
          </a:xfrm>
          <a:prstGeom prst="rect">
            <a:avLst/>
          </a:prstGeom>
          <a:noFill/>
          <a:ln/>
        </p:spPr>
        <p:txBody>
          <a:bodyPr wrap="square" lIns="0" tIns="0" rIns="0" bIns="0" rtlCol="0" anchor="ctr"/>
          <a:lstStyle/>
          <a:p>
            <a:pPr indent="0" marL="0">
              <a:buNone/>
            </a:pPr>
            <a:r>
              <a:rPr lang="en-US" sz="1400" dirty="0">
                <a:solidFill>
                  <a:srgbClr val="F2F0FF"/>
                </a:solidFill>
                <a:latin typeface="Segoe UI" pitchFamily="34" charset="0"/>
                <a:ea typeface="Segoe UI" pitchFamily="34" charset="-122"/>
                <a:cs typeface="Segoe UI" pitchFamily="34" charset="-120"/>
              </a:rPr>
              <a:t>Glow noise: rejected</a:t>
            </a:r>
            <a:endParaRPr lang="en-US" sz="1400" dirty="0"/>
          </a:p>
        </p:txBody>
      </p:sp>
      <p:sp>
        <p:nvSpPr>
          <p:cNvPr id="20" name="Text 15"/>
          <p:cNvSpPr txBox="1"/>
          <p:nvPr/>
        </p:nvSpPr>
        <p:spPr>
          <a:xfrm>
            <a:off x="3829929" y="1709928"/>
            <a:ext cx="2926080" cy="292608"/>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brightness along that row ↑</a:t>
            </a:r>
            <a:endParaRPr lang="en-US" sz="1400" dirty="0"/>
          </a:p>
        </p:txBody>
      </p:sp>
      <p:sp>
        <p:nvSpPr>
          <p:cNvPr id="21" name="Text 16"/>
          <p:cNvSpPr txBox="1"/>
          <p:nvPr/>
        </p:nvSpPr>
        <p:spPr>
          <a:xfrm>
            <a:off x="640080" y="4709160"/>
            <a:ext cx="3429000" cy="457200"/>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Real frames aren't uniform</a:t>
            </a:r>
            <a:endParaRPr lang="en-US" sz="1700" dirty="0"/>
          </a:p>
        </p:txBody>
      </p:sp>
      <p:sp>
        <p:nvSpPr>
          <p:cNvPr id="22" name="Text 17"/>
          <p:cNvSpPr txBox="1"/>
          <p:nvPr/>
        </p:nvSpPr>
        <p:spPr>
          <a:xfrm>
            <a:off x="640080" y="5212080"/>
            <a:ext cx="3429000" cy="82296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Vignetting, gradients and amp glow change the background from center to corner</a:t>
            </a:r>
            <a:endParaRPr lang="en-US" sz="1400" dirty="0"/>
          </a:p>
        </p:txBody>
      </p:sp>
      <p:sp>
        <p:nvSpPr>
          <p:cNvPr id="23" name="Text 18"/>
          <p:cNvSpPr txBox="1"/>
          <p:nvPr/>
        </p:nvSpPr>
        <p:spPr>
          <a:xfrm>
            <a:off x="4381348" y="4709160"/>
            <a:ext cx="3429000" cy="457200"/>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v4 adapts the threshold locally</a:t>
            </a:r>
            <a:endParaRPr lang="en-US" sz="1700" dirty="0"/>
          </a:p>
        </p:txBody>
      </p:sp>
      <p:sp>
        <p:nvSpPr>
          <p:cNvPr id="24" name="Text 19"/>
          <p:cNvSpPr txBox="1"/>
          <p:nvPr/>
        </p:nvSpPr>
        <p:spPr>
          <a:xfrm>
            <a:off x="4381348" y="5212080"/>
            <a:ext cx="3429000" cy="82296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Stricter where the frame is bright and noisy, more sensitive where it's clean</a:t>
            </a:r>
            <a:endParaRPr lang="en-US" sz="1400" dirty="0"/>
          </a:p>
        </p:txBody>
      </p:sp>
      <p:sp>
        <p:nvSpPr>
          <p:cNvPr id="25" name="Text 20"/>
          <p:cNvSpPr txBox="1"/>
          <p:nvPr/>
        </p:nvSpPr>
        <p:spPr>
          <a:xfrm>
            <a:off x="8122615" y="4709160"/>
            <a:ext cx="3429000" cy="457200"/>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More stars, especially in corners</a:t>
            </a:r>
            <a:endParaRPr lang="en-US" sz="1700" dirty="0"/>
          </a:p>
        </p:txBody>
      </p:sp>
      <p:sp>
        <p:nvSpPr>
          <p:cNvPr id="26" name="Text 21"/>
          <p:cNvSpPr txBox="1"/>
          <p:nvPr/>
        </p:nvSpPr>
        <p:spPr>
          <a:xfrm>
            <a:off x="8122615" y="5212080"/>
            <a:ext cx="3429000" cy="82296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On by default. Remember the corners: they matter in chapter 3</a:t>
            </a:r>
            <a:endParaRPr lang="en-US" sz="14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Real focus curves aren't symmetric</a:t>
            </a:r>
            <a:endParaRPr lang="en-US" sz="3200" dirty="0"/>
          </a:p>
        </p:txBody>
      </p:sp>
      <p:sp>
        <p:nvSpPr>
          <p:cNvPr id="4" name="Shape 2"/>
          <p:cNvSpPr/>
          <p:nvPr/>
        </p:nvSpPr>
        <p:spPr>
          <a:xfrm>
            <a:off x="640080" y="6108192"/>
            <a:ext cx="5140757"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592117"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ghilios.github.io/hocus-focus/overview/hyperbola-fitting</a:t>
            </a:r>
            <a:endParaRPr lang="en-US" sz="1300" dirty="0"/>
          </a:p>
        </p:txBody>
      </p:sp>
      <p:pic>
        <p:nvPicPr>
          <p:cNvPr id="8" name="Image 1" descr="/home/ghilios/src/hocus-focus/presentations/hocus-focus-v4/assets/art-asym.png">    </p:cNvPr>
          <p:cNvPicPr>
            <a:picLocks noChangeAspect="1"/>
          </p:cNvPicPr>
          <p:nvPr/>
        </p:nvPicPr>
        <p:blipFill>
          <a:blip r:embed="rId4"/>
          <a:stretch>
            <a:fillRect/>
          </a:stretch>
        </p:blipFill>
        <p:spPr>
          <a:xfrm>
            <a:off x="640080" y="1691640"/>
            <a:ext cx="5804807" cy="3611880"/>
          </a:xfrm>
          <a:prstGeom prst="rect">
            <a:avLst/>
          </a:prstGeom>
        </p:spPr>
      </p:pic>
      <p:sp>
        <p:nvSpPr>
          <p:cNvPr id="9" name="Text 4"/>
          <p:cNvSpPr txBox="1"/>
          <p:nvPr/>
        </p:nvSpPr>
        <p:spPr>
          <a:xfrm>
            <a:off x="4056834" y="5072961"/>
            <a:ext cx="2194560" cy="292608"/>
          </a:xfrm>
          <a:prstGeom prst="rect">
            <a:avLst/>
          </a:prstGeom>
          <a:noFill/>
          <a:ln/>
        </p:spPr>
        <p:txBody>
          <a:bodyPr wrap="square" lIns="0" tIns="0" rIns="0" bIns="0" rtlCol="0" anchor="t"/>
          <a:lstStyle/>
          <a:p>
            <a:pPr algn="r" indent="0" marL="0">
              <a:buNone/>
            </a:pPr>
            <a:r>
              <a:rPr lang="en-US" sz="1400" dirty="0">
                <a:solidFill>
                  <a:srgbClr val="B4BBE0"/>
                </a:solidFill>
                <a:latin typeface="Segoe UI" pitchFamily="34" charset="0"/>
                <a:ea typeface="Segoe UI" pitchFamily="34" charset="-122"/>
                <a:cs typeface="Segoe UI" pitchFamily="34" charset="-120"/>
              </a:rPr>
              <a:t>focuser position →</a:t>
            </a:r>
            <a:endParaRPr lang="en-US" sz="1400" dirty="0"/>
          </a:p>
        </p:txBody>
      </p:sp>
      <p:sp>
        <p:nvSpPr>
          <p:cNvPr id="10" name="Text 5"/>
          <p:cNvSpPr txBox="1"/>
          <p:nvPr/>
        </p:nvSpPr>
        <p:spPr>
          <a:xfrm>
            <a:off x="2450686" y="5072961"/>
            <a:ext cx="2194560" cy="292608"/>
          </a:xfrm>
          <a:prstGeom prst="rect">
            <a:avLst/>
          </a:prstGeom>
          <a:noFill/>
          <a:ln/>
        </p:spPr>
        <p:txBody>
          <a:bodyPr wrap="square" lIns="0" tIns="0" rIns="0" bIns="0" rtlCol="0" anchor="t"/>
          <a:lstStyle/>
          <a:p>
            <a:pPr algn="ctr" indent="0" marL="0">
              <a:buNone/>
            </a:pPr>
            <a:r>
              <a:rPr lang="en-US" sz="1500" b="1" dirty="0">
                <a:solidFill>
                  <a:srgbClr val="FF4D9D"/>
                </a:solidFill>
                <a:latin typeface="Segoe UI" pitchFamily="34" charset="0"/>
                <a:ea typeface="Segoe UI" pitchFamily="34" charset="-122"/>
                <a:cs typeface="Segoe UI" pitchFamily="34" charset="-120"/>
              </a:rPr>
              <a:t>best focus shifts</a:t>
            </a:r>
            <a:endParaRPr lang="en-US" sz="1500" dirty="0"/>
          </a:p>
        </p:txBody>
      </p:sp>
      <p:sp>
        <p:nvSpPr>
          <p:cNvPr id="11" name="Text 6"/>
          <p:cNvSpPr txBox="1"/>
          <p:nvPr/>
        </p:nvSpPr>
        <p:spPr>
          <a:xfrm>
            <a:off x="1051560" y="4359729"/>
            <a:ext cx="1463040" cy="292608"/>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star size ↑</a:t>
            </a:r>
            <a:endParaRPr lang="en-US" sz="1400" dirty="0"/>
          </a:p>
        </p:txBody>
      </p:sp>
      <p:sp>
        <p:nvSpPr>
          <p:cNvPr id="12" name="Shape 7"/>
          <p:cNvSpPr/>
          <p:nvPr/>
        </p:nvSpPr>
        <p:spPr>
          <a:xfrm>
            <a:off x="1143000" y="1965960"/>
            <a:ext cx="457200" cy="0"/>
          </a:xfrm>
          <a:prstGeom prst="line">
            <a:avLst/>
          </a:prstGeom>
          <a:noFill/>
          <a:ln w="38100">
            <a:solidFill>
              <a:srgbClr val="B4BBE0"/>
            </a:solidFill>
            <a:prstDash val="dash"/>
          </a:ln>
        </p:spPr>
      </p:sp>
      <p:sp>
        <p:nvSpPr>
          <p:cNvPr id="13" name="Text 8"/>
          <p:cNvSpPr txBox="1"/>
          <p:nvPr/>
        </p:nvSpPr>
        <p:spPr>
          <a:xfrm>
            <a:off x="1691640" y="1783080"/>
            <a:ext cx="2286000" cy="365760"/>
          </a:xfrm>
          <a:prstGeom prst="rect">
            <a:avLst/>
          </a:prstGeom>
          <a:noFill/>
          <a:ln/>
        </p:spPr>
        <p:txBody>
          <a:bodyPr wrap="square" lIns="0" tIns="0" rIns="0" bIns="0" rtlCol="0" anchor="ctr"/>
          <a:lstStyle/>
          <a:p>
            <a:pPr indent="0" marL="0">
              <a:buNone/>
            </a:pPr>
            <a:r>
              <a:rPr lang="en-US" sz="1500" dirty="0">
                <a:solidFill>
                  <a:srgbClr val="B4BBE0"/>
                </a:solidFill>
                <a:latin typeface="Segoe UI" pitchFamily="34" charset="0"/>
                <a:ea typeface="Segoe UI" pitchFamily="34" charset="-122"/>
                <a:cs typeface="Segoe UI" pitchFamily="34" charset="-120"/>
              </a:rPr>
              <a:t>symmetric fit</a:t>
            </a:r>
            <a:endParaRPr lang="en-US" sz="1500" dirty="0"/>
          </a:p>
        </p:txBody>
      </p:sp>
      <p:sp>
        <p:nvSpPr>
          <p:cNvPr id="14" name="Shape 9"/>
          <p:cNvSpPr/>
          <p:nvPr/>
        </p:nvSpPr>
        <p:spPr>
          <a:xfrm>
            <a:off x="1143000" y="2377440"/>
            <a:ext cx="457200" cy="0"/>
          </a:xfrm>
          <a:prstGeom prst="line">
            <a:avLst/>
          </a:prstGeom>
          <a:noFill/>
          <a:ln w="50800">
            <a:solidFill>
              <a:srgbClr val="8B5CF6"/>
            </a:solidFill>
            <a:prstDash val="solid"/>
          </a:ln>
        </p:spPr>
      </p:sp>
      <p:sp>
        <p:nvSpPr>
          <p:cNvPr id="15" name="Text 10"/>
          <p:cNvSpPr txBox="1"/>
          <p:nvPr/>
        </p:nvSpPr>
        <p:spPr>
          <a:xfrm>
            <a:off x="1691640" y="2194560"/>
            <a:ext cx="2743200" cy="365760"/>
          </a:xfrm>
          <a:prstGeom prst="rect">
            <a:avLst/>
          </a:prstGeom>
          <a:noFill/>
          <a:ln/>
        </p:spPr>
        <p:txBody>
          <a:bodyPr wrap="square" lIns="0" tIns="0" rIns="0" bIns="0" rtlCol="0" anchor="ctr"/>
          <a:lstStyle/>
          <a:p>
            <a:pPr indent="0" marL="0">
              <a:buNone/>
            </a:pPr>
            <a:r>
              <a:rPr lang="en-US" sz="1500" dirty="0">
                <a:solidFill>
                  <a:srgbClr val="F2F0FF"/>
                </a:solidFill>
                <a:latin typeface="Segoe UI" pitchFamily="34" charset="0"/>
                <a:ea typeface="Segoe UI" pitchFamily="34" charset="-122"/>
                <a:cs typeface="Segoe UI" pitchFamily="34" charset="-120"/>
              </a:rPr>
              <a:t>fit that's allowed to lean</a:t>
            </a:r>
            <a:endParaRPr lang="en-US" sz="1500" dirty="0"/>
          </a:p>
        </p:txBody>
      </p:sp>
      <p:sp>
        <p:nvSpPr>
          <p:cNvPr id="16" name="Text 11"/>
          <p:cNvSpPr txBox="1"/>
          <p:nvPr/>
        </p:nvSpPr>
        <p:spPr>
          <a:xfrm>
            <a:off x="7132320" y="2103120"/>
            <a:ext cx="448056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HYBRID (BEST FIT), THE NEW DEFAULT</a:t>
            </a:r>
            <a:endParaRPr lang="en-US" sz="1300" dirty="0"/>
          </a:p>
        </p:txBody>
      </p:sp>
      <p:sp>
        <p:nvSpPr>
          <p:cNvPr id="17" name="Text 12"/>
          <p:cNvSpPr txBox="1"/>
          <p:nvPr/>
        </p:nvSpPr>
        <p:spPr>
          <a:xfrm>
            <a:off x="7132320" y="2560320"/>
            <a:ext cx="4416552" cy="2743200"/>
          </a:xfrm>
          <a:prstGeom prst="rect">
            <a:avLst/>
          </a:prstGeom>
          <a:noFill/>
          <a:ln/>
        </p:spPr>
        <p:txBody>
          <a:bodyPr wrap="square" lIns="0" tIns="0" rIns="0" bIns="0" rtlCol="0" anchor="t"/>
          <a:lstStyle/>
          <a:p>
            <a:pPr marL="279400" indent="-279400">
              <a:spcAft>
                <a:spcPts val="1400"/>
              </a:spcAft>
              <a:buSzPct val="100000"/>
              <a:buChar char="●"/>
            </a:pPr>
            <a:r>
              <a:rPr lang="en-US" sz="1900" dirty="0">
                <a:solidFill>
                  <a:srgbClr val="F2F0FF"/>
                </a:solidFill>
                <a:latin typeface="Segoe UI" pitchFamily="34" charset="0"/>
                <a:ea typeface="Segoe UI" pitchFamily="34" charset="-122"/>
                <a:cs typeface="Segoe UI" pitchFamily="34" charset="-120"/>
              </a:rPr>
              <a:t>Stars defocus differently on each side of focus</a:t>
            </a:r>
            <a:endParaRPr lang="en-US" sz="1900" dirty="0"/>
          </a:p>
          <a:p>
            <a:pPr marL="279400" indent="-279400">
              <a:spcAft>
                <a:spcPts val="1400"/>
              </a:spcAft>
              <a:buSzPct val="100000"/>
              <a:buChar char="●"/>
            </a:pPr>
            <a:r>
              <a:rPr lang="en-US" sz="1900" b="1" dirty="0">
                <a:solidFill>
                  <a:srgbClr val="F2F0FF"/>
                </a:solidFill>
                <a:latin typeface="Segoe UI" pitchFamily="34" charset="0"/>
                <a:ea typeface="Segoe UI" pitchFamily="34" charset="-122"/>
                <a:cs typeface="Segoe UI" pitchFamily="34" charset="-120"/>
              </a:rPr>
              <a:t>Force a symmetric V</a:t>
            </a:r>
            <a:pPr indent="0" marL="0">
              <a:buNone/>
            </a:pPr>
            <a:r>
              <a:rPr lang="en-US" sz="1900" dirty="0">
                <a:solidFill>
                  <a:srgbClr val="F2F0FF"/>
                </a:solidFill>
                <a:latin typeface="Segoe UI" pitchFamily="34" charset="0"/>
                <a:ea typeface="Segoe UI" pitchFamily="34" charset="-122"/>
                <a:cs typeface="Segoe UI" pitchFamily="34" charset="-120"/>
              </a:rPr>
              <a:t> and best focus is pulled toward the shallow side</a:t>
            </a:r>
            <a:endParaRPr lang="en-US" sz="1900" dirty="0"/>
          </a:p>
          <a:p>
            <a:pPr marL="279400" indent="-279400">
              <a:spcAft>
                <a:spcPts val="1400"/>
              </a:spcAft>
              <a:buSzPct val="100000"/>
              <a:buChar char="●"/>
            </a:pPr>
            <a:r>
              <a:rPr lang="en-US" sz="1900" dirty="0">
                <a:solidFill>
                  <a:srgbClr val="F2F0FF"/>
                </a:solidFill>
                <a:latin typeface="Segoe UI" pitchFamily="34" charset="0"/>
                <a:ea typeface="Segoe UI" pitchFamily="34" charset="-122"/>
                <a:cs typeface="Segoe UI" pitchFamily="34" charset="-120"/>
              </a:rPr>
              <a:t>v4 tries several shapes, and only goes lopsided when the data justify it</a:t>
            </a:r>
            <a:endParaRPr lang="en-US" sz="19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See what autofocus saw, frame by frame</a:t>
            </a:r>
            <a:endParaRPr lang="en-US" sz="3200" dirty="0"/>
          </a:p>
        </p:txBody>
      </p:sp>
      <p:sp>
        <p:nvSpPr>
          <p:cNvPr id="4" name="Shape 2"/>
          <p:cNvSpPr/>
          <p:nvPr/>
        </p:nvSpPr>
        <p:spPr>
          <a:xfrm>
            <a:off x="640080" y="6108192"/>
            <a:ext cx="4504334"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3955694"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ghilios.github.io/hocus-focus/overview/autofocus</a:t>
            </a:r>
            <a:endParaRPr lang="en-US" sz="1300" dirty="0"/>
          </a:p>
        </p:txBody>
      </p:sp>
      <p:sp>
        <p:nvSpPr>
          <p:cNvPr id="8" name="Text 4"/>
          <p:cNvSpPr txBox="1"/>
          <p:nvPr/>
        </p:nvSpPr>
        <p:spPr>
          <a:xfrm>
            <a:off x="640080" y="1645920"/>
            <a:ext cx="393192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AUTOFOCUS FRAME REVIEW</a:t>
            </a:r>
            <a:endParaRPr lang="en-US" sz="1300" dirty="0"/>
          </a:p>
        </p:txBody>
      </p:sp>
      <p:sp>
        <p:nvSpPr>
          <p:cNvPr id="9" name="Shape 5"/>
          <p:cNvSpPr/>
          <p:nvPr/>
        </p:nvSpPr>
        <p:spPr>
          <a:xfrm>
            <a:off x="640080" y="2148840"/>
            <a:ext cx="512064" cy="512064"/>
          </a:xfrm>
          <a:prstGeom prst="ellipse">
            <a:avLst/>
          </a:prstGeom>
          <a:solidFill>
            <a:srgbClr val="FF4D9D"/>
          </a:solidFill>
          <a:ln/>
        </p:spPr>
      </p:sp>
      <p:sp>
        <p:nvSpPr>
          <p:cNvPr id="10" name="Text 6"/>
          <p:cNvSpPr txBox="1"/>
          <p:nvPr/>
        </p:nvSpPr>
        <p:spPr>
          <a:xfrm>
            <a:off x="640080" y="2148840"/>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Segoe UI Semibold" pitchFamily="34" charset="0"/>
                <a:ea typeface="Segoe UI Semibold" pitchFamily="34" charset="-122"/>
                <a:cs typeface="Segoe UI Semibold" pitchFamily="34" charset="-120"/>
              </a:rPr>
              <a:t>1</a:t>
            </a:r>
            <a:endParaRPr lang="en-US" sz="1456" dirty="0"/>
          </a:p>
        </p:txBody>
      </p:sp>
      <p:sp>
        <p:nvSpPr>
          <p:cNvPr id="11" name="Text 7"/>
          <p:cNvSpPr txBox="1"/>
          <p:nvPr/>
        </p:nvSpPr>
        <p:spPr>
          <a:xfrm>
            <a:off x="1371600" y="2148840"/>
            <a:ext cx="3200400" cy="512064"/>
          </a:xfrm>
          <a:prstGeom prst="rect">
            <a:avLst/>
          </a:prstGeom>
          <a:noFill/>
          <a:ln/>
        </p:spPr>
        <p:txBody>
          <a:bodyPr wrap="square" lIns="0" tIns="0" rIns="0" bIns="0" rtlCol="0" anchor="ctr"/>
          <a:lstStyle/>
          <a:p>
            <a:pPr indent="0" marL="0">
              <a:buNone/>
            </a:pPr>
            <a:r>
              <a:rPr lang="en-US" sz="1800" dirty="0">
                <a:solidFill>
                  <a:srgbClr val="F2F0FF"/>
                </a:solidFill>
                <a:latin typeface="Segoe UI" pitchFamily="34" charset="0"/>
                <a:ea typeface="Segoe UI" pitchFamily="34" charset="-122"/>
                <a:cs typeface="Segoe UI" pitchFamily="34" charset="-120"/>
              </a:rPr>
              <a:t>Turn on Keep frames for review</a:t>
            </a:r>
            <a:endParaRPr lang="en-US" sz="1800" dirty="0"/>
          </a:p>
        </p:txBody>
      </p:sp>
      <p:sp>
        <p:nvSpPr>
          <p:cNvPr id="12" name="Shape 8"/>
          <p:cNvSpPr/>
          <p:nvPr/>
        </p:nvSpPr>
        <p:spPr>
          <a:xfrm>
            <a:off x="640080" y="2926080"/>
            <a:ext cx="512064" cy="512064"/>
          </a:xfrm>
          <a:prstGeom prst="ellipse">
            <a:avLst/>
          </a:prstGeom>
          <a:solidFill>
            <a:srgbClr val="FF4D9D"/>
          </a:solidFill>
          <a:ln/>
        </p:spPr>
      </p:sp>
      <p:sp>
        <p:nvSpPr>
          <p:cNvPr id="13" name="Text 9"/>
          <p:cNvSpPr txBox="1"/>
          <p:nvPr/>
        </p:nvSpPr>
        <p:spPr>
          <a:xfrm>
            <a:off x="640080" y="2926080"/>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Segoe UI Semibold" pitchFamily="34" charset="0"/>
                <a:ea typeface="Segoe UI Semibold" pitchFamily="34" charset="-122"/>
                <a:cs typeface="Segoe UI Semibold" pitchFamily="34" charset="-120"/>
              </a:rPr>
              <a:t>2</a:t>
            </a:r>
            <a:endParaRPr lang="en-US" sz="1456" dirty="0"/>
          </a:p>
        </p:txBody>
      </p:sp>
      <p:sp>
        <p:nvSpPr>
          <p:cNvPr id="14" name="Text 10"/>
          <p:cNvSpPr txBox="1"/>
          <p:nvPr/>
        </p:nvSpPr>
        <p:spPr>
          <a:xfrm>
            <a:off x="1371600" y="2926080"/>
            <a:ext cx="3200400" cy="512064"/>
          </a:xfrm>
          <a:prstGeom prst="rect">
            <a:avLst/>
          </a:prstGeom>
          <a:noFill/>
          <a:ln/>
        </p:spPr>
        <p:txBody>
          <a:bodyPr wrap="square" lIns="0" tIns="0" rIns="0" bIns="0" rtlCol="0" anchor="ctr"/>
          <a:lstStyle/>
          <a:p>
            <a:pPr indent="0" marL="0">
              <a:buNone/>
            </a:pPr>
            <a:r>
              <a:rPr lang="en-US" sz="1800" dirty="0">
                <a:solidFill>
                  <a:srgbClr val="F2F0FF"/>
                </a:solidFill>
                <a:latin typeface="Segoe UI" pitchFamily="34" charset="0"/>
                <a:ea typeface="Segoe UI" pitchFamily="34" charset="-122"/>
                <a:cs typeface="Segoe UI" pitchFamily="34" charset="-120"/>
              </a:rPr>
              <a:t>Run autofocus from the panel</a:t>
            </a:r>
            <a:endParaRPr lang="en-US" sz="1800" dirty="0"/>
          </a:p>
        </p:txBody>
      </p:sp>
      <p:sp>
        <p:nvSpPr>
          <p:cNvPr id="15" name="Shape 11"/>
          <p:cNvSpPr/>
          <p:nvPr/>
        </p:nvSpPr>
        <p:spPr>
          <a:xfrm>
            <a:off x="640080" y="3703320"/>
            <a:ext cx="512064" cy="512064"/>
          </a:xfrm>
          <a:prstGeom prst="ellipse">
            <a:avLst/>
          </a:prstGeom>
          <a:solidFill>
            <a:srgbClr val="FF4D9D"/>
          </a:solidFill>
          <a:ln/>
        </p:spPr>
      </p:sp>
      <p:sp>
        <p:nvSpPr>
          <p:cNvPr id="16" name="Text 12"/>
          <p:cNvSpPr txBox="1"/>
          <p:nvPr/>
        </p:nvSpPr>
        <p:spPr>
          <a:xfrm>
            <a:off x="640080" y="3703320"/>
            <a:ext cx="512064" cy="512064"/>
          </a:xfrm>
          <a:prstGeom prst="rect">
            <a:avLst/>
          </a:prstGeom>
          <a:noFill/>
          <a:ln/>
        </p:spPr>
        <p:txBody>
          <a:bodyPr wrap="square" lIns="0" tIns="0" rIns="0" bIns="0" rtlCol="0" anchor="ctr"/>
          <a:lstStyle/>
          <a:p>
            <a:pPr algn="ctr" indent="0" marL="0">
              <a:buNone/>
            </a:pPr>
            <a:r>
              <a:rPr lang="en-US" sz="1456" b="1" dirty="0">
                <a:solidFill>
                  <a:srgbClr val="FFFFFF"/>
                </a:solidFill>
                <a:latin typeface="Segoe UI Semibold" pitchFamily="34" charset="0"/>
                <a:ea typeface="Segoe UI Semibold" pitchFamily="34" charset="-122"/>
                <a:cs typeface="Segoe UI Semibold" pitchFamily="34" charset="-120"/>
              </a:rPr>
              <a:t>3</a:t>
            </a:r>
            <a:endParaRPr lang="en-US" sz="1456" dirty="0"/>
          </a:p>
        </p:txBody>
      </p:sp>
      <p:sp>
        <p:nvSpPr>
          <p:cNvPr id="17" name="Text 13"/>
          <p:cNvSpPr txBox="1"/>
          <p:nvPr/>
        </p:nvSpPr>
        <p:spPr>
          <a:xfrm>
            <a:off x="1371600" y="3703320"/>
            <a:ext cx="3200400" cy="512064"/>
          </a:xfrm>
          <a:prstGeom prst="rect">
            <a:avLst/>
          </a:prstGeom>
          <a:noFill/>
          <a:ln/>
        </p:spPr>
        <p:txBody>
          <a:bodyPr wrap="square" lIns="0" tIns="0" rIns="0" bIns="0" rtlCol="0" anchor="ctr"/>
          <a:lstStyle/>
          <a:p>
            <a:pPr indent="0" marL="0">
              <a:buNone/>
            </a:pPr>
            <a:r>
              <a:rPr lang="en-US" sz="1800" dirty="0">
                <a:solidFill>
                  <a:srgbClr val="F2F0FF"/>
                </a:solidFill>
                <a:latin typeface="Segoe UI" pitchFamily="34" charset="0"/>
                <a:ea typeface="Segoe UI" pitchFamily="34" charset="-122"/>
                <a:cs typeface="Segoe UI" pitchFamily="34" charset="-120"/>
              </a:rPr>
              <a:t>Click Review Frames</a:t>
            </a:r>
            <a:endParaRPr lang="en-US" sz="1800" dirty="0"/>
          </a:p>
        </p:txBody>
      </p:sp>
      <p:sp>
        <p:nvSpPr>
          <p:cNvPr id="18" name="Shape 14"/>
          <p:cNvSpPr/>
          <p:nvPr/>
        </p:nvSpPr>
        <p:spPr>
          <a:xfrm>
            <a:off x="640080" y="4389406"/>
            <a:ext cx="3931920" cy="1462468"/>
          </a:xfrm>
          <a:prstGeom prst="roundRect">
            <a:avLst>
              <a:gd name="adj" fmla="val 6252"/>
            </a:avLst>
          </a:prstGeom>
          <a:solidFill>
            <a:srgbClr val="FFFFFF"/>
          </a:solidFill>
          <a:ln/>
          <a:effectLst>
            <a:outerShdw sx="100000" sy="100000" kx="0" ky="0" algn="bl" rotWithShape="0" blurRad="177800" dist="50800" dir="5400000">
              <a:srgbClr val="000000">
                <a:alpha val="45000"/>
              </a:srgbClr>
            </a:outerShdw>
          </a:effectLst>
        </p:spPr>
      </p:sp>
      <p:pic>
        <p:nvPicPr>
          <p:cNvPr id="19" name="Image 1" descr="/home/ghilios/src/hocus-focus/presentations/hocus-focus-v4/screenshots/af-review-controls.png">    </p:cNvPr>
          <p:cNvPicPr>
            <a:picLocks noChangeAspect="1"/>
          </p:cNvPicPr>
          <p:nvPr/>
        </p:nvPicPr>
        <p:blipFill>
          <a:blip r:embed="rId4"/>
          <a:stretch>
            <a:fillRect/>
          </a:stretch>
        </p:blipFill>
        <p:spPr>
          <a:xfrm>
            <a:off x="749808" y="4499134"/>
            <a:ext cx="3712464" cy="1243012"/>
          </a:xfrm>
          <a:prstGeom prst="rect">
            <a:avLst/>
          </a:prstGeom>
        </p:spPr>
      </p:pic>
      <p:sp>
        <p:nvSpPr>
          <p:cNvPr id="20" name="Shape 15"/>
          <p:cNvSpPr/>
          <p:nvPr/>
        </p:nvSpPr>
        <p:spPr>
          <a:xfrm>
            <a:off x="4897904" y="1691640"/>
            <a:ext cx="6645104" cy="4160520"/>
          </a:xfrm>
          <a:prstGeom prst="roundRect">
            <a:avLst>
              <a:gd name="adj" fmla="val 2198"/>
            </a:avLst>
          </a:prstGeom>
          <a:solidFill>
            <a:srgbClr val="FFFFFF"/>
          </a:solidFill>
          <a:ln/>
          <a:effectLst>
            <a:outerShdw sx="100000" sy="100000" kx="0" ky="0" algn="bl" rotWithShape="0" blurRad="177800" dist="50800" dir="5400000">
              <a:srgbClr val="000000">
                <a:alpha val="45000"/>
              </a:srgbClr>
            </a:outerShdw>
          </a:effectLst>
        </p:spPr>
      </p:sp>
      <p:pic>
        <p:nvPicPr>
          <p:cNvPr id="21" name="Image 2" descr="/home/ghilios/src/hocus-focus/presentations/hocus-focus-v4/screenshots/af-review-good.png">    </p:cNvPr>
          <p:cNvPicPr>
            <a:picLocks noChangeAspect="1"/>
          </p:cNvPicPr>
          <p:nvPr/>
        </p:nvPicPr>
        <p:blipFill>
          <a:blip r:embed="rId5"/>
          <a:stretch>
            <a:fillRect/>
          </a:stretch>
        </p:blipFill>
        <p:spPr>
          <a:xfrm>
            <a:off x="5007632" y="1801368"/>
            <a:ext cx="6425648" cy="3941064"/>
          </a:xfrm>
          <a:prstGeom prst="rect">
            <a:avLst/>
          </a:prstGeom>
        </p:spPr>
      </p:pic>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Spot the bad frame</a:t>
            </a:r>
            <a:endParaRPr lang="en-US" sz="3200" dirty="0"/>
          </a:p>
        </p:txBody>
      </p:sp>
      <p:sp>
        <p:nvSpPr>
          <p:cNvPr id="4" name="Shape 2"/>
          <p:cNvSpPr/>
          <p:nvPr/>
        </p:nvSpPr>
        <p:spPr>
          <a:xfrm>
            <a:off x="640080" y="6108192"/>
            <a:ext cx="4504334"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3955694"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ghilios.github.io/hocus-focus/overview/autofocus</a:t>
            </a:r>
            <a:endParaRPr lang="en-US" sz="1300" dirty="0"/>
          </a:p>
        </p:txBody>
      </p:sp>
      <p:sp>
        <p:nvSpPr>
          <p:cNvPr id="8" name="Shape 4"/>
          <p:cNvSpPr/>
          <p:nvPr/>
        </p:nvSpPr>
        <p:spPr>
          <a:xfrm>
            <a:off x="3581248" y="1744000"/>
            <a:ext cx="5029200" cy="4055799"/>
          </a:xfrm>
          <a:prstGeom prst="roundRect">
            <a:avLst>
              <a:gd name="adj" fmla="val 2255"/>
            </a:avLst>
          </a:prstGeom>
          <a:solidFill>
            <a:srgbClr val="FFFFFF"/>
          </a:solidFill>
          <a:ln/>
          <a:effectLst>
            <a:outerShdw sx="100000" sy="100000" kx="0" ky="0" algn="bl" rotWithShape="0" blurRad="177800" dist="50800" dir="5400000">
              <a:srgbClr val="000000">
                <a:alpha val="45000"/>
              </a:srgbClr>
            </a:outerShdw>
          </a:effectLst>
        </p:spPr>
      </p:sp>
      <p:pic>
        <p:nvPicPr>
          <p:cNvPr id="9" name="Image 1" descr="/home/ghilios/src/hocus-focus/presentations/hocus-focus-v4/screenshots/af-review-bad.png">    </p:cNvPr>
          <p:cNvPicPr>
            <a:picLocks noChangeAspect="1"/>
          </p:cNvPicPr>
          <p:nvPr/>
        </p:nvPicPr>
        <p:blipFill>
          <a:blip r:embed="rId4"/>
          <a:stretch>
            <a:fillRect/>
          </a:stretch>
        </p:blipFill>
        <p:spPr>
          <a:xfrm>
            <a:off x="3690976" y="1853728"/>
            <a:ext cx="4809744" cy="3836343"/>
          </a:xfrm>
          <a:prstGeom prst="rect">
            <a:avLst/>
          </a:prstGeom>
        </p:spPr>
      </p:pic>
      <p:sp>
        <p:nvSpPr>
          <p:cNvPr id="10" name="Text 5"/>
          <p:cNvSpPr txBox="1"/>
          <p:nvPr/>
        </p:nvSpPr>
        <p:spPr>
          <a:xfrm>
            <a:off x="640080" y="1954530"/>
            <a:ext cx="2621128" cy="1554480"/>
          </a:xfrm>
          <a:prstGeom prst="rect">
            <a:avLst/>
          </a:prstGeom>
          <a:noFill/>
          <a:ln/>
        </p:spPr>
        <p:txBody>
          <a:bodyPr wrap="square" lIns="0" tIns="0" rIns="0" bIns="0" rtlCol="0" anchor="ctr"/>
          <a:lstStyle/>
          <a:p>
            <a:pPr algn="l" indent="0" marL="0">
              <a:spcAft>
                <a:spcPts val="600"/>
              </a:spcAft>
              <a:buNone/>
            </a:pPr>
            <a:r>
              <a:rPr lang="en-US" sz="1900" dirty="0">
                <a:solidFill>
                  <a:srgbClr val="F2F0FF"/>
                </a:solidFill>
                <a:latin typeface="Segoe UI Semibold" pitchFamily="34" charset="0"/>
                <a:ea typeface="Segoe UI Semibold" pitchFamily="34" charset="-122"/>
                <a:cs typeface="Segoe UI Semibold" pitchFamily="34" charset="-120"/>
              </a:rPr>
              <a:t>What the detector saw</a:t>
            </a:r>
            <a:endParaRPr lang="en-US" sz="1900" dirty="0"/>
          </a:p>
          <a:p>
            <a:pPr algn="l" indent="0" marL="0">
              <a:buNone/>
            </a:pPr>
            <a:r>
              <a:rPr lang="en-US" sz="1500" dirty="0">
                <a:solidFill>
                  <a:srgbClr val="B4BBE0"/>
                </a:solidFill>
                <a:latin typeface="Segoe UI" pitchFamily="34" charset="0"/>
                <a:ea typeface="Segoe UI" pitchFamily="34" charset="-122"/>
                <a:cs typeface="Segoe UI" pitchFamily="34" charset="-120"/>
              </a:rPr>
              <a:t>at every focuser position</a:t>
            </a:r>
            <a:endParaRPr lang="en-US" sz="1900" dirty="0"/>
          </a:p>
        </p:txBody>
      </p:sp>
      <p:sp>
        <p:nvSpPr>
          <p:cNvPr id="11" name="Text 6"/>
          <p:cNvSpPr txBox="1"/>
          <p:nvPr/>
        </p:nvSpPr>
        <p:spPr>
          <a:xfrm>
            <a:off x="640080" y="4034790"/>
            <a:ext cx="2621128" cy="1554480"/>
          </a:xfrm>
          <a:prstGeom prst="rect">
            <a:avLst/>
          </a:prstGeom>
          <a:noFill/>
          <a:ln/>
        </p:spPr>
        <p:txBody>
          <a:bodyPr wrap="square" lIns="0" tIns="0" rIns="0" bIns="0" rtlCol="0" anchor="ctr"/>
          <a:lstStyle/>
          <a:p>
            <a:pPr algn="l" indent="0" marL="0">
              <a:spcAft>
                <a:spcPts val="600"/>
              </a:spcAft>
              <a:buNone/>
            </a:pPr>
            <a:r>
              <a:rPr lang="en-US" sz="1900" dirty="0">
                <a:solidFill>
                  <a:srgbClr val="F2F0FF"/>
                </a:solidFill>
                <a:latin typeface="Segoe UI Semibold" pitchFamily="34" charset="0"/>
                <a:ea typeface="Segoe UI Semibold" pitchFamily="34" charset="-122"/>
                <a:cs typeface="Segoe UI Semibold" pitchFamily="34" charset="-120"/>
              </a:rPr>
              <a:t>Find the empty frame</a:t>
            </a:r>
            <a:endParaRPr lang="en-US" sz="1900" dirty="0"/>
          </a:p>
          <a:p>
            <a:pPr algn="l" indent="0" marL="0">
              <a:buNone/>
            </a:pPr>
            <a:r>
              <a:rPr lang="en-US" sz="1500" dirty="0">
                <a:solidFill>
                  <a:srgbClr val="B4BBE0"/>
                </a:solidFill>
                <a:latin typeface="Segoe UI" pitchFamily="34" charset="0"/>
                <a:ea typeface="Segoe UI" pitchFamily="34" charset="-122"/>
                <a:cs typeface="Segoe UI" pitchFamily="34" charset="-120"/>
              </a:rPr>
              <a:t>or the donuts it missed</a:t>
            </a:r>
            <a:endParaRPr lang="en-US" sz="1900" dirty="0"/>
          </a:p>
        </p:txBody>
      </p:sp>
      <p:sp>
        <p:nvSpPr>
          <p:cNvPr id="12" name="Text 7"/>
          <p:cNvSpPr txBox="1"/>
          <p:nvPr/>
        </p:nvSpPr>
        <p:spPr>
          <a:xfrm>
            <a:off x="8930488" y="2994660"/>
            <a:ext cx="2621128" cy="1554480"/>
          </a:xfrm>
          <a:prstGeom prst="rect">
            <a:avLst/>
          </a:prstGeom>
          <a:noFill/>
          <a:ln/>
        </p:spPr>
        <p:txBody>
          <a:bodyPr wrap="square" lIns="0" tIns="0" rIns="0" bIns="0" rtlCol="0" anchor="ctr"/>
          <a:lstStyle/>
          <a:p>
            <a:pPr algn="l" indent="0" marL="0">
              <a:spcAft>
                <a:spcPts val="600"/>
              </a:spcAft>
              <a:buNone/>
            </a:pPr>
            <a:r>
              <a:rPr lang="en-US" sz="1900" dirty="0">
                <a:solidFill>
                  <a:srgbClr val="F2F0FF"/>
                </a:solidFill>
                <a:latin typeface="Segoe UI Semibold" pitchFamily="34" charset="0"/>
                <a:ea typeface="Segoe UI Semibold" pitchFamily="34" charset="-122"/>
                <a:cs typeface="Segoe UI Semibold" pitchFamily="34" charset="-120"/>
              </a:rPr>
              <a:t>Label the mistakes</a:t>
            </a:r>
            <a:endParaRPr lang="en-US" sz="1900" dirty="0"/>
          </a:p>
          <a:p>
            <a:pPr algn="l" indent="0" marL="0">
              <a:buNone/>
            </a:pPr>
            <a:r>
              <a:rPr lang="en-US" sz="1500" dirty="0">
                <a:solidFill>
                  <a:srgbClr val="B4BBE0"/>
                </a:solidFill>
                <a:latin typeface="Segoe UI" pitchFamily="34" charset="0"/>
                <a:ea typeface="Segoe UI" pitchFamily="34" charset="-122"/>
                <a:cs typeface="Segoe UI" pitchFamily="34" charset="-120"/>
              </a:rPr>
              <a:t>and hand them back to the optimizer</a:t>
            </a:r>
            <a:endParaRPr lang="en-US" sz="19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9326880"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The optimizer chases a precise best focus</a:t>
            </a:r>
            <a:endParaRPr lang="en-US" sz="3200" dirty="0"/>
          </a:p>
        </p:txBody>
      </p:sp>
      <p:sp>
        <p:nvSpPr>
          <p:cNvPr id="4" name="Shape 2"/>
          <p:cNvSpPr/>
          <p:nvPr/>
        </p:nvSpPr>
        <p:spPr>
          <a:xfrm>
            <a:off x="10180015" y="768096"/>
            <a:ext cx="1371600" cy="566928"/>
          </a:xfrm>
          <a:prstGeom prst="roundRect">
            <a:avLst>
              <a:gd name="adj" fmla="val 50000"/>
            </a:avLst>
          </a:prstGeom>
          <a:solidFill>
            <a:srgbClr val="FFB020"/>
          </a:solidFill>
          <a:ln/>
          <a:effectLst>
            <a:outerShdw sx="100000" sy="100000" kx="0" ky="0" algn="bl" rotWithShape="0" blurRad="177800" dist="50800" dir="5400000">
              <a:srgbClr val="000000">
                <a:alpha val="45000"/>
              </a:srgbClr>
            </a:outerShdw>
          </a:effectLst>
        </p:spPr>
      </p:sp>
      <p:sp>
        <p:nvSpPr>
          <p:cNvPr id="5" name="Text 3"/>
          <p:cNvSpPr txBox="1"/>
          <p:nvPr/>
        </p:nvSpPr>
        <p:spPr>
          <a:xfrm>
            <a:off x="10180015" y="768096"/>
            <a:ext cx="1371600" cy="566928"/>
          </a:xfrm>
          <a:prstGeom prst="rect">
            <a:avLst/>
          </a:prstGeom>
          <a:noFill/>
          <a:ln/>
        </p:spPr>
        <p:txBody>
          <a:bodyPr wrap="square" lIns="0" tIns="0" rIns="0" bIns="0" rtlCol="0" anchor="ctr"/>
          <a:lstStyle/>
          <a:p>
            <a:pPr algn="ctr" indent="0" marL="0">
              <a:buNone/>
            </a:pPr>
            <a:r>
              <a:rPr lang="en-US" sz="2000" b="1" spc="300" kern="0" dirty="0">
                <a:solidFill>
                  <a:srgbClr val="0B1026"/>
                </a:solidFill>
                <a:latin typeface="Segoe UI Semibold" pitchFamily="34" charset="0"/>
                <a:ea typeface="Segoe UI Semibold" pitchFamily="34" charset="-122"/>
                <a:cs typeface="Segoe UI Semibold" pitchFamily="34" charset="-120"/>
              </a:rPr>
              <a:t>SNR</a:t>
            </a:r>
            <a:endParaRPr lang="en-US" sz="2000" dirty="0"/>
          </a:p>
        </p:txBody>
      </p:sp>
      <p:pic>
        <p:nvPicPr>
          <p:cNvPr id="7" name="Image 0" descr="/home/ghilios/src/hocus-focus/presentations/hocus-focus-v4/assets/art-sigma.png">    </p:cNvPr>
          <p:cNvPicPr>
            <a:picLocks noChangeAspect="1"/>
          </p:cNvPicPr>
          <p:nvPr/>
        </p:nvPicPr>
        <p:blipFill>
          <a:blip r:embed="rId2"/>
          <a:stretch>
            <a:fillRect/>
          </a:stretch>
        </p:blipFill>
        <p:spPr>
          <a:xfrm>
            <a:off x="640080" y="2148840"/>
            <a:ext cx="5437414" cy="3383280"/>
          </a:xfrm>
          <a:prstGeom prst="rect">
            <a:avLst/>
          </a:prstGeom>
        </p:spPr>
      </p:pic>
      <p:sp>
        <p:nvSpPr>
          <p:cNvPr id="8" name="Text 4"/>
          <p:cNvSpPr txBox="1"/>
          <p:nvPr/>
        </p:nvSpPr>
        <p:spPr>
          <a:xfrm>
            <a:off x="1651635" y="1691640"/>
            <a:ext cx="3474720" cy="329184"/>
          </a:xfrm>
          <a:prstGeom prst="rect">
            <a:avLst/>
          </a:prstGeom>
          <a:noFill/>
          <a:ln/>
        </p:spPr>
        <p:txBody>
          <a:bodyPr wrap="square" lIns="0" tIns="0" rIns="0" bIns="0" rtlCol="0" anchor="ctr"/>
          <a:lstStyle/>
          <a:p>
            <a:pPr algn="ctr" indent="0" marL="0">
              <a:buNone/>
            </a:pPr>
            <a:r>
              <a:rPr lang="en-US" sz="1500" b="1" dirty="0">
                <a:solidFill>
                  <a:srgbClr val="FF4D9D"/>
                </a:solidFill>
                <a:latin typeface="Segoe UI" pitchFamily="34" charset="0"/>
                <a:ea typeface="Segoe UI" pitchFamily="34" charset="-122"/>
                <a:cs typeface="Segoe UI" pitchFamily="34" charset="-120"/>
              </a:rPr>
              <a:t>how precisely we know best focus</a:t>
            </a:r>
            <a:endParaRPr lang="en-US" sz="1500" dirty="0"/>
          </a:p>
        </p:txBody>
      </p:sp>
      <p:sp>
        <p:nvSpPr>
          <p:cNvPr id="9" name="Shape 5"/>
          <p:cNvSpPr/>
          <p:nvPr/>
        </p:nvSpPr>
        <p:spPr>
          <a:xfrm>
            <a:off x="3388995" y="2029968"/>
            <a:ext cx="0" cy="239703"/>
          </a:xfrm>
          <a:prstGeom prst="line">
            <a:avLst/>
          </a:prstGeom>
          <a:noFill/>
          <a:ln w="19050">
            <a:solidFill>
              <a:srgbClr val="FF4D9D"/>
            </a:solidFill>
            <a:prstDash val="solid"/>
          </a:ln>
        </p:spPr>
      </p:sp>
      <p:sp>
        <p:nvSpPr>
          <p:cNvPr id="10" name="Text 6"/>
          <p:cNvSpPr txBox="1"/>
          <p:nvPr/>
        </p:nvSpPr>
        <p:spPr>
          <a:xfrm>
            <a:off x="3701687" y="5317889"/>
            <a:ext cx="2194560" cy="292608"/>
          </a:xfrm>
          <a:prstGeom prst="rect">
            <a:avLst/>
          </a:prstGeom>
          <a:noFill/>
          <a:ln/>
        </p:spPr>
        <p:txBody>
          <a:bodyPr wrap="square" lIns="0" tIns="0" rIns="0" bIns="0" rtlCol="0" anchor="t"/>
          <a:lstStyle/>
          <a:p>
            <a:pPr algn="r" indent="0" marL="0">
              <a:buNone/>
            </a:pPr>
            <a:r>
              <a:rPr lang="en-US" sz="1400" dirty="0">
                <a:solidFill>
                  <a:srgbClr val="B4BBE0"/>
                </a:solidFill>
                <a:latin typeface="Segoe UI" pitchFamily="34" charset="0"/>
                <a:ea typeface="Segoe UI" pitchFamily="34" charset="-122"/>
                <a:cs typeface="Segoe UI" pitchFamily="34" charset="-120"/>
              </a:rPr>
              <a:t>focuser position →</a:t>
            </a:r>
            <a:endParaRPr lang="en-US" sz="1400" dirty="0"/>
          </a:p>
        </p:txBody>
      </p:sp>
      <p:sp>
        <p:nvSpPr>
          <p:cNvPr id="11" name="Text 7"/>
          <p:cNvSpPr txBox="1"/>
          <p:nvPr/>
        </p:nvSpPr>
        <p:spPr>
          <a:xfrm>
            <a:off x="1051560" y="4604657"/>
            <a:ext cx="2011680" cy="292608"/>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star size (HFR) ↑</a:t>
            </a:r>
            <a:endParaRPr lang="en-US" sz="1400" dirty="0"/>
          </a:p>
        </p:txBody>
      </p:sp>
      <p:sp>
        <p:nvSpPr>
          <p:cNvPr id="12" name="Text 8"/>
          <p:cNvSpPr txBox="1"/>
          <p:nvPr/>
        </p:nvSpPr>
        <p:spPr>
          <a:xfrm>
            <a:off x="7132320" y="1691640"/>
            <a:ext cx="4416552" cy="2606040"/>
          </a:xfrm>
          <a:prstGeom prst="rect">
            <a:avLst/>
          </a:prstGeom>
          <a:noFill/>
          <a:ln/>
        </p:spPr>
        <p:txBody>
          <a:bodyPr wrap="square" lIns="0" tIns="0" rIns="0" bIns="0" rtlCol="0" anchor="ctr"/>
          <a:lstStyle/>
          <a:p>
            <a:pPr marL="279400" indent="-279400">
              <a:spcAft>
                <a:spcPts val="1200"/>
              </a:spcAft>
              <a:buSzPct val="100000"/>
              <a:buChar char="●"/>
            </a:pPr>
            <a:r>
              <a:rPr lang="en-US" sz="1900" b="1" dirty="0">
                <a:solidFill>
                  <a:srgbClr val="F2F0FF"/>
                </a:solidFill>
                <a:latin typeface="Segoe UI" pitchFamily="34" charset="0"/>
                <a:ea typeface="Segoe UI" pitchFamily="34" charset="-122"/>
                <a:cs typeface="Segoe UI" pitchFamily="34" charset="-120"/>
              </a:rPr>
              <a:t>The goal: </a:t>
            </a:r>
            <a:pPr indent="0" marL="0">
              <a:buNone/>
            </a:pPr>
            <a:r>
              <a:rPr lang="en-US" sz="1900" dirty="0">
                <a:solidFill>
                  <a:srgbClr val="F2F0FF"/>
                </a:solidFill>
                <a:latin typeface="Segoe UI" pitchFamily="34" charset="0"/>
                <a:ea typeface="Segoe UI" pitchFamily="34" charset="-122"/>
                <a:cs typeface="Segoe UI" pitchFamily="34" charset="-120"/>
              </a:rPr>
              <a:t>minimize the error in the calculated best-focus position</a:t>
            </a:r>
            <a:endParaRPr lang="en-US" sz="1900" dirty="0"/>
          </a:p>
          <a:p>
            <a:pPr marL="279400" indent="-279400">
              <a:spcAft>
                <a:spcPts val="1200"/>
              </a:spcAft>
              <a:buSzPct val="100000"/>
              <a:buChar char="●"/>
            </a:pPr>
            <a:r>
              <a:rPr lang="en-US" sz="1900" dirty="0">
                <a:solidFill>
                  <a:srgbClr val="F2F0FF"/>
                </a:solidFill>
                <a:latin typeface="Segoe UI" pitchFamily="34" charset="0"/>
                <a:ea typeface="Segoe UI" pitchFamily="34" charset="-122"/>
                <a:cs typeface="Segoe UI" pitchFamily="34" charset="-120"/>
              </a:rPr>
              <a:t>Each point is the </a:t>
            </a:r>
            <a:pPr indent="0" marL="0">
              <a:buNone/>
            </a:pPr>
            <a:r>
              <a:rPr lang="en-US" sz="1900" b="1" dirty="0">
                <a:solidFill>
                  <a:srgbClr val="F2F0FF"/>
                </a:solidFill>
                <a:latin typeface="Segoe UI" pitchFamily="34" charset="0"/>
                <a:ea typeface="Segoe UI" pitchFamily="34" charset="-122"/>
                <a:cs typeface="Segoe UI" pitchFamily="34" charset="-120"/>
              </a:rPr>
              <a:t>average of every star in the frame</a:t>
            </a:r>
            <a:endParaRPr lang="en-US" sz="1900" dirty="0"/>
          </a:p>
          <a:p>
            <a:pPr marL="279400" indent="-279400">
              <a:spcAft>
                <a:spcPts val="1200"/>
              </a:spcAft>
              <a:buSzPct val="100000"/>
              <a:buChar char="●"/>
            </a:pPr>
            <a:r>
              <a:rPr lang="en-US" sz="1900" b="1" dirty="0">
                <a:solidFill>
                  <a:srgbClr val="FFB020"/>
                </a:solidFill>
                <a:latin typeface="Segoe UI" pitchFamily="34" charset="0"/>
                <a:ea typeface="Segoe UI" pitchFamily="34" charset="-122"/>
                <a:cs typeface="Segoe UI" pitchFamily="34" charset="-120"/>
              </a:rPr>
              <a:t>Averaging hundreds of stars = high SNR</a:t>
            </a:r>
            <a:endParaRPr lang="en-US" sz="1900" dirty="0"/>
          </a:p>
        </p:txBody>
      </p:sp>
      <p:sp>
        <p:nvSpPr>
          <p:cNvPr id="13" name="Shape 9"/>
          <p:cNvSpPr/>
          <p:nvPr/>
        </p:nvSpPr>
        <p:spPr>
          <a:xfrm>
            <a:off x="7132320" y="4480560"/>
            <a:ext cx="4416552" cy="1371600"/>
          </a:xfrm>
          <a:prstGeom prst="roundRect">
            <a:avLst>
              <a:gd name="adj" fmla="val 9333"/>
            </a:avLst>
          </a:prstGeom>
          <a:solidFill>
            <a:srgbClr val="1E2650"/>
          </a:solidFill>
          <a:ln w="19050">
            <a:solidFill>
              <a:srgbClr val="FFB020"/>
            </a:solidFill>
            <a:prstDash val="solid"/>
          </a:ln>
        </p:spPr>
      </p:sp>
      <p:sp>
        <p:nvSpPr>
          <p:cNvPr id="14" name="Text 10"/>
          <p:cNvSpPr txBox="1"/>
          <p:nvPr/>
        </p:nvSpPr>
        <p:spPr>
          <a:xfrm>
            <a:off x="7406640" y="4480560"/>
            <a:ext cx="3931920" cy="1371600"/>
          </a:xfrm>
          <a:prstGeom prst="rect">
            <a:avLst/>
          </a:prstGeom>
          <a:noFill/>
          <a:ln/>
        </p:spPr>
        <p:txBody>
          <a:bodyPr wrap="square" lIns="0" tIns="0" rIns="0" bIns="0" rtlCol="0" anchor="ctr"/>
          <a:lstStyle/>
          <a:p>
            <a:pPr indent="0" marL="0">
              <a:buNone/>
            </a:pPr>
            <a:r>
              <a:rPr lang="en-US" sz="2300" dirty="0">
                <a:solidFill>
                  <a:srgbClr val="F2F0FF"/>
                </a:solidFill>
                <a:latin typeface="Segoe UI Semibold" pitchFamily="34" charset="0"/>
                <a:ea typeface="Segoe UI Semibold" pitchFamily="34" charset="-122"/>
                <a:cs typeface="Segoe UI Semibold" pitchFamily="34" charset="-120"/>
              </a:rPr>
              <a:t>Autofocus is the easy case.</a:t>
            </a:r>
            <a:endParaRPr lang="en-US" sz="2300" dirty="0"/>
          </a:p>
          <a:p>
            <a:pPr indent="0" marL="0">
              <a:buNone/>
            </a:pPr>
            <a:r>
              <a:rPr lang="en-US" sz="2300" b="1" dirty="0">
                <a:solidFill>
                  <a:srgbClr val="FFB020"/>
                </a:solidFill>
                <a:latin typeface="Segoe UI Semibold" pitchFamily="34" charset="0"/>
                <a:ea typeface="Segoe UI Semibold" pitchFamily="34" charset="-122"/>
                <a:cs typeface="Segoe UI Semibold" pitchFamily="34" charset="-120"/>
              </a:rPr>
              <a:t>Tilt is not.</a:t>
            </a:r>
            <a:endParaRPr lang="en-US" sz="23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8183880" y="1691640"/>
            <a:ext cx="3383280" cy="3383280"/>
          </a:xfrm>
          <a:prstGeom prst="ellipse">
            <a:avLst/>
          </a:prstGeom>
          <a:solidFill>
            <a:srgbClr val="8B5CF6">
              <a:alpha val="18000"/>
            </a:srgbClr>
          </a:solidFill>
          <a:ln w="15875">
            <a:solidFill>
              <a:srgbClr val="8B5CF6"/>
            </a:solidFill>
            <a:prstDash val="solid"/>
          </a:ln>
        </p:spPr>
      </p:sp>
      <p:pic>
        <p:nvPicPr>
          <p:cNvPr id="4" name="Image 0" descr="/home/ghilios/src/hocus-focus/presentations/hocus-focus-v4/assets/icon-plane.png">    </p:cNvPr>
          <p:cNvPicPr>
            <a:picLocks noChangeAspect="1"/>
          </p:cNvPicPr>
          <p:nvPr/>
        </p:nvPicPr>
        <p:blipFill>
          <a:blip r:embed="rId2">
            <a:alphaModFix amt="75000"/>
          </a:blip>
          <a:stretch>
            <a:fillRect/>
          </a:stretch>
        </p:blipFill>
        <p:spPr>
          <a:xfrm>
            <a:off x="9052560" y="2560320"/>
            <a:ext cx="1645920" cy="1645920"/>
          </a:xfrm>
          <a:prstGeom prst="rect">
            <a:avLst/>
          </a:prstGeom>
        </p:spPr>
      </p:pic>
      <p:sp>
        <p:nvSpPr>
          <p:cNvPr id="5" name="Text 1"/>
          <p:cNvSpPr txBox="1"/>
          <p:nvPr/>
        </p:nvSpPr>
        <p:spPr>
          <a:xfrm>
            <a:off x="640080" y="1554480"/>
            <a:ext cx="3657600" cy="1463040"/>
          </a:xfrm>
          <a:prstGeom prst="rect">
            <a:avLst/>
          </a:prstGeom>
          <a:noFill/>
          <a:ln/>
        </p:spPr>
        <p:txBody>
          <a:bodyPr wrap="square" lIns="0" tIns="0" rIns="0" bIns="0" rtlCol="0" anchor="ctr"/>
          <a:lstStyle/>
          <a:p>
            <a:pPr indent="0" marL="0">
              <a:buNone/>
            </a:pPr>
            <a:r>
              <a:rPr lang="en-US" sz="11000" dirty="0">
                <a:solidFill>
                  <a:srgbClr val="8B5CF6"/>
                </a:solidFill>
                <a:latin typeface="Segoe UI Light" pitchFamily="34" charset="0"/>
                <a:ea typeface="Segoe UI Light" pitchFamily="34" charset="-122"/>
                <a:cs typeface="Segoe UI Light" pitchFamily="34" charset="-120"/>
              </a:rPr>
              <a:t>03</a:t>
            </a:r>
            <a:endParaRPr lang="en-US" sz="11000" dirty="0"/>
          </a:p>
        </p:txBody>
      </p:sp>
      <p:sp>
        <p:nvSpPr>
          <p:cNvPr id="6" name="Text 2"/>
          <p:cNvSpPr txBox="1"/>
          <p:nvPr/>
        </p:nvSpPr>
        <p:spPr>
          <a:xfrm>
            <a:off x="640080" y="3063240"/>
            <a:ext cx="7315200" cy="914400"/>
          </a:xfrm>
          <a:prstGeom prst="rect">
            <a:avLst/>
          </a:prstGeom>
          <a:noFill/>
          <a:ln/>
        </p:spPr>
        <p:txBody>
          <a:bodyPr wrap="square" lIns="0" tIns="0" rIns="0" bIns="0" rtlCol="0" anchor="ctr"/>
          <a:lstStyle/>
          <a:p>
            <a:pPr indent="0" marL="0">
              <a:buNone/>
            </a:pPr>
            <a:r>
              <a:rPr lang="en-US" sz="4400" dirty="0">
                <a:solidFill>
                  <a:srgbClr val="F2F0FF"/>
                </a:solidFill>
                <a:latin typeface="Segoe UI Semibold" pitchFamily="34" charset="0"/>
                <a:ea typeface="Segoe UI Semibold" pitchFamily="34" charset="-122"/>
                <a:cs typeface="Segoe UI Semibold" pitchFamily="34" charset="-120"/>
              </a:rPr>
              <a:t>Flat sensors</a:t>
            </a:r>
            <a:endParaRPr lang="en-US" sz="4400" dirty="0"/>
          </a:p>
        </p:txBody>
      </p:sp>
      <p:sp>
        <p:nvSpPr>
          <p:cNvPr id="7" name="Text 3"/>
          <p:cNvSpPr txBox="1"/>
          <p:nvPr/>
        </p:nvSpPr>
        <p:spPr>
          <a:xfrm>
            <a:off x="640080" y="4069080"/>
            <a:ext cx="7452360" cy="457200"/>
          </a:xfrm>
          <a:prstGeom prst="rect">
            <a:avLst/>
          </a:prstGeom>
          <a:noFill/>
          <a:ln/>
        </p:spPr>
        <p:txBody>
          <a:bodyPr wrap="square" lIns="0" tIns="0" rIns="0" bIns="0" rtlCol="0" anchor="ctr"/>
          <a:lstStyle/>
          <a:p>
            <a:pPr indent="0" marL="0">
              <a:buNone/>
            </a:pPr>
            <a:r>
              <a:rPr lang="en-US" sz="1800" dirty="0">
                <a:solidFill>
                  <a:srgbClr val="B4BBE0"/>
                </a:solidFill>
                <a:latin typeface="Segoe UI" pitchFamily="34" charset="0"/>
                <a:ea typeface="Segoe UI" pitchFamily="34" charset="-122"/>
                <a:cs typeface="Segoe UI" pitchFamily="34" charset="-120"/>
              </a:rPr>
              <a:t>Calibrating a tilt adapter  ·  guided and automatic correction  ·  simulators</a:t>
            </a:r>
            <a:endParaRPr lang="en-US" sz="1800" dirty="0"/>
          </a:p>
        </p:txBody>
      </p:sp>
      <p:sp>
        <p:nvSpPr>
          <p:cNvPr id="8" name="Text 4"/>
          <p:cNvSpPr txBox="1"/>
          <p:nvPr/>
        </p:nvSpPr>
        <p:spPr>
          <a:xfrm>
            <a:off x="640080" y="5257800"/>
            <a:ext cx="5486400" cy="411480"/>
          </a:xfrm>
          <a:prstGeom prst="rect">
            <a:avLst/>
          </a:prstGeom>
          <a:noFill/>
          <a:ln/>
        </p:spPr>
        <p:txBody>
          <a:bodyPr wrap="square" lIns="0" tIns="0" rIns="0" bIns="0" rtlCol="0" anchor="ctr"/>
          <a:lstStyle/>
          <a:p>
            <a:pPr indent="0" marL="0">
              <a:buNone/>
            </a:pPr>
            <a:r>
              <a:rPr lang="en-US" sz="1800" dirty="0">
                <a:solidFill>
                  <a:srgbClr val="C4B5FD"/>
                </a:solidFill>
                <a:latin typeface="Segoe UI" pitchFamily="34" charset="0"/>
                <a:ea typeface="Segoe UI" pitchFamily="34" charset="-122"/>
                <a:cs typeface="Segoe UI" pitchFamily="34" charset="-120"/>
              </a:rPr>
              <a:t>Pause: questions so far?</a:t>
            </a:r>
            <a:endParaRPr lang="en-US" sz="18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The sensor model, in one minute</a:t>
            </a:r>
            <a:endParaRPr lang="en-US" sz="3200" dirty="0"/>
          </a:p>
        </p:txBody>
      </p:sp>
      <p:sp>
        <p:nvSpPr>
          <p:cNvPr id="4" name="Shape 2"/>
          <p:cNvSpPr/>
          <p:nvPr/>
        </p:nvSpPr>
        <p:spPr>
          <a:xfrm>
            <a:off x="640080" y="6108192"/>
            <a:ext cx="4742993"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194353"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ghilios.github.io/hocus-focus/overview/sensor-model</a:t>
            </a:r>
            <a:endParaRPr lang="en-US" sz="1300" dirty="0"/>
          </a:p>
        </p:txBody>
      </p:sp>
      <p:pic>
        <p:nvPicPr>
          <p:cNvPr id="8" name="Image 1" descr="/home/ghilios/src/hocus-focus/presentations/hocus-focus-v4/assets/art-decomp.png">    </p:cNvPr>
          <p:cNvPicPr>
            <a:picLocks noChangeAspect="1"/>
          </p:cNvPicPr>
          <p:nvPr/>
        </p:nvPicPr>
        <p:blipFill>
          <a:blip r:embed="rId4"/>
          <a:stretch>
            <a:fillRect/>
          </a:stretch>
        </p:blipFill>
        <p:spPr>
          <a:xfrm>
            <a:off x="640080" y="1783080"/>
            <a:ext cx="6675120" cy="1756611"/>
          </a:xfrm>
          <a:prstGeom prst="rect">
            <a:avLst/>
          </a:prstGeom>
        </p:spPr>
      </p:pic>
      <p:sp>
        <p:nvSpPr>
          <p:cNvPr id="9" name="Text 4"/>
          <p:cNvSpPr txBox="1"/>
          <p:nvPr/>
        </p:nvSpPr>
        <p:spPr>
          <a:xfrm>
            <a:off x="2396691" y="1783080"/>
            <a:ext cx="702644" cy="1756611"/>
          </a:xfrm>
          <a:prstGeom prst="rect">
            <a:avLst/>
          </a:prstGeom>
          <a:noFill/>
          <a:ln/>
        </p:spPr>
        <p:txBody>
          <a:bodyPr wrap="square" lIns="0" tIns="0" rIns="0" bIns="0" rtlCol="0" anchor="ctr"/>
          <a:lstStyle/>
          <a:p>
            <a:pPr algn="ctr" indent="0" marL="0">
              <a:buNone/>
            </a:pPr>
            <a:r>
              <a:rPr lang="en-US" sz="4000" dirty="0">
                <a:solidFill>
                  <a:srgbClr val="F2F0FF"/>
                </a:solidFill>
                <a:latin typeface="Segoe UI Light" pitchFamily="34" charset="0"/>
                <a:ea typeface="Segoe UI Light" pitchFamily="34" charset="-122"/>
                <a:cs typeface="Segoe UI Light" pitchFamily="34" charset="-120"/>
              </a:rPr>
              <a:t>+</a:t>
            </a:r>
            <a:endParaRPr lang="en-US" sz="4000" dirty="0"/>
          </a:p>
        </p:txBody>
      </p:sp>
      <p:sp>
        <p:nvSpPr>
          <p:cNvPr id="10" name="Text 5"/>
          <p:cNvSpPr txBox="1"/>
          <p:nvPr/>
        </p:nvSpPr>
        <p:spPr>
          <a:xfrm>
            <a:off x="4855945" y="1783080"/>
            <a:ext cx="702644" cy="1756611"/>
          </a:xfrm>
          <a:prstGeom prst="rect">
            <a:avLst/>
          </a:prstGeom>
          <a:noFill/>
          <a:ln/>
        </p:spPr>
        <p:txBody>
          <a:bodyPr wrap="square" lIns="0" tIns="0" rIns="0" bIns="0" rtlCol="0" anchor="ctr"/>
          <a:lstStyle/>
          <a:p>
            <a:pPr algn="ctr" indent="0" marL="0">
              <a:buNone/>
            </a:pPr>
            <a:r>
              <a:rPr lang="en-US" sz="4000" dirty="0">
                <a:solidFill>
                  <a:srgbClr val="F2F0FF"/>
                </a:solidFill>
                <a:latin typeface="Segoe UI Light" pitchFamily="34" charset="0"/>
                <a:ea typeface="Segoe UI Light" pitchFamily="34" charset="-122"/>
                <a:cs typeface="Segoe UI Light" pitchFamily="34" charset="-120"/>
              </a:rPr>
              <a:t>=</a:t>
            </a:r>
            <a:endParaRPr lang="en-US" sz="4000" dirty="0"/>
          </a:p>
        </p:txBody>
      </p:sp>
      <p:sp>
        <p:nvSpPr>
          <p:cNvPr id="11" name="Text 6"/>
          <p:cNvSpPr txBox="1"/>
          <p:nvPr/>
        </p:nvSpPr>
        <p:spPr>
          <a:xfrm>
            <a:off x="365760" y="3631131"/>
            <a:ext cx="2305251" cy="365760"/>
          </a:xfrm>
          <a:prstGeom prst="rect">
            <a:avLst/>
          </a:prstGeom>
          <a:noFill/>
          <a:ln/>
        </p:spPr>
        <p:txBody>
          <a:bodyPr wrap="square" lIns="0" tIns="0" rIns="0" bIns="0" rtlCol="0" anchor="ctr"/>
          <a:lstStyle/>
          <a:p>
            <a:pPr algn="ctr" indent="0" marL="0">
              <a:buNone/>
            </a:pPr>
            <a:r>
              <a:rPr lang="en-US" sz="1800" dirty="0">
                <a:solidFill>
                  <a:srgbClr val="F2F0FF"/>
                </a:solidFill>
                <a:latin typeface="Segoe UI Semibold" pitchFamily="34" charset="0"/>
                <a:ea typeface="Segoe UI Semibold" pitchFamily="34" charset="-122"/>
                <a:cs typeface="Segoe UI Semibold" pitchFamily="34" charset="-120"/>
              </a:rPr>
              <a:t>Tilt</a:t>
            </a:r>
            <a:endParaRPr lang="en-US" sz="1800" dirty="0"/>
          </a:p>
        </p:txBody>
      </p:sp>
      <p:sp>
        <p:nvSpPr>
          <p:cNvPr id="12" name="Text 7"/>
          <p:cNvSpPr txBox="1"/>
          <p:nvPr/>
        </p:nvSpPr>
        <p:spPr>
          <a:xfrm>
            <a:off x="365760" y="3996891"/>
            <a:ext cx="2305251" cy="365760"/>
          </a:xfrm>
          <a:prstGeom prst="rect">
            <a:avLst/>
          </a:prstGeom>
          <a:noFill/>
          <a:ln/>
        </p:spPr>
        <p:txBody>
          <a:bodyPr wrap="square" lIns="0" tIns="0" rIns="0" bIns="0" rtlCol="0" anchor="t"/>
          <a:lstStyle/>
          <a:p>
            <a:pPr algn="ctr" indent="0" marL="0">
              <a:buNone/>
            </a:pPr>
            <a:r>
              <a:rPr lang="en-US" sz="1400" dirty="0">
                <a:solidFill>
                  <a:srgbClr val="B4BBE0"/>
                </a:solidFill>
                <a:latin typeface="Segoe UI" pitchFamily="34" charset="0"/>
                <a:ea typeface="Segoe UI" pitchFamily="34" charset="-122"/>
                <a:cs typeface="Segoe UI" pitchFamily="34" charset="-120"/>
              </a:rPr>
              <a:t>one side focuses first</a:t>
            </a:r>
            <a:endParaRPr lang="en-US" sz="1400" dirty="0"/>
          </a:p>
        </p:txBody>
      </p:sp>
      <p:sp>
        <p:nvSpPr>
          <p:cNvPr id="13" name="Text 8"/>
          <p:cNvSpPr txBox="1"/>
          <p:nvPr/>
        </p:nvSpPr>
        <p:spPr>
          <a:xfrm>
            <a:off x="2825015" y="3631131"/>
            <a:ext cx="2305251" cy="365760"/>
          </a:xfrm>
          <a:prstGeom prst="rect">
            <a:avLst/>
          </a:prstGeom>
          <a:noFill/>
          <a:ln/>
        </p:spPr>
        <p:txBody>
          <a:bodyPr wrap="square" lIns="0" tIns="0" rIns="0" bIns="0" rtlCol="0" anchor="ctr"/>
          <a:lstStyle/>
          <a:p>
            <a:pPr algn="ctr" indent="0" marL="0">
              <a:buNone/>
            </a:pPr>
            <a:r>
              <a:rPr lang="en-US" sz="1800" dirty="0">
                <a:solidFill>
                  <a:srgbClr val="F2F0FF"/>
                </a:solidFill>
                <a:latin typeface="Segoe UI Semibold" pitchFamily="34" charset="0"/>
                <a:ea typeface="Segoe UI Semibold" pitchFamily="34" charset="-122"/>
                <a:cs typeface="Segoe UI Semibold" pitchFamily="34" charset="-120"/>
              </a:rPr>
              <a:t>Curvature</a:t>
            </a:r>
            <a:endParaRPr lang="en-US" sz="1800" dirty="0"/>
          </a:p>
        </p:txBody>
      </p:sp>
      <p:sp>
        <p:nvSpPr>
          <p:cNvPr id="14" name="Text 9"/>
          <p:cNvSpPr txBox="1"/>
          <p:nvPr/>
        </p:nvSpPr>
        <p:spPr>
          <a:xfrm>
            <a:off x="2825015" y="3996891"/>
            <a:ext cx="2305251" cy="365760"/>
          </a:xfrm>
          <a:prstGeom prst="rect">
            <a:avLst/>
          </a:prstGeom>
          <a:noFill/>
          <a:ln/>
        </p:spPr>
        <p:txBody>
          <a:bodyPr wrap="square" lIns="0" tIns="0" rIns="0" bIns="0" rtlCol="0" anchor="t"/>
          <a:lstStyle/>
          <a:p>
            <a:pPr algn="ctr" indent="0" marL="0">
              <a:buNone/>
            </a:pPr>
            <a:r>
              <a:rPr lang="en-US" sz="1400" dirty="0">
                <a:solidFill>
                  <a:srgbClr val="B4BBE0"/>
                </a:solidFill>
                <a:latin typeface="Segoe UI" pitchFamily="34" charset="0"/>
                <a:ea typeface="Segoe UI" pitchFamily="34" charset="-122"/>
                <a:cs typeface="Segoe UI" pitchFamily="34" charset="-120"/>
              </a:rPr>
              <a:t>corners vs. center: backfocus</a:t>
            </a:r>
            <a:endParaRPr lang="en-US" sz="1400" dirty="0"/>
          </a:p>
        </p:txBody>
      </p:sp>
      <p:sp>
        <p:nvSpPr>
          <p:cNvPr id="15" name="Text 10"/>
          <p:cNvSpPr txBox="1"/>
          <p:nvPr/>
        </p:nvSpPr>
        <p:spPr>
          <a:xfrm>
            <a:off x="5284269" y="3631131"/>
            <a:ext cx="2305251" cy="365760"/>
          </a:xfrm>
          <a:prstGeom prst="rect">
            <a:avLst/>
          </a:prstGeom>
          <a:noFill/>
          <a:ln/>
        </p:spPr>
        <p:txBody>
          <a:bodyPr wrap="square" lIns="0" tIns="0" rIns="0" bIns="0" rtlCol="0" anchor="ctr"/>
          <a:lstStyle/>
          <a:p>
            <a:pPr algn="ctr" indent="0" marL="0">
              <a:buNone/>
            </a:pPr>
            <a:r>
              <a:rPr lang="en-US" sz="1800" dirty="0">
                <a:solidFill>
                  <a:srgbClr val="F2F0FF"/>
                </a:solidFill>
                <a:latin typeface="Segoe UI Semibold" pitchFamily="34" charset="0"/>
                <a:ea typeface="Segoe UI Semibold" pitchFamily="34" charset="-122"/>
                <a:cs typeface="Segoe UI Semibold" pitchFamily="34" charset="-120"/>
              </a:rPr>
              <a:t>Your sensor</a:t>
            </a:r>
            <a:endParaRPr lang="en-US" sz="1800" dirty="0"/>
          </a:p>
        </p:txBody>
      </p:sp>
      <p:sp>
        <p:nvSpPr>
          <p:cNvPr id="16" name="Text 11"/>
          <p:cNvSpPr txBox="1"/>
          <p:nvPr/>
        </p:nvSpPr>
        <p:spPr>
          <a:xfrm>
            <a:off x="5284269" y="3996891"/>
            <a:ext cx="2305251" cy="365760"/>
          </a:xfrm>
          <a:prstGeom prst="rect">
            <a:avLst/>
          </a:prstGeom>
          <a:noFill/>
          <a:ln/>
        </p:spPr>
        <p:txBody>
          <a:bodyPr wrap="square" lIns="0" tIns="0" rIns="0" bIns="0" rtlCol="0" anchor="t"/>
          <a:lstStyle/>
          <a:p>
            <a:pPr algn="ctr" indent="0" marL="0">
              <a:buNone/>
            </a:pPr>
            <a:r>
              <a:rPr lang="en-US" sz="1400" dirty="0">
                <a:solidFill>
                  <a:srgbClr val="B4BBE0"/>
                </a:solidFill>
                <a:latin typeface="Segoe UI" pitchFamily="34" charset="0"/>
                <a:ea typeface="Segoe UI" pitchFamily="34" charset="-122"/>
                <a:cs typeface="Segoe UI" pitchFamily="34" charset="-120"/>
              </a:rPr>
              <a:t>best focus across the frame</a:t>
            </a:r>
            <a:endParaRPr lang="en-US" sz="1400" dirty="0"/>
          </a:p>
        </p:txBody>
      </p:sp>
      <p:sp>
        <p:nvSpPr>
          <p:cNvPr id="17" name="Shape 12"/>
          <p:cNvSpPr/>
          <p:nvPr/>
        </p:nvSpPr>
        <p:spPr>
          <a:xfrm>
            <a:off x="8140694" y="1783080"/>
            <a:ext cx="3408178" cy="2194560"/>
          </a:xfrm>
          <a:prstGeom prst="roundRect">
            <a:avLst>
              <a:gd name="adj" fmla="val 4167"/>
            </a:avLst>
          </a:prstGeom>
          <a:solidFill>
            <a:srgbClr val="FFFFFF"/>
          </a:solidFill>
          <a:ln/>
          <a:effectLst>
            <a:outerShdw sx="100000" sy="100000" kx="0" ky="0" algn="bl" rotWithShape="0" blurRad="177800" dist="50800" dir="5400000">
              <a:srgbClr val="000000">
                <a:alpha val="45000"/>
              </a:srgbClr>
            </a:outerShdw>
          </a:effectLst>
        </p:spPr>
      </p:sp>
      <p:pic>
        <p:nvPicPr>
          <p:cNvPr id="18" name="Image 2" descr="/home/ghilios/src/hocus-focus/presentations/hocus-focus-v4/assets/doc-sensor-surface.png">    </p:cNvPr>
          <p:cNvPicPr>
            <a:picLocks noChangeAspect="1"/>
          </p:cNvPicPr>
          <p:nvPr/>
        </p:nvPicPr>
        <p:blipFill>
          <a:blip r:embed="rId5"/>
          <a:stretch>
            <a:fillRect/>
          </a:stretch>
        </p:blipFill>
        <p:spPr>
          <a:xfrm>
            <a:off x="8250422" y="1892808"/>
            <a:ext cx="3188722" cy="1975104"/>
          </a:xfrm>
          <a:prstGeom prst="rect">
            <a:avLst/>
          </a:prstGeom>
        </p:spPr>
      </p:pic>
      <p:sp>
        <p:nvSpPr>
          <p:cNvPr id="19" name="Text 13"/>
          <p:cNvSpPr txBox="1"/>
          <p:nvPr/>
        </p:nvSpPr>
        <p:spPr>
          <a:xfrm>
            <a:off x="8140694" y="4069080"/>
            <a:ext cx="3408178" cy="320040"/>
          </a:xfrm>
          <a:prstGeom prst="rect">
            <a:avLst/>
          </a:prstGeom>
          <a:noFill/>
          <a:ln/>
        </p:spPr>
        <p:txBody>
          <a:bodyPr wrap="square" lIns="0" tIns="0" rIns="0" bIns="0" rtlCol="0" anchor="ctr"/>
          <a:lstStyle/>
          <a:p>
            <a:pPr algn="ctr" indent="0" marL="0">
              <a:buNone/>
            </a:pPr>
            <a:r>
              <a:rPr lang="en-US" sz="1400" dirty="0">
                <a:solidFill>
                  <a:srgbClr val="B4BBE0"/>
                </a:solidFill>
                <a:latin typeface="Segoe UI" pitchFamily="34" charset="0"/>
                <a:ea typeface="Segoe UI" pitchFamily="34" charset="-122"/>
                <a:cs typeface="Segoe UI" pitchFamily="34" charset="-120"/>
              </a:rPr>
              <a:t>In the Aberration Inspector</a:t>
            </a:r>
            <a:endParaRPr lang="en-US" sz="1400" dirty="0"/>
          </a:p>
        </p:txBody>
      </p:sp>
      <p:sp>
        <p:nvSpPr>
          <p:cNvPr id="20" name="Shape 14"/>
          <p:cNvSpPr/>
          <p:nvPr/>
        </p:nvSpPr>
        <p:spPr>
          <a:xfrm>
            <a:off x="640080" y="4572000"/>
            <a:ext cx="10911535" cy="1280160"/>
          </a:xfrm>
          <a:prstGeom prst="roundRect">
            <a:avLst>
              <a:gd name="adj" fmla="val 10000"/>
            </a:avLst>
          </a:prstGeom>
          <a:solidFill>
            <a:srgbClr val="151B3A">
              <a:alpha val="92000"/>
            </a:srgbClr>
          </a:solidFill>
          <a:ln w="9525">
            <a:solidFill>
              <a:srgbClr val="3A4380"/>
            </a:solidFill>
            <a:prstDash val="solid"/>
          </a:ln>
        </p:spPr>
      </p:sp>
      <p:sp>
        <p:nvSpPr>
          <p:cNvPr id="21" name="Text 15"/>
          <p:cNvSpPr txBox="1"/>
          <p:nvPr/>
        </p:nvSpPr>
        <p:spPr>
          <a:xfrm>
            <a:off x="1005840" y="4572000"/>
            <a:ext cx="10180015" cy="1280160"/>
          </a:xfrm>
          <a:prstGeom prst="rect">
            <a:avLst/>
          </a:prstGeom>
          <a:noFill/>
          <a:ln/>
        </p:spPr>
        <p:txBody>
          <a:bodyPr wrap="square" lIns="0" tIns="0" rIns="0" bIns="0" rtlCol="0" anchor="ctr"/>
          <a:lstStyle/>
          <a:p>
            <a:pPr indent="0" marL="0">
              <a:buNone/>
            </a:pPr>
            <a:r>
              <a:rPr lang="en-US" sz="2400" dirty="0">
                <a:solidFill>
                  <a:srgbClr val="F2F0FF"/>
                </a:solidFill>
                <a:latin typeface="Segoe UI Semibold" pitchFamily="34" charset="0"/>
                <a:ea typeface="Segoe UI Semibold" pitchFamily="34" charset="-122"/>
                <a:cs typeface="Segoe UI Semibold" pitchFamily="34" charset="-120"/>
              </a:rPr>
              <a:t>In 2023 it told you </a:t>
            </a:r>
            <a:pPr indent="0" marL="0">
              <a:buNone/>
            </a:pPr>
            <a:r>
              <a:rPr lang="en-US" sz="2400" b="1" dirty="0">
                <a:solidFill>
                  <a:srgbClr val="FF4D9D"/>
                </a:solidFill>
                <a:latin typeface="Segoe UI Semibold" pitchFamily="34" charset="0"/>
                <a:ea typeface="Segoe UI Semibold" pitchFamily="34" charset="-122"/>
                <a:cs typeface="Segoe UI Semibold" pitchFamily="34" charset="-120"/>
              </a:rPr>
              <a:t>that</a:t>
            </a:r>
            <a:pPr indent="0" marL="0">
              <a:buNone/>
            </a:pPr>
            <a:r>
              <a:rPr lang="en-US" sz="2400" dirty="0">
                <a:solidFill>
                  <a:srgbClr val="F2F0FF"/>
                </a:solidFill>
                <a:latin typeface="Segoe UI Semibold" pitchFamily="34" charset="0"/>
                <a:ea typeface="Segoe UI Semibold" pitchFamily="34" charset="-122"/>
                <a:cs typeface="Segoe UI Semibold" pitchFamily="34" charset="-120"/>
              </a:rPr>
              <a:t> you had tilt. It didn't tell you what to do about it.</a:t>
            </a:r>
            <a:endParaRPr lang="en-US" sz="24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Which screw, which way, how far?</a:t>
            </a:r>
            <a:endParaRPr lang="en-US" sz="3200" dirty="0"/>
          </a:p>
        </p:txBody>
      </p:sp>
      <p:sp>
        <p:nvSpPr>
          <p:cNvPr id="4" name="Shape 2"/>
          <p:cNvSpPr/>
          <p:nvPr/>
        </p:nvSpPr>
        <p:spPr>
          <a:xfrm>
            <a:off x="640080" y="6108192"/>
            <a:ext cx="5299862"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751222"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ghilios.github.io/hocus-focus/overview/tilt-adapter-wizard</a:t>
            </a:r>
            <a:endParaRPr lang="en-US" sz="1300" dirty="0"/>
          </a:p>
        </p:txBody>
      </p:sp>
      <p:sp>
        <p:nvSpPr>
          <p:cNvPr id="8" name="Shape 4"/>
          <p:cNvSpPr/>
          <p:nvPr/>
        </p:nvSpPr>
        <p:spPr>
          <a:xfrm>
            <a:off x="640080" y="1691640"/>
            <a:ext cx="5882143" cy="4160520"/>
          </a:xfrm>
          <a:prstGeom prst="roundRect">
            <a:avLst>
              <a:gd name="adj" fmla="val 2198"/>
            </a:avLst>
          </a:prstGeom>
          <a:solidFill>
            <a:srgbClr val="FFFFFF"/>
          </a:solidFill>
          <a:ln/>
          <a:effectLst>
            <a:outerShdw sx="100000" sy="100000" kx="0" ky="0" algn="bl" rotWithShape="0" blurRad="177800" dist="50800" dir="5400000">
              <a:srgbClr val="000000">
                <a:alpha val="45000"/>
              </a:srgbClr>
            </a:outerShdw>
          </a:effectLst>
        </p:spPr>
      </p:sp>
      <p:pic>
        <p:nvPicPr>
          <p:cNvPr id="9" name="Image 1" descr="/home/ghilios/src/hocus-focus/presentations/hocus-focus-v4/screenshots/wizard-setup.png">    </p:cNvPr>
          <p:cNvPicPr>
            <a:picLocks noChangeAspect="1"/>
          </p:cNvPicPr>
          <p:nvPr/>
        </p:nvPicPr>
        <p:blipFill>
          <a:blip r:embed="rId4"/>
          <a:stretch>
            <a:fillRect/>
          </a:stretch>
        </p:blipFill>
        <p:spPr>
          <a:xfrm>
            <a:off x="749808" y="1801368"/>
            <a:ext cx="5662687" cy="3941064"/>
          </a:xfrm>
          <a:prstGeom prst="rect">
            <a:avLst/>
          </a:prstGeom>
        </p:spPr>
      </p:pic>
      <p:sp>
        <p:nvSpPr>
          <p:cNvPr id="10" name="Text 5"/>
          <p:cNvSpPr txBox="1"/>
          <p:nvPr/>
        </p:nvSpPr>
        <p:spPr>
          <a:xfrm>
            <a:off x="6903720" y="1691640"/>
            <a:ext cx="466344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TELL IT ABOUT YOUR ADAPTER</a:t>
            </a:r>
            <a:endParaRPr lang="en-US" sz="1300" dirty="0"/>
          </a:p>
        </p:txBody>
      </p:sp>
      <p:sp>
        <p:nvSpPr>
          <p:cNvPr id="11" name="Text 6"/>
          <p:cNvSpPr txBox="1"/>
          <p:nvPr/>
        </p:nvSpPr>
        <p:spPr>
          <a:xfrm>
            <a:off x="6903720" y="2057400"/>
            <a:ext cx="4645152" cy="3794760"/>
          </a:xfrm>
          <a:prstGeom prst="rect">
            <a:avLst/>
          </a:prstGeom>
          <a:noFill/>
          <a:ln/>
        </p:spPr>
        <p:txBody>
          <a:bodyPr wrap="square" lIns="0" tIns="0" rIns="0" bIns="0" rtlCol="0" anchor="ctr"/>
          <a:lstStyle/>
          <a:p>
            <a:pPr marL="279400" indent="-279400">
              <a:spcAft>
                <a:spcPts val="1400"/>
              </a:spcAft>
              <a:buSzPct val="100000"/>
              <a:buChar char="●"/>
            </a:pPr>
            <a:r>
              <a:rPr lang="en-US" sz="1800" b="1" dirty="0">
                <a:solidFill>
                  <a:srgbClr val="F2F0FF"/>
                </a:solidFill>
                <a:latin typeface="Segoe UI" pitchFamily="34" charset="0"/>
                <a:ea typeface="Segoe UI" pitchFamily="34" charset="-122"/>
                <a:cs typeface="Segoe UI" pitchFamily="34" charset="-120"/>
              </a:rPr>
              <a:t>Presets for popular adapters</a:t>
            </a:r>
            <a:pPr indent="0" marL="0">
              <a:buNone/>
            </a:pPr>
            <a:r>
              <a:rPr lang="en-US" sz="1800" dirty="0">
                <a:solidFill>
                  <a:srgbClr val="F2F0FF"/>
                </a:solidFill>
                <a:latin typeface="Segoe UI" pitchFamily="34" charset="0"/>
                <a:ea typeface="Segoe UI" pitchFamily="34" charset="-122"/>
                <a:cs typeface="Segoe UI" pitchFamily="34" charset="-120"/>
              </a:rPr>
              <a:t> — Neumann, ASG, OGMA and more. Not listed? Message me and I'll add yours</a:t>
            </a:r>
            <a:endParaRPr lang="en-US" sz="1800" dirty="0"/>
          </a:p>
          <a:p>
            <a:pPr marL="279400" indent="-279400">
              <a:spcAft>
                <a:spcPts val="1400"/>
              </a:spcAft>
              <a:buSzPct val="100000"/>
              <a:buChar char="●"/>
            </a:pPr>
            <a:r>
              <a:rPr lang="en-US" sz="1800" b="1" dirty="0">
                <a:solidFill>
                  <a:srgbClr val="F2F0FF"/>
                </a:solidFill>
                <a:latin typeface="Segoe UI" pitchFamily="34" charset="0"/>
                <a:ea typeface="Segoe UI" pitchFamily="34" charset="-122"/>
                <a:cs typeface="Segoe UI" pitchFamily="34" charset="-120"/>
              </a:rPr>
              <a:t>3 or 4 screws, by hand or motor</a:t>
            </a:r>
            <a:pPr indent="0" marL="0">
              <a:buNone/>
            </a:pPr>
            <a:r>
              <a:rPr lang="en-US" sz="1800" dirty="0">
                <a:solidFill>
                  <a:srgbClr val="F2F0FF"/>
                </a:solidFill>
                <a:latin typeface="Segoe UI" pitchFamily="34" charset="0"/>
                <a:ea typeface="Segoe UI" pitchFamily="34" charset="-122"/>
                <a:cs typeface="Segoe UI" pitchFamily="34" charset="-120"/>
              </a:rPr>
              <a:t> — manual adapters and the ASG EAT</a:t>
            </a:r>
            <a:endParaRPr lang="en-US" sz="1800" dirty="0"/>
          </a:p>
          <a:p>
            <a:pPr marL="279400" indent="-279400">
              <a:spcAft>
                <a:spcPts val="1400"/>
              </a:spcAft>
              <a:buSzPct val="100000"/>
              <a:buChar char="●"/>
            </a:pPr>
            <a:r>
              <a:rPr lang="en-US" sz="1800" b="1" dirty="0">
                <a:solidFill>
                  <a:srgbClr val="F2F0FF"/>
                </a:solidFill>
                <a:latin typeface="Segoe UI" pitchFamily="34" charset="0"/>
                <a:ea typeface="Segoe UI" pitchFamily="34" charset="-122"/>
                <a:cs typeface="Segoe UI" pitchFamily="34" charset="-120"/>
              </a:rPr>
              <a:t>Thread pitch and screw radius</a:t>
            </a:r>
            <a:pPr indent="0" marL="0">
              <a:buNone/>
            </a:pPr>
            <a:r>
              <a:rPr lang="en-US" sz="1800" dirty="0">
                <a:solidFill>
                  <a:srgbClr val="F2F0FF"/>
                </a:solidFill>
                <a:latin typeface="Segoe UI" pitchFamily="34" charset="0"/>
                <a:ea typeface="Segoe UI" pitchFamily="34" charset="-122"/>
                <a:cs typeface="Segoe UI" pitchFamily="34" charset="-120"/>
              </a:rPr>
              <a:t> — filled in by the preset, or typed from your adapter's spec</a:t>
            </a:r>
            <a:endParaRPr lang="en-US" sz="1800" dirty="0"/>
          </a:p>
          <a:p>
            <a:pPr marL="279400" indent="-279400">
              <a:spcAft>
                <a:spcPts val="1400"/>
              </a:spcAft>
              <a:buSzPct val="100000"/>
              <a:buChar char="●"/>
            </a:pPr>
            <a:r>
              <a:rPr lang="en-US" sz="1800" b="1" dirty="0">
                <a:solidFill>
                  <a:srgbClr val="F2F0FF"/>
                </a:solidFill>
                <a:latin typeface="Segoe UI" pitchFamily="34" charset="0"/>
                <a:ea typeface="Segoe UI" pitchFamily="34" charset="-122"/>
                <a:cs typeface="Segoe UI" pitchFamily="34" charset="-120"/>
              </a:rPr>
              <a:t>Name the screws</a:t>
            </a:r>
            <a:pPr indent="0" marL="0">
              <a:buNone/>
            </a:pPr>
            <a:r>
              <a:rPr lang="en-US" sz="1800" dirty="0">
                <a:solidFill>
                  <a:srgbClr val="F2F0FF"/>
                </a:solidFill>
                <a:latin typeface="Segoe UI" pitchFamily="34" charset="0"/>
                <a:ea typeface="Segoe UI" pitchFamily="34" charset="-122"/>
                <a:cs typeface="Segoe UI" pitchFamily="34" charset="-120"/>
              </a:rPr>
              <a:t> whatever you call them, and those names are used everywhere afterwards</a:t>
            </a:r>
            <a:endParaRPr lang="en-US" sz="18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Turn a screw, watch the tilt plane move</a:t>
            </a:r>
            <a:endParaRPr lang="en-US" sz="3200" dirty="0"/>
          </a:p>
        </p:txBody>
      </p:sp>
      <p:sp>
        <p:nvSpPr>
          <p:cNvPr id="4" name="Shape 2"/>
          <p:cNvSpPr/>
          <p:nvPr/>
        </p:nvSpPr>
        <p:spPr>
          <a:xfrm>
            <a:off x="640080" y="6108192"/>
            <a:ext cx="5299862"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751222"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ghilios.github.io/hocus-focus/overview/tilt-adapter-wizard</a:t>
            </a:r>
            <a:endParaRPr lang="en-US" sz="1300" dirty="0"/>
          </a:p>
        </p:txBody>
      </p:sp>
      <p:sp>
        <p:nvSpPr>
          <p:cNvPr id="8" name="Shape 4"/>
          <p:cNvSpPr/>
          <p:nvPr/>
        </p:nvSpPr>
        <p:spPr>
          <a:xfrm>
            <a:off x="640080" y="1691640"/>
            <a:ext cx="10911535" cy="1554480"/>
          </a:xfrm>
          <a:prstGeom prst="roundRect">
            <a:avLst>
              <a:gd name="adj" fmla="val 8235"/>
            </a:avLst>
          </a:prstGeom>
          <a:solidFill>
            <a:srgbClr val="151B3A">
              <a:alpha val="92000"/>
            </a:srgbClr>
          </a:solidFill>
          <a:ln w="9525">
            <a:solidFill>
              <a:srgbClr val="3A4380"/>
            </a:solidFill>
            <a:prstDash val="solid"/>
          </a:ln>
        </p:spPr>
      </p:sp>
      <p:sp>
        <p:nvSpPr>
          <p:cNvPr id="9" name="Shape 5"/>
          <p:cNvSpPr/>
          <p:nvPr/>
        </p:nvSpPr>
        <p:spPr>
          <a:xfrm>
            <a:off x="1419475" y="2112264"/>
            <a:ext cx="6235163" cy="0"/>
          </a:xfrm>
          <a:prstGeom prst="line">
            <a:avLst/>
          </a:prstGeom>
          <a:noFill/>
          <a:ln w="31750">
            <a:solidFill>
              <a:srgbClr val="8B5CF6"/>
            </a:solidFill>
            <a:prstDash val="solid"/>
          </a:ln>
        </p:spPr>
      </p:sp>
      <p:sp>
        <p:nvSpPr>
          <p:cNvPr id="10" name="Shape 6"/>
          <p:cNvSpPr/>
          <p:nvPr/>
        </p:nvSpPr>
        <p:spPr>
          <a:xfrm>
            <a:off x="7654638" y="2112264"/>
            <a:ext cx="3117581" cy="0"/>
          </a:xfrm>
          <a:prstGeom prst="line">
            <a:avLst/>
          </a:prstGeom>
          <a:noFill/>
          <a:ln w="25400">
            <a:solidFill>
              <a:srgbClr val="8088B8"/>
            </a:solidFill>
            <a:prstDash val="dash"/>
          </a:ln>
        </p:spPr>
      </p:sp>
      <p:sp>
        <p:nvSpPr>
          <p:cNvPr id="11" name="Shape 7"/>
          <p:cNvSpPr/>
          <p:nvPr/>
        </p:nvSpPr>
        <p:spPr>
          <a:xfrm>
            <a:off x="1117723" y="1810512"/>
            <a:ext cx="603504" cy="603504"/>
          </a:xfrm>
          <a:prstGeom prst="ellipse">
            <a:avLst/>
          </a:prstGeom>
          <a:solidFill>
            <a:srgbClr val="8B5CF6"/>
          </a:solidFill>
          <a:ln/>
        </p:spPr>
      </p:sp>
      <p:sp>
        <p:nvSpPr>
          <p:cNvPr id="12" name="Text 8"/>
          <p:cNvSpPr txBox="1"/>
          <p:nvPr/>
        </p:nvSpPr>
        <p:spPr>
          <a:xfrm>
            <a:off x="1117723" y="1810512"/>
            <a:ext cx="603504" cy="603504"/>
          </a:xfrm>
          <a:prstGeom prst="rect">
            <a:avLst/>
          </a:prstGeom>
          <a:noFill/>
          <a:ln/>
        </p:spPr>
        <p:txBody>
          <a:bodyPr wrap="square" lIns="0" tIns="0" rIns="0" bIns="0" rtlCol="0" anchor="ctr"/>
          <a:lstStyle/>
          <a:p>
            <a:pPr algn="ctr" indent="0" marL="0">
              <a:buNone/>
            </a:pPr>
            <a:r>
              <a:rPr lang="en-US" sz="1716" b="1" dirty="0">
                <a:solidFill>
                  <a:srgbClr val="FFFFFF"/>
                </a:solidFill>
                <a:latin typeface="Segoe UI Semibold" pitchFamily="34" charset="0"/>
                <a:ea typeface="Segoe UI Semibold" pitchFamily="34" charset="-122"/>
                <a:cs typeface="Segoe UI Semibold" pitchFamily="34" charset="-120"/>
              </a:rPr>
              <a:t>1</a:t>
            </a:r>
            <a:endParaRPr lang="en-US" sz="1716" dirty="0"/>
          </a:p>
        </p:txBody>
      </p:sp>
      <p:sp>
        <p:nvSpPr>
          <p:cNvPr id="13" name="Text 9"/>
          <p:cNvSpPr txBox="1"/>
          <p:nvPr/>
        </p:nvSpPr>
        <p:spPr>
          <a:xfrm>
            <a:off x="685800" y="2487168"/>
            <a:ext cx="1467351" cy="365760"/>
          </a:xfrm>
          <a:prstGeom prst="rect">
            <a:avLst/>
          </a:prstGeom>
          <a:noFill/>
          <a:ln/>
        </p:spPr>
        <p:txBody>
          <a:bodyPr wrap="square" lIns="0" tIns="0" rIns="0" bIns="0" rtlCol="0" anchor="ctr"/>
          <a:lstStyle/>
          <a:p>
            <a:pPr algn="ctr" indent="0" marL="0">
              <a:buNone/>
            </a:pPr>
            <a:r>
              <a:rPr lang="en-US" sz="1500" dirty="0">
                <a:solidFill>
                  <a:srgbClr val="F2F0FF"/>
                </a:solidFill>
                <a:latin typeface="Segoe UI" pitchFamily="34" charset="0"/>
                <a:ea typeface="Segoe UI" pitchFamily="34" charset="-122"/>
                <a:cs typeface="Segoe UI" pitchFamily="34" charset="-120"/>
              </a:rPr>
              <a:t>Baseline</a:t>
            </a:r>
            <a:endParaRPr lang="en-US" sz="1500" dirty="0"/>
          </a:p>
        </p:txBody>
      </p:sp>
      <p:sp>
        <p:nvSpPr>
          <p:cNvPr id="14" name="Shape 10"/>
          <p:cNvSpPr/>
          <p:nvPr/>
        </p:nvSpPr>
        <p:spPr>
          <a:xfrm>
            <a:off x="2676514" y="1810512"/>
            <a:ext cx="603504" cy="603504"/>
          </a:xfrm>
          <a:prstGeom prst="ellipse">
            <a:avLst/>
          </a:prstGeom>
          <a:solidFill>
            <a:srgbClr val="FF4D9D"/>
          </a:solidFill>
          <a:ln/>
        </p:spPr>
      </p:sp>
      <p:sp>
        <p:nvSpPr>
          <p:cNvPr id="15" name="Text 11"/>
          <p:cNvSpPr txBox="1"/>
          <p:nvPr/>
        </p:nvSpPr>
        <p:spPr>
          <a:xfrm>
            <a:off x="2676514" y="1810512"/>
            <a:ext cx="603504" cy="603504"/>
          </a:xfrm>
          <a:prstGeom prst="rect">
            <a:avLst/>
          </a:prstGeom>
          <a:noFill/>
          <a:ln/>
        </p:spPr>
        <p:txBody>
          <a:bodyPr wrap="square" lIns="0" tIns="0" rIns="0" bIns="0" rtlCol="0" anchor="ctr"/>
          <a:lstStyle/>
          <a:p>
            <a:pPr algn="ctr" indent="0" marL="0">
              <a:buNone/>
            </a:pPr>
            <a:r>
              <a:rPr lang="en-US" sz="1716" b="1" dirty="0">
                <a:solidFill>
                  <a:srgbClr val="FFFFFF"/>
                </a:solidFill>
                <a:latin typeface="Segoe UI Semibold" pitchFamily="34" charset="0"/>
                <a:ea typeface="Segoe UI Semibold" pitchFamily="34" charset="-122"/>
                <a:cs typeface="Segoe UI Semibold" pitchFamily="34" charset="-120"/>
              </a:rPr>
              <a:t>2</a:t>
            </a:r>
            <a:endParaRPr lang="en-US" sz="1716" dirty="0"/>
          </a:p>
        </p:txBody>
      </p:sp>
      <p:sp>
        <p:nvSpPr>
          <p:cNvPr id="16" name="Text 12"/>
          <p:cNvSpPr txBox="1"/>
          <p:nvPr/>
        </p:nvSpPr>
        <p:spPr>
          <a:xfrm>
            <a:off x="2244591" y="2487168"/>
            <a:ext cx="1467351" cy="365760"/>
          </a:xfrm>
          <a:prstGeom prst="rect">
            <a:avLst/>
          </a:prstGeom>
          <a:noFill/>
          <a:ln/>
        </p:spPr>
        <p:txBody>
          <a:bodyPr wrap="square" lIns="0" tIns="0" rIns="0" bIns="0" rtlCol="0" anchor="ctr"/>
          <a:lstStyle/>
          <a:p>
            <a:pPr algn="ctr" indent="0" marL="0">
              <a:buNone/>
            </a:pPr>
            <a:r>
              <a:rPr lang="en-US" sz="1500" b="1" dirty="0">
                <a:solidFill>
                  <a:srgbClr val="F2F0FF"/>
                </a:solidFill>
                <a:latin typeface="Segoe UI" pitchFamily="34" charset="0"/>
                <a:ea typeface="Segoe UI" pitchFamily="34" charset="-122"/>
                <a:cs typeface="Segoe UI" pitchFamily="34" charset="-120"/>
              </a:rPr>
              <a:t>Turn screw 1</a:t>
            </a:r>
            <a:endParaRPr lang="en-US" sz="1500" dirty="0"/>
          </a:p>
        </p:txBody>
      </p:sp>
      <p:sp>
        <p:nvSpPr>
          <p:cNvPr id="17" name="Shape 13"/>
          <p:cNvSpPr/>
          <p:nvPr/>
        </p:nvSpPr>
        <p:spPr>
          <a:xfrm>
            <a:off x="4235305" y="1810512"/>
            <a:ext cx="603504" cy="603504"/>
          </a:xfrm>
          <a:prstGeom prst="ellipse">
            <a:avLst/>
          </a:prstGeom>
          <a:solidFill>
            <a:srgbClr val="8B5CF6"/>
          </a:solidFill>
          <a:ln/>
        </p:spPr>
      </p:sp>
      <p:sp>
        <p:nvSpPr>
          <p:cNvPr id="18" name="Text 14"/>
          <p:cNvSpPr txBox="1"/>
          <p:nvPr/>
        </p:nvSpPr>
        <p:spPr>
          <a:xfrm>
            <a:off x="4235305" y="1810512"/>
            <a:ext cx="603504" cy="603504"/>
          </a:xfrm>
          <a:prstGeom prst="rect">
            <a:avLst/>
          </a:prstGeom>
          <a:noFill/>
          <a:ln/>
        </p:spPr>
        <p:txBody>
          <a:bodyPr wrap="square" lIns="0" tIns="0" rIns="0" bIns="0" rtlCol="0" anchor="ctr"/>
          <a:lstStyle/>
          <a:p>
            <a:pPr algn="ctr" indent="0" marL="0">
              <a:buNone/>
            </a:pPr>
            <a:r>
              <a:rPr lang="en-US" sz="1716" b="1" dirty="0">
                <a:solidFill>
                  <a:srgbClr val="FFFFFF"/>
                </a:solidFill>
                <a:latin typeface="Segoe UI Semibold" pitchFamily="34" charset="0"/>
                <a:ea typeface="Segoe UI Semibold" pitchFamily="34" charset="-122"/>
                <a:cs typeface="Segoe UI Semibold" pitchFamily="34" charset="-120"/>
              </a:rPr>
              <a:t>3</a:t>
            </a:r>
            <a:endParaRPr lang="en-US" sz="1716" dirty="0"/>
          </a:p>
        </p:txBody>
      </p:sp>
      <p:sp>
        <p:nvSpPr>
          <p:cNvPr id="19" name="Text 15"/>
          <p:cNvSpPr txBox="1"/>
          <p:nvPr/>
        </p:nvSpPr>
        <p:spPr>
          <a:xfrm>
            <a:off x="3803381" y="2487168"/>
            <a:ext cx="1467351" cy="365760"/>
          </a:xfrm>
          <a:prstGeom prst="rect">
            <a:avLst/>
          </a:prstGeom>
          <a:noFill/>
          <a:ln/>
        </p:spPr>
        <p:txBody>
          <a:bodyPr wrap="square" lIns="0" tIns="0" rIns="0" bIns="0" rtlCol="0" anchor="ctr"/>
          <a:lstStyle/>
          <a:p>
            <a:pPr algn="ctr" indent="0" marL="0">
              <a:buNone/>
            </a:pPr>
            <a:r>
              <a:rPr lang="en-US" sz="1500" dirty="0">
                <a:solidFill>
                  <a:srgbClr val="F2F0FF"/>
                </a:solidFill>
                <a:latin typeface="Segoe UI" pitchFamily="34" charset="0"/>
                <a:ea typeface="Segoe UI" pitchFamily="34" charset="-122"/>
                <a:cs typeface="Segoe UI" pitchFamily="34" charset="-120"/>
              </a:rPr>
              <a:t>Re-measure</a:t>
            </a:r>
            <a:endParaRPr lang="en-US" sz="1500" dirty="0"/>
          </a:p>
        </p:txBody>
      </p:sp>
      <p:sp>
        <p:nvSpPr>
          <p:cNvPr id="20" name="Shape 16"/>
          <p:cNvSpPr/>
          <p:nvPr/>
        </p:nvSpPr>
        <p:spPr>
          <a:xfrm>
            <a:off x="5794096" y="1810512"/>
            <a:ext cx="603504" cy="603504"/>
          </a:xfrm>
          <a:prstGeom prst="ellipse">
            <a:avLst/>
          </a:prstGeom>
          <a:solidFill>
            <a:srgbClr val="FF4D9D"/>
          </a:solidFill>
          <a:ln/>
        </p:spPr>
      </p:sp>
      <p:sp>
        <p:nvSpPr>
          <p:cNvPr id="21" name="Text 17"/>
          <p:cNvSpPr txBox="1"/>
          <p:nvPr/>
        </p:nvSpPr>
        <p:spPr>
          <a:xfrm>
            <a:off x="5794096" y="1810512"/>
            <a:ext cx="603504" cy="603504"/>
          </a:xfrm>
          <a:prstGeom prst="rect">
            <a:avLst/>
          </a:prstGeom>
          <a:noFill/>
          <a:ln/>
        </p:spPr>
        <p:txBody>
          <a:bodyPr wrap="square" lIns="0" tIns="0" rIns="0" bIns="0" rtlCol="0" anchor="ctr"/>
          <a:lstStyle/>
          <a:p>
            <a:pPr algn="ctr" indent="0" marL="0">
              <a:buNone/>
            </a:pPr>
            <a:r>
              <a:rPr lang="en-US" sz="1716" b="1" dirty="0">
                <a:solidFill>
                  <a:srgbClr val="FFFFFF"/>
                </a:solidFill>
                <a:latin typeface="Segoe UI Semibold" pitchFamily="34" charset="0"/>
                <a:ea typeface="Segoe UI Semibold" pitchFamily="34" charset="-122"/>
                <a:cs typeface="Segoe UI Semibold" pitchFamily="34" charset="-120"/>
              </a:rPr>
              <a:t>4</a:t>
            </a:r>
            <a:endParaRPr lang="en-US" sz="1716" dirty="0"/>
          </a:p>
        </p:txBody>
      </p:sp>
      <p:sp>
        <p:nvSpPr>
          <p:cNvPr id="22" name="Text 18"/>
          <p:cNvSpPr txBox="1"/>
          <p:nvPr/>
        </p:nvSpPr>
        <p:spPr>
          <a:xfrm>
            <a:off x="5362172" y="2487168"/>
            <a:ext cx="1467351" cy="365760"/>
          </a:xfrm>
          <a:prstGeom prst="rect">
            <a:avLst/>
          </a:prstGeom>
          <a:noFill/>
          <a:ln/>
        </p:spPr>
        <p:txBody>
          <a:bodyPr wrap="square" lIns="0" tIns="0" rIns="0" bIns="0" rtlCol="0" anchor="ctr"/>
          <a:lstStyle/>
          <a:p>
            <a:pPr algn="ctr" indent="0" marL="0">
              <a:buNone/>
            </a:pPr>
            <a:r>
              <a:rPr lang="en-US" sz="1500" b="1" dirty="0">
                <a:solidFill>
                  <a:srgbClr val="F2F0FF"/>
                </a:solidFill>
                <a:latin typeface="Segoe UI" pitchFamily="34" charset="0"/>
                <a:ea typeface="Segoe UI" pitchFamily="34" charset="-122"/>
                <a:cs typeface="Segoe UI" pitchFamily="34" charset="-120"/>
              </a:rPr>
              <a:t>Turn screw 2</a:t>
            </a:r>
            <a:endParaRPr lang="en-US" sz="1500" dirty="0"/>
          </a:p>
        </p:txBody>
      </p:sp>
      <p:sp>
        <p:nvSpPr>
          <p:cNvPr id="23" name="Shape 19"/>
          <p:cNvSpPr/>
          <p:nvPr/>
        </p:nvSpPr>
        <p:spPr>
          <a:xfrm>
            <a:off x="7352886" y="1810512"/>
            <a:ext cx="603504" cy="603504"/>
          </a:xfrm>
          <a:prstGeom prst="ellipse">
            <a:avLst/>
          </a:prstGeom>
          <a:solidFill>
            <a:srgbClr val="8B5CF6"/>
          </a:solidFill>
          <a:ln/>
        </p:spPr>
      </p:sp>
      <p:sp>
        <p:nvSpPr>
          <p:cNvPr id="24" name="Text 20"/>
          <p:cNvSpPr txBox="1"/>
          <p:nvPr/>
        </p:nvSpPr>
        <p:spPr>
          <a:xfrm>
            <a:off x="7352886" y="1810512"/>
            <a:ext cx="603504" cy="603504"/>
          </a:xfrm>
          <a:prstGeom prst="rect">
            <a:avLst/>
          </a:prstGeom>
          <a:noFill/>
          <a:ln/>
        </p:spPr>
        <p:txBody>
          <a:bodyPr wrap="square" lIns="0" tIns="0" rIns="0" bIns="0" rtlCol="0" anchor="ctr"/>
          <a:lstStyle/>
          <a:p>
            <a:pPr algn="ctr" indent="0" marL="0">
              <a:buNone/>
            </a:pPr>
            <a:r>
              <a:rPr lang="en-US" sz="1716" b="1" dirty="0">
                <a:solidFill>
                  <a:srgbClr val="FFFFFF"/>
                </a:solidFill>
                <a:latin typeface="Segoe UI Semibold" pitchFamily="34" charset="0"/>
                <a:ea typeface="Segoe UI Semibold" pitchFamily="34" charset="-122"/>
                <a:cs typeface="Segoe UI Semibold" pitchFamily="34" charset="-120"/>
              </a:rPr>
              <a:t>5</a:t>
            </a:r>
            <a:endParaRPr lang="en-US" sz="1716" dirty="0"/>
          </a:p>
        </p:txBody>
      </p:sp>
      <p:sp>
        <p:nvSpPr>
          <p:cNvPr id="25" name="Text 21"/>
          <p:cNvSpPr txBox="1"/>
          <p:nvPr/>
        </p:nvSpPr>
        <p:spPr>
          <a:xfrm>
            <a:off x="6920963" y="2487168"/>
            <a:ext cx="1467351" cy="365760"/>
          </a:xfrm>
          <a:prstGeom prst="rect">
            <a:avLst/>
          </a:prstGeom>
          <a:noFill/>
          <a:ln/>
        </p:spPr>
        <p:txBody>
          <a:bodyPr wrap="square" lIns="0" tIns="0" rIns="0" bIns="0" rtlCol="0" anchor="ctr"/>
          <a:lstStyle/>
          <a:p>
            <a:pPr algn="ctr" indent="0" marL="0">
              <a:buNone/>
            </a:pPr>
            <a:r>
              <a:rPr lang="en-US" sz="1500" dirty="0">
                <a:solidFill>
                  <a:srgbClr val="F2F0FF"/>
                </a:solidFill>
                <a:latin typeface="Segoe UI" pitchFamily="34" charset="0"/>
                <a:ea typeface="Segoe UI" pitchFamily="34" charset="-122"/>
                <a:cs typeface="Segoe UI" pitchFamily="34" charset="-120"/>
              </a:rPr>
              <a:t>Re-measure</a:t>
            </a:r>
            <a:endParaRPr lang="en-US" sz="1500" dirty="0"/>
          </a:p>
        </p:txBody>
      </p:sp>
      <p:sp>
        <p:nvSpPr>
          <p:cNvPr id="26" name="Shape 22"/>
          <p:cNvSpPr/>
          <p:nvPr/>
        </p:nvSpPr>
        <p:spPr>
          <a:xfrm>
            <a:off x="8911677" y="1810512"/>
            <a:ext cx="603504" cy="603504"/>
          </a:xfrm>
          <a:prstGeom prst="ellipse">
            <a:avLst/>
          </a:prstGeom>
          <a:solidFill>
            <a:srgbClr val="151B3A"/>
          </a:solidFill>
          <a:ln w="25400">
            <a:solidFill>
              <a:srgbClr val="FF4D9D"/>
            </a:solidFill>
            <a:prstDash val="dash"/>
          </a:ln>
        </p:spPr>
      </p:sp>
      <p:sp>
        <p:nvSpPr>
          <p:cNvPr id="27" name="Text 23"/>
          <p:cNvSpPr txBox="1"/>
          <p:nvPr/>
        </p:nvSpPr>
        <p:spPr>
          <a:xfrm>
            <a:off x="8911677" y="1810512"/>
            <a:ext cx="603504" cy="603504"/>
          </a:xfrm>
          <a:prstGeom prst="rect">
            <a:avLst/>
          </a:prstGeom>
          <a:noFill/>
          <a:ln/>
        </p:spPr>
        <p:txBody>
          <a:bodyPr wrap="square" lIns="0" tIns="0" rIns="0" bIns="0" rtlCol="0" anchor="ctr"/>
          <a:lstStyle/>
          <a:p>
            <a:pPr algn="ctr" indent="0" marL="0">
              <a:buNone/>
            </a:pPr>
            <a:r>
              <a:rPr lang="en-US" sz="1800" dirty="0">
                <a:solidFill>
                  <a:srgbClr val="B4BBE0"/>
                </a:solidFill>
                <a:latin typeface="Segoe UI Semibold" pitchFamily="34" charset="0"/>
                <a:ea typeface="Segoe UI Semibold" pitchFamily="34" charset="-122"/>
                <a:cs typeface="Segoe UI Semibold" pitchFamily="34" charset="-120"/>
              </a:rPr>
              <a:t>6</a:t>
            </a:r>
            <a:endParaRPr lang="en-US" sz="1800" dirty="0"/>
          </a:p>
        </p:txBody>
      </p:sp>
      <p:sp>
        <p:nvSpPr>
          <p:cNvPr id="28" name="Text 24"/>
          <p:cNvSpPr txBox="1"/>
          <p:nvPr/>
        </p:nvSpPr>
        <p:spPr>
          <a:xfrm>
            <a:off x="8479754" y="2487168"/>
            <a:ext cx="1467351" cy="365760"/>
          </a:xfrm>
          <a:prstGeom prst="rect">
            <a:avLst/>
          </a:prstGeom>
          <a:noFill/>
          <a:ln/>
        </p:spPr>
        <p:txBody>
          <a:bodyPr wrap="square" lIns="0" tIns="0" rIns="0" bIns="0" rtlCol="0" anchor="ctr"/>
          <a:lstStyle/>
          <a:p>
            <a:pPr algn="ctr" indent="0" marL="0">
              <a:buNone/>
            </a:pPr>
            <a:r>
              <a:rPr lang="en-US" sz="1500" dirty="0">
                <a:solidFill>
                  <a:srgbClr val="B4BBE0"/>
                </a:solidFill>
                <a:latin typeface="Segoe UI" pitchFamily="34" charset="0"/>
                <a:ea typeface="Segoe UI" pitchFamily="34" charset="-122"/>
                <a:cs typeface="Segoe UI" pitchFamily="34" charset="-120"/>
              </a:rPr>
              <a:t>All clockwise</a:t>
            </a:r>
            <a:endParaRPr lang="en-US" sz="1500" dirty="0"/>
          </a:p>
        </p:txBody>
      </p:sp>
      <p:sp>
        <p:nvSpPr>
          <p:cNvPr id="29" name="Shape 25"/>
          <p:cNvSpPr/>
          <p:nvPr/>
        </p:nvSpPr>
        <p:spPr>
          <a:xfrm>
            <a:off x="10470468" y="1810512"/>
            <a:ext cx="603504" cy="603504"/>
          </a:xfrm>
          <a:prstGeom prst="ellipse">
            <a:avLst/>
          </a:prstGeom>
          <a:solidFill>
            <a:srgbClr val="151B3A"/>
          </a:solidFill>
          <a:ln w="25400">
            <a:solidFill>
              <a:srgbClr val="FF4D9D"/>
            </a:solidFill>
            <a:prstDash val="dash"/>
          </a:ln>
        </p:spPr>
      </p:sp>
      <p:sp>
        <p:nvSpPr>
          <p:cNvPr id="30" name="Text 26"/>
          <p:cNvSpPr txBox="1"/>
          <p:nvPr/>
        </p:nvSpPr>
        <p:spPr>
          <a:xfrm>
            <a:off x="10470468" y="1810512"/>
            <a:ext cx="603504" cy="603504"/>
          </a:xfrm>
          <a:prstGeom prst="rect">
            <a:avLst/>
          </a:prstGeom>
          <a:noFill/>
          <a:ln/>
        </p:spPr>
        <p:txBody>
          <a:bodyPr wrap="square" lIns="0" tIns="0" rIns="0" bIns="0" rtlCol="0" anchor="ctr"/>
          <a:lstStyle/>
          <a:p>
            <a:pPr algn="ctr" indent="0" marL="0">
              <a:buNone/>
            </a:pPr>
            <a:r>
              <a:rPr lang="en-US" sz="1800" dirty="0">
                <a:solidFill>
                  <a:srgbClr val="B4BBE0"/>
                </a:solidFill>
                <a:latin typeface="Segoe UI Semibold" pitchFamily="34" charset="0"/>
                <a:ea typeface="Segoe UI Semibold" pitchFamily="34" charset="-122"/>
                <a:cs typeface="Segoe UI Semibold" pitchFamily="34" charset="-120"/>
              </a:rPr>
              <a:t>7</a:t>
            </a:r>
            <a:endParaRPr lang="en-US" sz="1800" dirty="0"/>
          </a:p>
        </p:txBody>
      </p:sp>
      <p:sp>
        <p:nvSpPr>
          <p:cNvPr id="31" name="Text 27"/>
          <p:cNvSpPr txBox="1"/>
          <p:nvPr/>
        </p:nvSpPr>
        <p:spPr>
          <a:xfrm>
            <a:off x="10038544" y="2487168"/>
            <a:ext cx="1467351" cy="365760"/>
          </a:xfrm>
          <a:prstGeom prst="rect">
            <a:avLst/>
          </a:prstGeom>
          <a:noFill/>
          <a:ln/>
        </p:spPr>
        <p:txBody>
          <a:bodyPr wrap="square" lIns="0" tIns="0" rIns="0" bIns="0" rtlCol="0" anchor="ctr"/>
          <a:lstStyle/>
          <a:p>
            <a:pPr algn="ctr" indent="0" marL="0">
              <a:buNone/>
            </a:pPr>
            <a:r>
              <a:rPr lang="en-US" sz="1500" dirty="0">
                <a:solidFill>
                  <a:srgbClr val="B4BBE0"/>
                </a:solidFill>
                <a:latin typeface="Segoe UI" pitchFamily="34" charset="0"/>
                <a:ea typeface="Segoe UI" pitchFamily="34" charset="-122"/>
                <a:cs typeface="Segoe UI" pitchFamily="34" charset="-120"/>
              </a:rPr>
              <a:t>Return</a:t>
            </a:r>
            <a:endParaRPr lang="en-US" sz="1500" dirty="0"/>
          </a:p>
        </p:txBody>
      </p:sp>
      <p:sp>
        <p:nvSpPr>
          <p:cNvPr id="32" name="Shape 28"/>
          <p:cNvSpPr/>
          <p:nvPr/>
        </p:nvSpPr>
        <p:spPr>
          <a:xfrm>
            <a:off x="914400" y="2926080"/>
            <a:ext cx="182880" cy="182880"/>
          </a:xfrm>
          <a:prstGeom prst="ellipse">
            <a:avLst/>
          </a:prstGeom>
          <a:solidFill>
            <a:srgbClr val="FF4D9D"/>
          </a:solidFill>
          <a:ln/>
        </p:spPr>
      </p:sp>
      <p:sp>
        <p:nvSpPr>
          <p:cNvPr id="33" name="Text 29"/>
          <p:cNvSpPr txBox="1"/>
          <p:nvPr/>
        </p:nvSpPr>
        <p:spPr>
          <a:xfrm>
            <a:off x="1170432" y="2852928"/>
            <a:ext cx="1005840" cy="329184"/>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you turn</a:t>
            </a:r>
            <a:endParaRPr lang="en-US" sz="1400" dirty="0"/>
          </a:p>
        </p:txBody>
      </p:sp>
      <p:sp>
        <p:nvSpPr>
          <p:cNvPr id="34" name="Shape 30"/>
          <p:cNvSpPr/>
          <p:nvPr/>
        </p:nvSpPr>
        <p:spPr>
          <a:xfrm>
            <a:off x="2240280" y="2926080"/>
            <a:ext cx="182880" cy="182880"/>
          </a:xfrm>
          <a:prstGeom prst="ellipse">
            <a:avLst/>
          </a:prstGeom>
          <a:solidFill>
            <a:srgbClr val="8B5CF6"/>
          </a:solidFill>
          <a:ln/>
        </p:spPr>
      </p:sp>
      <p:sp>
        <p:nvSpPr>
          <p:cNvPr id="35" name="Text 31"/>
          <p:cNvSpPr txBox="1"/>
          <p:nvPr/>
        </p:nvSpPr>
        <p:spPr>
          <a:xfrm>
            <a:off x="2496312" y="2852928"/>
            <a:ext cx="2194560" cy="329184"/>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the wizard measures</a:t>
            </a:r>
            <a:endParaRPr lang="en-US" sz="1400" dirty="0"/>
          </a:p>
        </p:txBody>
      </p:sp>
      <p:sp>
        <p:nvSpPr>
          <p:cNvPr id="36" name="Text 32"/>
          <p:cNvSpPr txBox="1"/>
          <p:nvPr/>
        </p:nvSpPr>
        <p:spPr>
          <a:xfrm>
            <a:off x="7810517" y="2852928"/>
            <a:ext cx="3558218" cy="329184"/>
          </a:xfrm>
          <a:prstGeom prst="rect">
            <a:avLst/>
          </a:prstGeom>
          <a:noFill/>
          <a:ln/>
        </p:spPr>
        <p:txBody>
          <a:bodyPr wrap="square" lIns="0" tIns="0" rIns="0" bIns="0" rtlCol="0" anchor="ctr"/>
          <a:lstStyle/>
          <a:p>
            <a:pPr algn="ctr" indent="0" marL="0">
              <a:buNone/>
            </a:pPr>
            <a:r>
              <a:rPr lang="en-US" sz="1400" dirty="0">
                <a:solidFill>
                  <a:srgbClr val="B4BBE0"/>
                </a:solidFill>
                <a:latin typeface="Segoe UI" pitchFamily="34" charset="0"/>
                <a:ea typeface="Segoe UI" pitchFamily="34" charset="-122"/>
                <a:cs typeface="Segoe UI" pitchFamily="34" charset="-120"/>
              </a:rPr>
              <a:t>optional: finds which way the adapter moves</a:t>
            </a:r>
            <a:endParaRPr lang="en-US" sz="1400" dirty="0"/>
          </a:p>
        </p:txBody>
      </p:sp>
      <p:sp>
        <p:nvSpPr>
          <p:cNvPr id="37" name="Shape 33"/>
          <p:cNvSpPr/>
          <p:nvPr/>
        </p:nvSpPr>
        <p:spPr>
          <a:xfrm>
            <a:off x="640080" y="3474720"/>
            <a:ext cx="5029200" cy="2377440"/>
          </a:xfrm>
          <a:prstGeom prst="roundRect">
            <a:avLst>
              <a:gd name="adj" fmla="val 4615"/>
            </a:avLst>
          </a:prstGeom>
          <a:solidFill>
            <a:srgbClr val="151B3A">
              <a:alpha val="75000"/>
            </a:srgbClr>
          </a:solidFill>
          <a:ln w="19050">
            <a:solidFill>
              <a:srgbClr val="FF4D9D"/>
            </a:solidFill>
            <a:prstDash val="dash"/>
          </a:ln>
        </p:spPr>
      </p:sp>
      <p:sp>
        <p:nvSpPr>
          <p:cNvPr id="38" name="Text 34"/>
          <p:cNvSpPr txBox="1"/>
          <p:nvPr/>
        </p:nvSpPr>
        <p:spPr>
          <a:xfrm>
            <a:off x="822960" y="3474720"/>
            <a:ext cx="4663440" cy="2377440"/>
          </a:xfrm>
          <a:prstGeom prst="rect">
            <a:avLst/>
          </a:prstGeom>
          <a:noFill/>
          <a:ln/>
        </p:spPr>
        <p:txBody>
          <a:bodyPr wrap="square" rtlCol="0" anchor="ctr"/>
          <a:lstStyle/>
          <a:p>
            <a:pPr algn="ctr" indent="0" marL="0">
              <a:spcAft>
                <a:spcPts val="800"/>
              </a:spcAft>
              <a:buNone/>
            </a:pPr>
            <a:r>
              <a:rPr lang="en-US" sz="1100" b="1" spc="300" kern="0" dirty="0">
                <a:solidFill>
                  <a:srgbClr val="FF4D9D"/>
                </a:solidFill>
                <a:latin typeface="Segoe UI" pitchFamily="34" charset="0"/>
                <a:ea typeface="Segoe UI" pitchFamily="34" charset="-122"/>
                <a:cs typeface="Segoe UI" pitchFamily="34" charset="-120"/>
              </a:rPr>
              <a:t>SCREENSHOT NEEDED</a:t>
            </a:r>
            <a:endParaRPr lang="en-US" sz="1100" dirty="0"/>
          </a:p>
          <a:p>
            <a:pPr algn="ctr" indent="0" marL="0">
              <a:spcAft>
                <a:spcPts val="800"/>
              </a:spcAft>
              <a:buNone/>
            </a:pPr>
            <a:r>
              <a:rPr lang="en-US" sz="1500" dirty="0">
                <a:solidFill>
                  <a:srgbClr val="F2F0FF"/>
                </a:solidFill>
                <a:latin typeface="Consolas" pitchFamily="34" charset="0"/>
                <a:ea typeface="Consolas" pitchFamily="34" charset="-122"/>
                <a:cs typeface="Consolas" pitchFamily="34" charset="-120"/>
              </a:rPr>
              <a:t>screenshots/wizard-step.png</a:t>
            </a:r>
            <a:endParaRPr lang="en-US" sz="1100" dirty="0"/>
          </a:p>
          <a:p>
            <a:pPr algn="ctr" indent="0" marL="0">
              <a:spcAft>
                <a:spcPts val="800"/>
              </a:spcAft>
              <a:buNone/>
            </a:pPr>
            <a:r>
              <a:rPr lang="en-US" sz="1300" dirty="0">
                <a:solidFill>
                  <a:srgbClr val="B4BBE0"/>
                </a:solidFill>
                <a:latin typeface="Segoe UI" pitchFamily="34" charset="0"/>
                <a:ea typeface="Segoe UI" pitchFamily="34" charset="-122"/>
                <a:cs typeface="Segoe UI" pitchFamily="34" charset="-120"/>
              </a:rPr>
              <a:t>Tight crop: the step's instruction sentence + the screw diagram</a:t>
            </a:r>
            <a:endParaRPr lang="en-US" sz="1100" dirty="0"/>
          </a:p>
        </p:txBody>
      </p:sp>
      <p:sp>
        <p:nvSpPr>
          <p:cNvPr id="39" name="Text 35"/>
          <p:cNvSpPr txBox="1"/>
          <p:nvPr/>
        </p:nvSpPr>
        <p:spPr>
          <a:xfrm>
            <a:off x="6126480" y="3474720"/>
            <a:ext cx="5425135" cy="2377440"/>
          </a:xfrm>
          <a:prstGeom prst="rect">
            <a:avLst/>
          </a:prstGeom>
          <a:noFill/>
          <a:ln/>
        </p:spPr>
        <p:txBody>
          <a:bodyPr wrap="square" lIns="0" tIns="0" rIns="0" bIns="0" rtlCol="0" anchor="ctr"/>
          <a:lstStyle/>
          <a:p>
            <a:pPr marL="279400" indent="-279400">
              <a:spcAft>
                <a:spcPts val="1000"/>
              </a:spcAft>
              <a:buSzPct val="100000"/>
              <a:buChar char="●"/>
            </a:pPr>
            <a:r>
              <a:rPr lang="en-US" sz="1900" b="1" dirty="0">
                <a:solidFill>
                  <a:srgbClr val="F2F0FF"/>
                </a:solidFill>
                <a:latin typeface="Segoe UI" pitchFamily="34" charset="0"/>
                <a:ea typeface="Segoe UI" pitchFamily="34" charset="-122"/>
                <a:cs typeface="Segoe UI" pitchFamily="34" charset="-120"/>
              </a:rPr>
              <a:t>Every step is a full focus sweep</a:t>
            </a:r>
            <a:endParaRPr lang="en-US" sz="1900" dirty="0"/>
          </a:p>
          <a:p>
            <a:pPr marL="279400" indent="-279400">
              <a:spcAft>
                <a:spcPts val="1000"/>
              </a:spcAft>
              <a:buSzPct val="100000"/>
              <a:buChar char="●"/>
            </a:pPr>
            <a:r>
              <a:rPr lang="en-US" sz="1900" dirty="0">
                <a:solidFill>
                  <a:srgbClr val="F2F0FF"/>
                </a:solidFill>
                <a:latin typeface="Segoe UI" pitchFamily="34" charset="0"/>
                <a:ea typeface="Segoe UI" pitchFamily="34" charset="-122"/>
                <a:cs typeface="Segoe UI" pitchFamily="34" charset="-120"/>
              </a:rPr>
              <a:t>A known turn in, a measured tilt change out</a:t>
            </a:r>
            <a:endParaRPr lang="en-US" sz="1900" dirty="0"/>
          </a:p>
          <a:p>
            <a:pPr marL="279400" indent="-279400">
              <a:spcAft>
                <a:spcPts val="1000"/>
              </a:spcAft>
              <a:buSzPct val="100000"/>
              <a:buChar char="●"/>
            </a:pPr>
            <a:r>
              <a:rPr lang="en-US" sz="1900" dirty="0">
                <a:solidFill>
                  <a:srgbClr val="F2F0FF"/>
                </a:solidFill>
                <a:latin typeface="Segoe UI" pitchFamily="34" charset="0"/>
                <a:ea typeface="Segoe UI" pitchFamily="34" charset="-122"/>
                <a:cs typeface="Segoe UI" pitchFamily="34" charset="-120"/>
              </a:rPr>
              <a:t>Re-measuring cancels thermal drift</a:t>
            </a:r>
            <a:endParaRPr lang="en-US" sz="19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A measured map of your adapter</a:t>
            </a:r>
            <a:endParaRPr lang="en-US" sz="3200" dirty="0"/>
          </a:p>
        </p:txBody>
      </p:sp>
      <p:sp>
        <p:nvSpPr>
          <p:cNvPr id="4" name="Shape 2"/>
          <p:cNvSpPr/>
          <p:nvPr/>
        </p:nvSpPr>
        <p:spPr>
          <a:xfrm>
            <a:off x="640080" y="6108192"/>
            <a:ext cx="5299862"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751222"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ghilios.github.io/hocus-focus/overview/tilt-adapter-wizard</a:t>
            </a:r>
            <a:endParaRPr lang="en-US" sz="1300" dirty="0"/>
          </a:p>
        </p:txBody>
      </p:sp>
      <p:sp>
        <p:nvSpPr>
          <p:cNvPr id="8" name="Shape 4"/>
          <p:cNvSpPr/>
          <p:nvPr/>
        </p:nvSpPr>
        <p:spPr>
          <a:xfrm>
            <a:off x="640080" y="1691640"/>
            <a:ext cx="5394960" cy="4160520"/>
          </a:xfrm>
          <a:prstGeom prst="roundRect">
            <a:avLst>
              <a:gd name="adj" fmla="val 2198"/>
            </a:avLst>
          </a:prstGeom>
          <a:solidFill>
            <a:srgbClr val="FFFFFF"/>
          </a:solidFill>
          <a:ln/>
          <a:effectLst>
            <a:outerShdw sx="100000" sy="100000" kx="0" ky="0" algn="bl" rotWithShape="0" blurRad="177800" dist="50800" dir="5400000">
              <a:srgbClr val="000000">
                <a:alpha val="45000"/>
              </a:srgbClr>
            </a:outerShdw>
          </a:effectLst>
        </p:spPr>
      </p:sp>
      <p:pic>
        <p:nvPicPr>
          <p:cNvPr id="9" name="Image 1" descr="/home/ghilios/src/hocus-focus/presentations/hocus-focus-v4/assets/doc-wizard-result.png">    </p:cNvPr>
          <p:cNvPicPr>
            <a:picLocks noChangeAspect="1"/>
          </p:cNvPicPr>
          <p:nvPr/>
        </p:nvPicPr>
        <p:blipFill>
          <a:blip r:embed="rId4"/>
          <a:stretch>
            <a:fillRect/>
          </a:stretch>
        </p:blipFill>
        <p:spPr>
          <a:xfrm>
            <a:off x="749808" y="2794892"/>
            <a:ext cx="5175504" cy="1954017"/>
          </a:xfrm>
          <a:prstGeom prst="rect">
            <a:avLst/>
          </a:prstGeom>
        </p:spPr>
      </p:pic>
      <p:sp>
        <p:nvSpPr>
          <p:cNvPr id="10" name="Shape 5"/>
          <p:cNvSpPr/>
          <p:nvPr/>
        </p:nvSpPr>
        <p:spPr>
          <a:xfrm>
            <a:off x="3493008" y="5522976"/>
            <a:ext cx="2468880" cy="256032"/>
          </a:xfrm>
          <a:prstGeom prst="roundRect">
            <a:avLst>
              <a:gd name="adj" fmla="val 21429"/>
            </a:avLst>
          </a:prstGeom>
          <a:solidFill>
            <a:srgbClr val="FF4D9D"/>
          </a:solidFill>
          <a:ln/>
        </p:spPr>
      </p:sp>
      <p:sp>
        <p:nvSpPr>
          <p:cNvPr id="11" name="Text 6"/>
          <p:cNvSpPr txBox="1"/>
          <p:nvPr/>
        </p:nvSpPr>
        <p:spPr>
          <a:xfrm>
            <a:off x="3493008" y="5522976"/>
            <a:ext cx="24688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DRAFT IMAGE → wizard-result.png</a:t>
            </a:r>
            <a:endParaRPr lang="en-US" sz="900" dirty="0"/>
          </a:p>
        </p:txBody>
      </p:sp>
      <p:sp>
        <p:nvSpPr>
          <p:cNvPr id="12" name="Shape 7"/>
          <p:cNvSpPr/>
          <p:nvPr/>
        </p:nvSpPr>
        <p:spPr>
          <a:xfrm>
            <a:off x="6400800" y="1691640"/>
            <a:ext cx="5150815" cy="1417320"/>
          </a:xfrm>
          <a:prstGeom prst="roundRect">
            <a:avLst>
              <a:gd name="adj" fmla="val 9032"/>
            </a:avLst>
          </a:prstGeom>
          <a:solidFill>
            <a:srgbClr val="151B3A">
              <a:alpha val="92000"/>
            </a:srgbClr>
          </a:solidFill>
          <a:ln w="9525">
            <a:solidFill>
              <a:srgbClr val="3A4380"/>
            </a:solidFill>
            <a:prstDash val="solid"/>
          </a:ln>
        </p:spPr>
      </p:sp>
      <p:sp>
        <p:nvSpPr>
          <p:cNvPr id="13" name="Shape 8"/>
          <p:cNvSpPr/>
          <p:nvPr/>
        </p:nvSpPr>
        <p:spPr>
          <a:xfrm>
            <a:off x="6675120" y="1920240"/>
            <a:ext cx="566928" cy="566928"/>
          </a:xfrm>
          <a:prstGeom prst="ellipse">
            <a:avLst/>
          </a:prstGeom>
          <a:solidFill>
            <a:srgbClr val="8B5CF6"/>
          </a:solidFill>
          <a:ln/>
        </p:spPr>
      </p:sp>
      <p:sp>
        <p:nvSpPr>
          <p:cNvPr id="14" name="Text 9"/>
          <p:cNvSpPr txBox="1"/>
          <p:nvPr/>
        </p:nvSpPr>
        <p:spPr>
          <a:xfrm>
            <a:off x="6675120" y="1920240"/>
            <a:ext cx="566928" cy="566928"/>
          </a:xfrm>
          <a:prstGeom prst="rect">
            <a:avLst/>
          </a:prstGeom>
          <a:noFill/>
          <a:ln/>
        </p:spPr>
        <p:txBody>
          <a:bodyPr wrap="square" lIns="0" tIns="0" rIns="0" bIns="0" rtlCol="0" anchor="ctr"/>
          <a:lstStyle/>
          <a:p>
            <a:pPr algn="ctr" indent="0" marL="0">
              <a:buNone/>
            </a:pPr>
            <a:r>
              <a:rPr lang="en-US" sz="1612" b="1" dirty="0">
                <a:solidFill>
                  <a:srgbClr val="FFFFFF"/>
                </a:solidFill>
                <a:latin typeface="Segoe UI Semibold" pitchFamily="34" charset="0"/>
                <a:ea typeface="Segoe UI Semibold" pitchFamily="34" charset="-122"/>
                <a:cs typeface="Segoe UI Semibold" pitchFamily="34" charset="-120"/>
              </a:rPr>
              <a:t>1</a:t>
            </a:r>
            <a:endParaRPr lang="en-US" sz="1612" dirty="0"/>
          </a:p>
        </p:txBody>
      </p:sp>
      <p:sp>
        <p:nvSpPr>
          <p:cNvPr id="15" name="Text 10"/>
          <p:cNvSpPr txBox="1"/>
          <p:nvPr/>
        </p:nvSpPr>
        <p:spPr>
          <a:xfrm>
            <a:off x="7452360" y="1828800"/>
            <a:ext cx="3870655" cy="548640"/>
          </a:xfrm>
          <a:prstGeom prst="rect">
            <a:avLst/>
          </a:prstGeom>
          <a:noFill/>
          <a:ln/>
        </p:spPr>
        <p:txBody>
          <a:bodyPr wrap="square" lIns="0" tIns="0" rIns="0" bIns="0" rtlCol="0" anchor="ctr"/>
          <a:lstStyle/>
          <a:p>
            <a:pPr indent="0" marL="0">
              <a:buNone/>
            </a:pPr>
            <a:r>
              <a:rPr lang="en-US" sz="1800" dirty="0">
                <a:solidFill>
                  <a:srgbClr val="F2F0FF"/>
                </a:solidFill>
                <a:latin typeface="Segoe UI Semibold" pitchFamily="34" charset="0"/>
                <a:ea typeface="Segoe UI Semibold" pitchFamily="34" charset="-122"/>
                <a:cs typeface="Segoe UI Semibold" pitchFamily="34" charset="-120"/>
              </a:rPr>
              <a:t>Where each screw sits, as the sensor sees it</a:t>
            </a:r>
            <a:endParaRPr lang="en-US" sz="1800" dirty="0"/>
          </a:p>
        </p:txBody>
      </p:sp>
      <p:sp>
        <p:nvSpPr>
          <p:cNvPr id="16" name="Text 11"/>
          <p:cNvSpPr txBox="1"/>
          <p:nvPr/>
        </p:nvSpPr>
        <p:spPr>
          <a:xfrm>
            <a:off x="7452360" y="2377440"/>
            <a:ext cx="3870655" cy="64008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Measured in the image, so mirrors, diagonals and rotators don't matter</a:t>
            </a:r>
            <a:endParaRPr lang="en-US" sz="1400" dirty="0"/>
          </a:p>
        </p:txBody>
      </p:sp>
      <p:sp>
        <p:nvSpPr>
          <p:cNvPr id="17" name="Shape 12"/>
          <p:cNvSpPr/>
          <p:nvPr/>
        </p:nvSpPr>
        <p:spPr>
          <a:xfrm>
            <a:off x="6400800" y="3291840"/>
            <a:ext cx="5150815" cy="1417320"/>
          </a:xfrm>
          <a:prstGeom prst="roundRect">
            <a:avLst>
              <a:gd name="adj" fmla="val 9032"/>
            </a:avLst>
          </a:prstGeom>
          <a:solidFill>
            <a:srgbClr val="151B3A">
              <a:alpha val="92000"/>
            </a:srgbClr>
          </a:solidFill>
          <a:ln w="9525">
            <a:solidFill>
              <a:srgbClr val="3A4380"/>
            </a:solidFill>
            <a:prstDash val="solid"/>
          </a:ln>
        </p:spPr>
      </p:sp>
      <p:sp>
        <p:nvSpPr>
          <p:cNvPr id="18" name="Shape 13"/>
          <p:cNvSpPr/>
          <p:nvPr/>
        </p:nvSpPr>
        <p:spPr>
          <a:xfrm>
            <a:off x="6675120" y="3520440"/>
            <a:ext cx="566928" cy="566928"/>
          </a:xfrm>
          <a:prstGeom prst="ellipse">
            <a:avLst/>
          </a:prstGeom>
          <a:solidFill>
            <a:srgbClr val="8B5CF6"/>
          </a:solidFill>
          <a:ln/>
        </p:spPr>
      </p:sp>
      <p:sp>
        <p:nvSpPr>
          <p:cNvPr id="19" name="Text 14"/>
          <p:cNvSpPr txBox="1"/>
          <p:nvPr/>
        </p:nvSpPr>
        <p:spPr>
          <a:xfrm>
            <a:off x="6675120" y="3520440"/>
            <a:ext cx="566928" cy="566928"/>
          </a:xfrm>
          <a:prstGeom prst="rect">
            <a:avLst/>
          </a:prstGeom>
          <a:noFill/>
          <a:ln/>
        </p:spPr>
        <p:txBody>
          <a:bodyPr wrap="square" lIns="0" tIns="0" rIns="0" bIns="0" rtlCol="0" anchor="ctr"/>
          <a:lstStyle/>
          <a:p>
            <a:pPr algn="ctr" indent="0" marL="0">
              <a:buNone/>
            </a:pPr>
            <a:r>
              <a:rPr lang="en-US" sz="1612" b="1" dirty="0">
                <a:solidFill>
                  <a:srgbClr val="FFFFFF"/>
                </a:solidFill>
                <a:latin typeface="Segoe UI Semibold" pitchFamily="34" charset="0"/>
                <a:ea typeface="Segoe UI Semibold" pitchFamily="34" charset="-122"/>
                <a:cs typeface="Segoe UI Semibold" pitchFamily="34" charset="-120"/>
              </a:rPr>
              <a:t>2</a:t>
            </a:r>
            <a:endParaRPr lang="en-US" sz="1612" dirty="0"/>
          </a:p>
        </p:txBody>
      </p:sp>
      <p:sp>
        <p:nvSpPr>
          <p:cNvPr id="20" name="Text 15"/>
          <p:cNvSpPr txBox="1"/>
          <p:nvPr/>
        </p:nvSpPr>
        <p:spPr>
          <a:xfrm>
            <a:off x="7452360" y="3429000"/>
            <a:ext cx="3870655" cy="548640"/>
          </a:xfrm>
          <a:prstGeom prst="rect">
            <a:avLst/>
          </a:prstGeom>
          <a:noFill/>
          <a:ln/>
        </p:spPr>
        <p:txBody>
          <a:bodyPr wrap="square" lIns="0" tIns="0" rIns="0" bIns="0" rtlCol="0" anchor="ctr"/>
          <a:lstStyle/>
          <a:p>
            <a:pPr indent="0" marL="0">
              <a:buNone/>
            </a:pPr>
            <a:r>
              <a:rPr lang="en-US" sz="1800" dirty="0">
                <a:solidFill>
                  <a:srgbClr val="F2F0FF"/>
                </a:solidFill>
                <a:latin typeface="Segoe UI Semibold" pitchFamily="34" charset="0"/>
                <a:ea typeface="Segoe UI Semibold" pitchFamily="34" charset="-122"/>
                <a:cs typeface="Segoe UI Semibold" pitchFamily="34" charset="-120"/>
              </a:rPr>
              <a:t>How far each screw moves the tilt plane</a:t>
            </a:r>
            <a:endParaRPr lang="en-US" sz="1800" dirty="0"/>
          </a:p>
        </p:txBody>
      </p:sp>
      <p:sp>
        <p:nvSpPr>
          <p:cNvPr id="21" name="Text 16"/>
          <p:cNvSpPr txBox="1"/>
          <p:nvPr/>
        </p:nvSpPr>
        <p:spPr>
          <a:xfrm>
            <a:off x="7452360" y="3977640"/>
            <a:ext cx="3870655" cy="64008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Microns per turn (or per motor step), cross-checked against the adapter's spec</a:t>
            </a:r>
            <a:endParaRPr lang="en-US" sz="1400" dirty="0"/>
          </a:p>
        </p:txBody>
      </p:sp>
      <p:sp>
        <p:nvSpPr>
          <p:cNvPr id="22" name="Text 17"/>
          <p:cNvSpPr txBox="1"/>
          <p:nvPr/>
        </p:nvSpPr>
        <p:spPr>
          <a:xfrm>
            <a:off x="6400800" y="4937760"/>
            <a:ext cx="5150815" cy="914400"/>
          </a:xfrm>
          <a:prstGeom prst="rect">
            <a:avLst/>
          </a:prstGeom>
          <a:noFill/>
          <a:ln/>
        </p:spPr>
        <p:txBody>
          <a:bodyPr wrap="square" lIns="0" tIns="0" rIns="0" bIns="0" rtlCol="0" anchor="ctr"/>
          <a:lstStyle/>
          <a:p>
            <a:pPr indent="0" marL="0">
              <a:buNone/>
            </a:pPr>
            <a:r>
              <a:rPr lang="en-US" sz="1700" b="1" dirty="0">
                <a:solidFill>
                  <a:srgbClr val="F2F0FF"/>
                </a:solidFill>
                <a:latin typeface="Segoe UI" pitchFamily="34" charset="0"/>
                <a:ea typeface="Segoe UI" pitchFamily="34" charset="-122"/>
                <a:cs typeface="Segoe UI" pitchFamily="34" charset="-120"/>
              </a:rPr>
              <a:t>Measured, not assumed. </a:t>
            </a:r>
            <a:pPr indent="0" marL="0">
              <a:buNone/>
            </a:pPr>
            <a:r>
              <a:rPr lang="en-US" sz="1700" dirty="0">
                <a:solidFill>
                  <a:srgbClr val="B4BBE0"/>
                </a:solidFill>
                <a:latin typeface="Segoe UI" pitchFamily="34" charset="0"/>
                <a:ea typeface="Segoe UI" pitchFamily="34" charset="-122"/>
                <a:cs typeface="Segoe UI" pitchFamily="34" charset="-120"/>
              </a:rPr>
              <a:t>But every step was a sensor model, and that is a demanding measurement…</a:t>
            </a:r>
            <a:endParaRPr lang="en-US" sz="17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9326880"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In a sensor model, every star matters</a:t>
            </a:r>
            <a:endParaRPr lang="en-US" sz="3200" dirty="0"/>
          </a:p>
        </p:txBody>
      </p:sp>
      <p:sp>
        <p:nvSpPr>
          <p:cNvPr id="4" name="Shape 2"/>
          <p:cNvSpPr/>
          <p:nvPr/>
        </p:nvSpPr>
        <p:spPr>
          <a:xfrm>
            <a:off x="10180015" y="768096"/>
            <a:ext cx="1371600" cy="566928"/>
          </a:xfrm>
          <a:prstGeom prst="roundRect">
            <a:avLst>
              <a:gd name="adj" fmla="val 50000"/>
            </a:avLst>
          </a:prstGeom>
          <a:solidFill>
            <a:srgbClr val="FFB020"/>
          </a:solidFill>
          <a:ln/>
          <a:effectLst>
            <a:outerShdw sx="100000" sy="100000" kx="0" ky="0" algn="bl" rotWithShape="0" blurRad="177800" dist="50800" dir="5400000">
              <a:srgbClr val="000000">
                <a:alpha val="45000"/>
              </a:srgbClr>
            </a:outerShdw>
          </a:effectLst>
        </p:spPr>
      </p:sp>
      <p:sp>
        <p:nvSpPr>
          <p:cNvPr id="5" name="Text 3"/>
          <p:cNvSpPr txBox="1"/>
          <p:nvPr/>
        </p:nvSpPr>
        <p:spPr>
          <a:xfrm>
            <a:off x="10180015" y="768096"/>
            <a:ext cx="1371600" cy="566928"/>
          </a:xfrm>
          <a:prstGeom prst="rect">
            <a:avLst/>
          </a:prstGeom>
          <a:noFill/>
          <a:ln/>
        </p:spPr>
        <p:txBody>
          <a:bodyPr wrap="square" lIns="0" tIns="0" rIns="0" bIns="0" rtlCol="0" anchor="ctr"/>
          <a:lstStyle/>
          <a:p>
            <a:pPr algn="ctr" indent="0" marL="0">
              <a:buNone/>
            </a:pPr>
            <a:r>
              <a:rPr lang="en-US" sz="2000" b="1" spc="300" kern="0" dirty="0">
                <a:solidFill>
                  <a:srgbClr val="0B1026"/>
                </a:solidFill>
                <a:latin typeface="Segoe UI Semibold" pitchFamily="34" charset="0"/>
                <a:ea typeface="Segoe UI Semibold" pitchFamily="34" charset="-122"/>
                <a:cs typeface="Segoe UI Semibold" pitchFamily="34" charset="-120"/>
              </a:rPr>
              <a:t>SNR</a:t>
            </a:r>
            <a:endParaRPr lang="en-US" sz="2000" dirty="0"/>
          </a:p>
        </p:txBody>
      </p:sp>
      <p:sp>
        <p:nvSpPr>
          <p:cNvPr id="7" name="Shape 4"/>
          <p:cNvSpPr/>
          <p:nvPr/>
        </p:nvSpPr>
        <p:spPr>
          <a:xfrm>
            <a:off x="640080" y="1645920"/>
            <a:ext cx="5300320" cy="2560320"/>
          </a:xfrm>
          <a:prstGeom prst="roundRect">
            <a:avLst>
              <a:gd name="adj" fmla="val 5000"/>
            </a:avLst>
          </a:prstGeom>
          <a:solidFill>
            <a:srgbClr val="151B3A">
              <a:alpha val="92000"/>
            </a:srgbClr>
          </a:solidFill>
          <a:ln w="9525">
            <a:solidFill>
              <a:srgbClr val="3A4380"/>
            </a:solidFill>
            <a:prstDash val="solid"/>
          </a:ln>
        </p:spPr>
      </p:sp>
      <p:sp>
        <p:nvSpPr>
          <p:cNvPr id="8" name="Text 5"/>
          <p:cNvSpPr txBox="1"/>
          <p:nvPr/>
        </p:nvSpPr>
        <p:spPr>
          <a:xfrm>
            <a:off x="960120" y="1828800"/>
            <a:ext cx="27432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AUTOFOCUS</a:t>
            </a:r>
            <a:endParaRPr lang="en-US" sz="1300" dirty="0"/>
          </a:p>
        </p:txBody>
      </p:sp>
      <p:sp>
        <p:nvSpPr>
          <p:cNvPr id="9" name="Text 6"/>
          <p:cNvSpPr txBox="1"/>
          <p:nvPr/>
        </p:nvSpPr>
        <p:spPr>
          <a:xfrm>
            <a:off x="960120" y="2103120"/>
            <a:ext cx="3291840" cy="731520"/>
          </a:xfrm>
          <a:prstGeom prst="rect">
            <a:avLst/>
          </a:prstGeom>
          <a:noFill/>
          <a:ln/>
        </p:spPr>
        <p:txBody>
          <a:bodyPr wrap="square" lIns="0" tIns="0" rIns="0" bIns="0" rtlCol="0" anchor="ctr"/>
          <a:lstStyle/>
          <a:p>
            <a:pPr indent="0" marL="0">
              <a:buNone/>
            </a:pPr>
            <a:r>
              <a:rPr lang="en-US" sz="2600" dirty="0">
                <a:solidFill>
                  <a:srgbClr val="F2F0FF"/>
                </a:solidFill>
                <a:latin typeface="Segoe UI Semibold" pitchFamily="34" charset="0"/>
                <a:ea typeface="Segoe UI Semibold" pitchFamily="34" charset="-122"/>
                <a:cs typeface="Segoe UI Semibold" pitchFamily="34" charset="-120"/>
              </a:rPr>
              <a:t>One curve</a:t>
            </a:r>
            <a:endParaRPr lang="en-US" sz="2600" dirty="0"/>
          </a:p>
        </p:txBody>
      </p:sp>
      <p:sp>
        <p:nvSpPr>
          <p:cNvPr id="10" name="Text 7"/>
          <p:cNvSpPr txBox="1"/>
          <p:nvPr/>
        </p:nvSpPr>
        <p:spPr>
          <a:xfrm>
            <a:off x="960120" y="2834640"/>
            <a:ext cx="2926080" cy="777240"/>
          </a:xfrm>
          <a:prstGeom prst="rect">
            <a:avLst/>
          </a:prstGeom>
          <a:noFill/>
          <a:ln/>
        </p:spPr>
        <p:txBody>
          <a:bodyPr wrap="square" lIns="0" tIns="0" rIns="0" bIns="0" rtlCol="0" anchor="t"/>
          <a:lstStyle/>
          <a:p>
            <a:pPr indent="0" marL="0">
              <a:buNone/>
            </a:pPr>
            <a:r>
              <a:rPr lang="en-US" sz="1500" dirty="0">
                <a:solidFill>
                  <a:srgbClr val="F2F0FF"/>
                </a:solidFill>
                <a:latin typeface="Segoe UI" pitchFamily="34" charset="0"/>
                <a:ea typeface="Segoe UI" pitchFamily="34" charset="-122"/>
                <a:cs typeface="Segoe UI" pitchFamily="34" charset="-120"/>
              </a:rPr>
              <a:t>Every point averages hundreds of stars</a:t>
            </a:r>
            <a:endParaRPr lang="en-US" sz="1500" dirty="0"/>
          </a:p>
        </p:txBody>
      </p:sp>
      <p:sp>
        <p:nvSpPr>
          <p:cNvPr id="11" name="Text 8"/>
          <p:cNvSpPr txBox="1"/>
          <p:nvPr/>
        </p:nvSpPr>
        <p:spPr>
          <a:xfrm>
            <a:off x="960120" y="3337560"/>
            <a:ext cx="3017520" cy="594360"/>
          </a:xfrm>
          <a:prstGeom prst="rect">
            <a:avLst/>
          </a:prstGeom>
          <a:noFill/>
          <a:ln/>
        </p:spPr>
        <p:txBody>
          <a:bodyPr wrap="square" lIns="0" tIns="0" rIns="0" bIns="0" rtlCol="0" anchor="b"/>
          <a:lstStyle/>
          <a:p>
            <a:pPr indent="0" marL="0">
              <a:buNone/>
            </a:pPr>
            <a:r>
              <a:rPr lang="en-US" sz="1500" b="1" dirty="0">
                <a:solidFill>
                  <a:srgbClr val="FFB020"/>
                </a:solidFill>
                <a:latin typeface="Segoe UI" pitchFamily="34" charset="0"/>
                <a:ea typeface="Segoe UI" pitchFamily="34" charset="-122"/>
                <a:cs typeface="Segoe UI" pitchFamily="34" charset="-120"/>
              </a:rPr>
              <a:t>High SNR, for free</a:t>
            </a:r>
            <a:endParaRPr lang="en-US" sz="1500" dirty="0"/>
          </a:p>
        </p:txBody>
      </p:sp>
      <p:pic>
        <p:nvPicPr>
          <p:cNvPr id="12" name="Image 0" descr="/home/ghilios/src/hocus-focus/presentations/hocus-focus-v4/assets/art-onecurve.png">    </p:cNvPr>
          <p:cNvPicPr>
            <a:picLocks noChangeAspect="1"/>
          </p:cNvPicPr>
          <p:nvPr/>
        </p:nvPicPr>
        <p:blipFill>
          <a:blip r:embed="rId2"/>
          <a:stretch>
            <a:fillRect/>
          </a:stretch>
        </p:blipFill>
        <p:spPr>
          <a:xfrm>
            <a:off x="4114800" y="2427018"/>
            <a:ext cx="1597000" cy="998125"/>
          </a:xfrm>
          <a:prstGeom prst="rect">
            <a:avLst/>
          </a:prstGeom>
        </p:spPr>
      </p:pic>
      <p:sp>
        <p:nvSpPr>
          <p:cNvPr id="13" name="Shape 9"/>
          <p:cNvSpPr/>
          <p:nvPr/>
        </p:nvSpPr>
        <p:spPr>
          <a:xfrm>
            <a:off x="6251296" y="1645920"/>
            <a:ext cx="5300320" cy="2560320"/>
          </a:xfrm>
          <a:prstGeom prst="roundRect">
            <a:avLst>
              <a:gd name="adj" fmla="val 5000"/>
            </a:avLst>
          </a:prstGeom>
          <a:solidFill>
            <a:srgbClr val="1E2650"/>
          </a:solidFill>
          <a:ln w="19050">
            <a:solidFill>
              <a:srgbClr val="FFB020"/>
            </a:solidFill>
            <a:prstDash val="solid"/>
          </a:ln>
        </p:spPr>
      </p:sp>
      <p:sp>
        <p:nvSpPr>
          <p:cNvPr id="14" name="Text 10"/>
          <p:cNvSpPr txBox="1"/>
          <p:nvPr/>
        </p:nvSpPr>
        <p:spPr>
          <a:xfrm>
            <a:off x="6571336" y="1828800"/>
            <a:ext cx="2743200" cy="292608"/>
          </a:xfrm>
          <a:prstGeom prst="rect">
            <a:avLst/>
          </a:prstGeom>
          <a:noFill/>
          <a:ln/>
        </p:spPr>
        <p:txBody>
          <a:bodyPr wrap="square" lIns="0" tIns="0" rIns="0" bIns="0" rtlCol="0" anchor="ctr"/>
          <a:lstStyle/>
          <a:p>
            <a:pPr indent="0" marL="0">
              <a:buNone/>
            </a:pPr>
            <a:r>
              <a:rPr lang="en-US" sz="1300" b="1" spc="300" kern="0" dirty="0">
                <a:solidFill>
                  <a:srgbClr val="FFB020"/>
                </a:solidFill>
                <a:latin typeface="Segoe UI" pitchFamily="34" charset="0"/>
                <a:ea typeface="Segoe UI" pitchFamily="34" charset="-122"/>
                <a:cs typeface="Segoe UI" pitchFamily="34" charset="-120"/>
              </a:rPr>
              <a:t>SENSOR MODEL</a:t>
            </a:r>
            <a:endParaRPr lang="en-US" sz="1300" dirty="0"/>
          </a:p>
        </p:txBody>
      </p:sp>
      <p:sp>
        <p:nvSpPr>
          <p:cNvPr id="15" name="Text 11"/>
          <p:cNvSpPr txBox="1"/>
          <p:nvPr/>
        </p:nvSpPr>
        <p:spPr>
          <a:xfrm>
            <a:off x="6571336" y="2103120"/>
            <a:ext cx="3291840" cy="731520"/>
          </a:xfrm>
          <a:prstGeom prst="rect">
            <a:avLst/>
          </a:prstGeom>
          <a:noFill/>
          <a:ln/>
        </p:spPr>
        <p:txBody>
          <a:bodyPr wrap="square" lIns="0" tIns="0" rIns="0" bIns="0" rtlCol="0" anchor="ctr"/>
          <a:lstStyle/>
          <a:p>
            <a:pPr indent="0" marL="0">
              <a:buNone/>
            </a:pPr>
            <a:r>
              <a:rPr lang="en-US" sz="2600" dirty="0">
                <a:solidFill>
                  <a:srgbClr val="FFB020"/>
                </a:solidFill>
                <a:latin typeface="Segoe UI Semibold" pitchFamily="34" charset="0"/>
                <a:ea typeface="Segoe UI Semibold" pitchFamily="34" charset="-122"/>
                <a:cs typeface="Segoe UI Semibold" pitchFamily="34" charset="-120"/>
              </a:rPr>
              <a:t>Hundreds of curves</a:t>
            </a:r>
            <a:endParaRPr lang="en-US" sz="2600" dirty="0"/>
          </a:p>
        </p:txBody>
      </p:sp>
      <p:sp>
        <p:nvSpPr>
          <p:cNvPr id="16" name="Text 12"/>
          <p:cNvSpPr txBox="1"/>
          <p:nvPr/>
        </p:nvSpPr>
        <p:spPr>
          <a:xfrm>
            <a:off x="6571336" y="2834640"/>
            <a:ext cx="2926080" cy="777240"/>
          </a:xfrm>
          <a:prstGeom prst="rect">
            <a:avLst/>
          </a:prstGeom>
          <a:noFill/>
          <a:ln/>
        </p:spPr>
        <p:txBody>
          <a:bodyPr wrap="square" lIns="0" tIns="0" rIns="0" bIns="0" rtlCol="0" anchor="t"/>
          <a:lstStyle/>
          <a:p>
            <a:pPr indent="0" marL="0">
              <a:buNone/>
            </a:pPr>
            <a:r>
              <a:rPr lang="en-US" sz="1500" dirty="0">
                <a:solidFill>
                  <a:srgbClr val="F2F0FF"/>
                </a:solidFill>
                <a:latin typeface="Segoe UI" pitchFamily="34" charset="0"/>
                <a:ea typeface="Segoe UI" pitchFamily="34" charset="-122"/>
                <a:cs typeface="Segoe UI" pitchFamily="34" charset="-120"/>
              </a:rPr>
              <a:t>Every point is one star, in one frame, even far out of focus</a:t>
            </a:r>
            <a:endParaRPr lang="en-US" sz="1500" dirty="0"/>
          </a:p>
        </p:txBody>
      </p:sp>
      <p:sp>
        <p:nvSpPr>
          <p:cNvPr id="17" name="Text 13"/>
          <p:cNvSpPr txBox="1"/>
          <p:nvPr/>
        </p:nvSpPr>
        <p:spPr>
          <a:xfrm>
            <a:off x="6571336" y="3337560"/>
            <a:ext cx="3017520" cy="594360"/>
          </a:xfrm>
          <a:prstGeom prst="rect">
            <a:avLst/>
          </a:prstGeom>
          <a:noFill/>
          <a:ln/>
        </p:spPr>
        <p:txBody>
          <a:bodyPr wrap="square" lIns="0" tIns="0" rIns="0" bIns="0" rtlCol="0" anchor="b"/>
          <a:lstStyle/>
          <a:p>
            <a:pPr indent="0" marL="0">
              <a:buNone/>
            </a:pPr>
            <a:r>
              <a:rPr lang="en-US" sz="1500" b="1" dirty="0">
                <a:solidFill>
                  <a:srgbClr val="FFB020"/>
                </a:solidFill>
                <a:latin typeface="Segoe UI" pitchFamily="34" charset="0"/>
                <a:ea typeface="Segoe UI" pitchFamily="34" charset="-122"/>
                <a:cs typeface="Segoe UI" pitchFamily="34" charset="-120"/>
              </a:rPr>
              <a:t>Low SNR: every star must be measured well</a:t>
            </a:r>
            <a:endParaRPr lang="en-US" sz="1500" dirty="0"/>
          </a:p>
        </p:txBody>
      </p:sp>
      <p:pic>
        <p:nvPicPr>
          <p:cNvPr id="18" name="Image 1" descr="/home/ghilios/src/hocus-focus/presentations/hocus-focus-v4/assets/art-manycurves.png">    </p:cNvPr>
          <p:cNvPicPr>
            <a:picLocks noChangeAspect="1"/>
          </p:cNvPicPr>
          <p:nvPr/>
        </p:nvPicPr>
        <p:blipFill>
          <a:blip r:embed="rId3"/>
          <a:stretch>
            <a:fillRect/>
          </a:stretch>
        </p:blipFill>
        <p:spPr>
          <a:xfrm>
            <a:off x="9726016" y="2427018"/>
            <a:ext cx="1597000" cy="998125"/>
          </a:xfrm>
          <a:prstGeom prst="rect">
            <a:avLst/>
          </a:prstGeom>
        </p:spPr>
      </p:pic>
      <p:pic>
        <p:nvPicPr>
          <p:cNvPr id="19" name="Image 2" descr="/home/ghilios/src/hocus-focus/presentations/hocus-focus-v4/assets/art-match.png">    </p:cNvPr>
          <p:cNvPicPr>
            <a:picLocks noChangeAspect="1"/>
          </p:cNvPicPr>
          <p:nvPr/>
        </p:nvPicPr>
        <p:blipFill>
          <a:blip r:embed="rId4"/>
          <a:stretch>
            <a:fillRect/>
          </a:stretch>
        </p:blipFill>
        <p:spPr>
          <a:xfrm>
            <a:off x="640080" y="4875313"/>
            <a:ext cx="1463040" cy="673534"/>
          </a:xfrm>
          <a:prstGeom prst="rect">
            <a:avLst/>
          </a:prstGeom>
        </p:spPr>
      </p:pic>
      <p:sp>
        <p:nvSpPr>
          <p:cNvPr id="20" name="Shape 14"/>
          <p:cNvSpPr/>
          <p:nvPr/>
        </p:nvSpPr>
        <p:spPr>
          <a:xfrm>
            <a:off x="2240280" y="4626864"/>
            <a:ext cx="384048" cy="384048"/>
          </a:xfrm>
          <a:prstGeom prst="ellipse">
            <a:avLst/>
          </a:prstGeom>
          <a:solidFill>
            <a:srgbClr val="8B5CF6"/>
          </a:solidFill>
          <a:ln/>
        </p:spPr>
      </p:sp>
      <p:sp>
        <p:nvSpPr>
          <p:cNvPr id="21" name="Text 15"/>
          <p:cNvSpPr txBox="1"/>
          <p:nvPr/>
        </p:nvSpPr>
        <p:spPr>
          <a:xfrm>
            <a:off x="2240280" y="4626864"/>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Segoe UI Semibold" pitchFamily="34" charset="0"/>
                <a:ea typeface="Segoe UI Semibold" pitchFamily="34" charset="-122"/>
                <a:cs typeface="Segoe UI Semibold" pitchFamily="34" charset="-120"/>
              </a:rPr>
              <a:t>1</a:t>
            </a:r>
            <a:endParaRPr lang="en-US" sz="1092" dirty="0"/>
          </a:p>
        </p:txBody>
      </p:sp>
      <p:sp>
        <p:nvSpPr>
          <p:cNvPr id="22" name="Text 16"/>
          <p:cNvSpPr txBox="1"/>
          <p:nvPr/>
        </p:nvSpPr>
        <p:spPr>
          <a:xfrm>
            <a:off x="2715768" y="4626864"/>
            <a:ext cx="1353312" cy="384048"/>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Match stars</a:t>
            </a:r>
            <a:endParaRPr lang="en-US" sz="1700" dirty="0"/>
          </a:p>
        </p:txBody>
      </p:sp>
      <p:sp>
        <p:nvSpPr>
          <p:cNvPr id="23" name="Text 17"/>
          <p:cNvSpPr txBox="1"/>
          <p:nvPr/>
        </p:nvSpPr>
        <p:spPr>
          <a:xfrm>
            <a:off x="2240280" y="5138928"/>
            <a:ext cx="1737360" cy="64008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Across every frame. Star registration by Steve Smith</a:t>
            </a:r>
            <a:endParaRPr lang="en-US" sz="1400" dirty="0"/>
          </a:p>
        </p:txBody>
      </p:sp>
      <p:sp>
        <p:nvSpPr>
          <p:cNvPr id="24" name="Shape 18"/>
          <p:cNvSpPr/>
          <p:nvPr/>
        </p:nvSpPr>
        <p:spPr>
          <a:xfrm>
            <a:off x="4050792" y="5166360"/>
            <a:ext cx="184252" cy="0"/>
          </a:xfrm>
          <a:prstGeom prst="line">
            <a:avLst/>
          </a:prstGeom>
          <a:noFill/>
          <a:ln w="28575">
            <a:solidFill>
              <a:srgbClr val="B4BBE0"/>
            </a:solidFill>
            <a:prstDash val="solid"/>
            <a:tailEnd type="triangle"/>
          </a:ln>
        </p:spPr>
      </p:sp>
      <p:pic>
        <p:nvPicPr>
          <p:cNvPr id="25" name="Image 3" descr="/home/ghilios/src/hocus-focus/presentations/hocus-focus-v4/assets/art-curves.png">    </p:cNvPr>
          <p:cNvPicPr>
            <a:picLocks noChangeAspect="1"/>
          </p:cNvPicPr>
          <p:nvPr/>
        </p:nvPicPr>
        <p:blipFill>
          <a:blip r:embed="rId5"/>
          <a:stretch>
            <a:fillRect/>
          </a:stretch>
        </p:blipFill>
        <p:spPr>
          <a:xfrm>
            <a:off x="4381348" y="4723653"/>
            <a:ext cx="1463040" cy="976854"/>
          </a:xfrm>
          <a:prstGeom prst="rect">
            <a:avLst/>
          </a:prstGeom>
        </p:spPr>
      </p:pic>
      <p:sp>
        <p:nvSpPr>
          <p:cNvPr id="26" name="Shape 19"/>
          <p:cNvSpPr/>
          <p:nvPr/>
        </p:nvSpPr>
        <p:spPr>
          <a:xfrm>
            <a:off x="5981548" y="4626864"/>
            <a:ext cx="384048" cy="384048"/>
          </a:xfrm>
          <a:prstGeom prst="ellipse">
            <a:avLst/>
          </a:prstGeom>
          <a:solidFill>
            <a:srgbClr val="8B5CF6"/>
          </a:solidFill>
          <a:ln/>
        </p:spPr>
      </p:sp>
      <p:sp>
        <p:nvSpPr>
          <p:cNvPr id="27" name="Text 20"/>
          <p:cNvSpPr txBox="1"/>
          <p:nvPr/>
        </p:nvSpPr>
        <p:spPr>
          <a:xfrm>
            <a:off x="5981548" y="4626864"/>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Segoe UI Semibold" pitchFamily="34" charset="0"/>
                <a:ea typeface="Segoe UI Semibold" pitchFamily="34" charset="-122"/>
                <a:cs typeface="Segoe UI Semibold" pitchFamily="34" charset="-120"/>
              </a:rPr>
              <a:t>2</a:t>
            </a:r>
            <a:endParaRPr lang="en-US" sz="1092" dirty="0"/>
          </a:p>
        </p:txBody>
      </p:sp>
      <p:sp>
        <p:nvSpPr>
          <p:cNvPr id="28" name="Text 21"/>
          <p:cNvSpPr txBox="1"/>
          <p:nvPr/>
        </p:nvSpPr>
        <p:spPr>
          <a:xfrm>
            <a:off x="6457036" y="4626864"/>
            <a:ext cx="1353312" cy="384048"/>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Fit each star</a:t>
            </a:r>
            <a:endParaRPr lang="en-US" sz="1700" dirty="0"/>
          </a:p>
        </p:txBody>
      </p:sp>
      <p:sp>
        <p:nvSpPr>
          <p:cNvPr id="29" name="Text 22"/>
          <p:cNvSpPr txBox="1"/>
          <p:nvPr/>
        </p:nvSpPr>
        <p:spPr>
          <a:xfrm>
            <a:off x="5981548" y="5138928"/>
            <a:ext cx="1737360" cy="64008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Every star gets its own focus curve</a:t>
            </a:r>
            <a:endParaRPr lang="en-US" sz="1400" dirty="0"/>
          </a:p>
        </p:txBody>
      </p:sp>
      <p:sp>
        <p:nvSpPr>
          <p:cNvPr id="30" name="Shape 23"/>
          <p:cNvSpPr/>
          <p:nvPr/>
        </p:nvSpPr>
        <p:spPr>
          <a:xfrm>
            <a:off x="7792060" y="5166360"/>
            <a:ext cx="184252" cy="0"/>
          </a:xfrm>
          <a:prstGeom prst="line">
            <a:avLst/>
          </a:prstGeom>
          <a:noFill/>
          <a:ln w="28575">
            <a:solidFill>
              <a:srgbClr val="B4BBE0"/>
            </a:solidFill>
            <a:prstDash val="solid"/>
            <a:tailEnd type="triangle"/>
          </a:ln>
        </p:spPr>
      </p:sp>
      <p:pic>
        <p:nvPicPr>
          <p:cNvPr id="31" name="Image 4" descr="/home/ghilios/src/hocus-focus/presentations/hocus-focus-v4/assets/art-surface.png">    </p:cNvPr>
          <p:cNvPicPr>
            <a:picLocks noChangeAspect="1"/>
          </p:cNvPicPr>
          <p:nvPr/>
        </p:nvPicPr>
        <p:blipFill>
          <a:blip r:embed="rId6"/>
          <a:stretch>
            <a:fillRect/>
          </a:stretch>
        </p:blipFill>
        <p:spPr>
          <a:xfrm>
            <a:off x="8122615" y="4957613"/>
            <a:ext cx="1463040" cy="508934"/>
          </a:xfrm>
          <a:prstGeom prst="rect">
            <a:avLst/>
          </a:prstGeom>
        </p:spPr>
      </p:pic>
      <p:sp>
        <p:nvSpPr>
          <p:cNvPr id="32" name="Shape 24"/>
          <p:cNvSpPr/>
          <p:nvPr/>
        </p:nvSpPr>
        <p:spPr>
          <a:xfrm>
            <a:off x="9722815" y="4626864"/>
            <a:ext cx="384048" cy="384048"/>
          </a:xfrm>
          <a:prstGeom prst="ellipse">
            <a:avLst/>
          </a:prstGeom>
          <a:solidFill>
            <a:srgbClr val="8B5CF6"/>
          </a:solidFill>
          <a:ln/>
        </p:spPr>
      </p:sp>
      <p:sp>
        <p:nvSpPr>
          <p:cNvPr id="33" name="Text 25"/>
          <p:cNvSpPr txBox="1"/>
          <p:nvPr/>
        </p:nvSpPr>
        <p:spPr>
          <a:xfrm>
            <a:off x="9722815" y="4626864"/>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Segoe UI Semibold" pitchFamily="34" charset="0"/>
                <a:ea typeface="Segoe UI Semibold" pitchFamily="34" charset="-122"/>
                <a:cs typeface="Segoe UI Semibold" pitchFamily="34" charset="-120"/>
              </a:rPr>
              <a:t>3</a:t>
            </a:r>
            <a:endParaRPr lang="en-US" sz="1092" dirty="0"/>
          </a:p>
        </p:txBody>
      </p:sp>
      <p:sp>
        <p:nvSpPr>
          <p:cNvPr id="34" name="Text 26"/>
          <p:cNvSpPr txBox="1"/>
          <p:nvPr/>
        </p:nvSpPr>
        <p:spPr>
          <a:xfrm>
            <a:off x="10198303" y="4626864"/>
            <a:ext cx="1353312" cy="384048"/>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Fit a surface</a:t>
            </a:r>
            <a:endParaRPr lang="en-US" sz="1700" dirty="0"/>
          </a:p>
        </p:txBody>
      </p:sp>
      <p:sp>
        <p:nvSpPr>
          <p:cNvPr id="35" name="Text 27"/>
          <p:cNvSpPr txBox="1"/>
          <p:nvPr/>
        </p:nvSpPr>
        <p:spPr>
          <a:xfrm>
            <a:off x="9722815" y="5138928"/>
            <a:ext cx="1737360" cy="64008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Tilt and curvature fall out of it</a:t>
            </a:r>
            <a:endParaRPr lang="en-US" sz="14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40080" y="1554480"/>
            <a:ext cx="2286000" cy="548640"/>
          </a:xfrm>
          <a:prstGeom prst="roundRect">
            <a:avLst>
              <a:gd name="adj" fmla="val 13333"/>
            </a:avLst>
          </a:prstGeom>
          <a:solidFill>
            <a:srgbClr val="FF4D9D"/>
          </a:solidFill>
          <a:ln/>
        </p:spPr>
      </p:sp>
      <p:pic>
        <p:nvPicPr>
          <p:cNvPr id="4" name="Image 0" descr="/home/ghilios/src/hocus-focus/presentations/hocus-focus-v4/assets/icon-play.png">    </p:cNvPr>
          <p:cNvPicPr>
            <a:picLocks noChangeAspect="1"/>
          </p:cNvPicPr>
          <p:nvPr/>
        </p:nvPicPr>
        <p:blipFill>
          <a:blip r:embed="rId2"/>
          <a:stretch>
            <a:fillRect/>
          </a:stretch>
        </p:blipFill>
        <p:spPr>
          <a:xfrm>
            <a:off x="896112" y="1700784"/>
            <a:ext cx="256032" cy="256032"/>
          </a:xfrm>
          <a:prstGeom prst="rect">
            <a:avLst/>
          </a:prstGeom>
        </p:spPr>
      </p:pic>
      <p:sp>
        <p:nvSpPr>
          <p:cNvPr id="5" name="Text 1"/>
          <p:cNvSpPr txBox="1"/>
          <p:nvPr/>
        </p:nvSpPr>
        <p:spPr>
          <a:xfrm>
            <a:off x="1280160" y="1554480"/>
            <a:ext cx="1554480" cy="548640"/>
          </a:xfrm>
          <a:prstGeom prst="rect">
            <a:avLst/>
          </a:prstGeom>
          <a:noFill/>
          <a:ln/>
        </p:spPr>
        <p:txBody>
          <a:bodyPr wrap="square" lIns="0" tIns="0" rIns="0" bIns="0" rtlCol="0" anchor="ctr"/>
          <a:lstStyle/>
          <a:p>
            <a:pPr indent="0" marL="0">
              <a:buNone/>
            </a:pPr>
            <a:r>
              <a:rPr lang="en-US" sz="1800" spc="300" kern="0" dirty="0">
                <a:solidFill>
                  <a:srgbClr val="FFFFFF"/>
                </a:solidFill>
                <a:latin typeface="Segoe UI Semibold" pitchFamily="34" charset="0"/>
                <a:ea typeface="Segoe UI Semibold" pitchFamily="34" charset="-122"/>
                <a:cs typeface="Segoe UI Semibold" pitchFamily="34" charset="-120"/>
              </a:rPr>
              <a:t>LIVE DEMO</a:t>
            </a:r>
            <a:endParaRPr lang="en-US" sz="1800" dirty="0"/>
          </a:p>
        </p:txBody>
      </p:sp>
      <p:sp>
        <p:nvSpPr>
          <p:cNvPr id="6" name="Text 2"/>
          <p:cNvSpPr txBox="1"/>
          <p:nvPr/>
        </p:nvSpPr>
        <p:spPr>
          <a:xfrm>
            <a:off x="640080" y="2286000"/>
            <a:ext cx="10911535" cy="914400"/>
          </a:xfrm>
          <a:prstGeom prst="rect">
            <a:avLst/>
          </a:prstGeom>
          <a:noFill/>
          <a:ln/>
        </p:spPr>
        <p:txBody>
          <a:bodyPr wrap="square" lIns="0" tIns="0" rIns="0" bIns="0" rtlCol="0" anchor="ctr"/>
          <a:lstStyle/>
          <a:p>
            <a:pPr indent="0" marL="0">
              <a:buNone/>
            </a:pPr>
            <a:r>
              <a:rPr lang="en-US" sz="3800" dirty="0">
                <a:solidFill>
                  <a:srgbClr val="F2F0FF"/>
                </a:solidFill>
                <a:latin typeface="Segoe UI Semibold" pitchFamily="34" charset="0"/>
                <a:ea typeface="Segoe UI Semibold" pitchFamily="34" charset="-122"/>
                <a:cs typeface="Segoe UI Semibold" pitchFamily="34" charset="-120"/>
              </a:rPr>
              <a:t>A sensor model from a saved autofocus run</a:t>
            </a:r>
            <a:endParaRPr lang="en-US" sz="3800" dirty="0"/>
          </a:p>
        </p:txBody>
      </p:sp>
      <p:sp>
        <p:nvSpPr>
          <p:cNvPr id="7" name="Shape 3"/>
          <p:cNvSpPr/>
          <p:nvPr/>
        </p:nvSpPr>
        <p:spPr>
          <a:xfrm>
            <a:off x="640080" y="3337560"/>
            <a:ext cx="6949440" cy="640080"/>
          </a:xfrm>
          <a:prstGeom prst="roundRect">
            <a:avLst>
              <a:gd name="adj" fmla="val 20000"/>
            </a:avLst>
          </a:prstGeom>
          <a:solidFill>
            <a:srgbClr val="151B3A">
              <a:alpha val="92000"/>
            </a:srgbClr>
          </a:solidFill>
          <a:ln w="9525">
            <a:solidFill>
              <a:srgbClr val="3A4380"/>
            </a:solidFill>
            <a:prstDash val="solid"/>
          </a:ln>
        </p:spPr>
      </p:sp>
      <p:sp>
        <p:nvSpPr>
          <p:cNvPr id="8" name="Text 4"/>
          <p:cNvSpPr txBox="1"/>
          <p:nvPr/>
        </p:nvSpPr>
        <p:spPr>
          <a:xfrm>
            <a:off x="914400" y="3337560"/>
            <a:ext cx="6583680" cy="640080"/>
          </a:xfrm>
          <a:prstGeom prst="rect">
            <a:avLst/>
          </a:prstGeom>
          <a:noFill/>
          <a:ln/>
        </p:spPr>
        <p:txBody>
          <a:bodyPr wrap="square" lIns="0" tIns="0" rIns="0" bIns="0" rtlCol="0" anchor="ctr"/>
          <a:lstStyle/>
          <a:p>
            <a:pPr indent="0" marL="0">
              <a:buNone/>
            </a:pPr>
            <a:r>
              <a:rPr lang="en-US" sz="2000" dirty="0">
                <a:solidFill>
                  <a:srgbClr val="F2F0FF"/>
                </a:solidFill>
                <a:latin typeface="Segoe UI" pitchFamily="34" charset="0"/>
                <a:ea typeface="Segoe UI" pitchFamily="34" charset="-122"/>
                <a:cs typeface="Segoe UI" pitchFamily="34" charset="-120"/>
              </a:rPr>
              <a:t>Imaging  →  Aberration Inspector  →  Load Saved AF</a:t>
            </a:r>
            <a:endParaRPr lang="en-US" sz="2000" dirty="0"/>
          </a:p>
        </p:txBody>
      </p:sp>
      <p:sp>
        <p:nvSpPr>
          <p:cNvPr id="9" name="Shape 5"/>
          <p:cNvSpPr/>
          <p:nvPr/>
        </p:nvSpPr>
        <p:spPr>
          <a:xfrm>
            <a:off x="640080" y="4526280"/>
            <a:ext cx="3429000" cy="1234440"/>
          </a:xfrm>
          <a:prstGeom prst="roundRect">
            <a:avLst>
              <a:gd name="adj" fmla="val 10370"/>
            </a:avLst>
          </a:prstGeom>
          <a:solidFill>
            <a:srgbClr val="151B3A">
              <a:alpha val="92000"/>
            </a:srgbClr>
          </a:solidFill>
          <a:ln w="9525">
            <a:solidFill>
              <a:srgbClr val="3A4380"/>
            </a:solidFill>
            <a:prstDash val="solid"/>
          </a:ln>
        </p:spPr>
      </p:sp>
      <p:sp>
        <p:nvSpPr>
          <p:cNvPr id="10" name="Text 6"/>
          <p:cNvSpPr txBox="1"/>
          <p:nvPr/>
        </p:nvSpPr>
        <p:spPr>
          <a:xfrm>
            <a:off x="914400" y="4636008"/>
            <a:ext cx="27432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WATCH FOR</a:t>
            </a:r>
            <a:endParaRPr lang="en-US" sz="1300" dirty="0"/>
          </a:p>
        </p:txBody>
      </p:sp>
      <p:sp>
        <p:nvSpPr>
          <p:cNvPr id="11" name="Text 7"/>
          <p:cNvSpPr txBox="1"/>
          <p:nvPr/>
        </p:nvSpPr>
        <p:spPr>
          <a:xfrm>
            <a:off x="914400" y="4956048"/>
            <a:ext cx="2880360" cy="731520"/>
          </a:xfrm>
          <a:prstGeom prst="rect">
            <a:avLst/>
          </a:prstGeom>
          <a:noFill/>
          <a:ln/>
        </p:spPr>
        <p:txBody>
          <a:bodyPr wrap="square" lIns="0" tIns="0" rIns="0" bIns="0" rtlCol="0" anchor="ctr"/>
          <a:lstStyle/>
          <a:p>
            <a:pPr indent="0" marL="0">
              <a:buNone/>
            </a:pPr>
            <a:r>
              <a:rPr lang="en-US" sz="1700" dirty="0">
                <a:solidFill>
                  <a:srgbClr val="F2F0FF"/>
                </a:solidFill>
                <a:latin typeface="Segoe UI" pitchFamily="34" charset="0"/>
                <a:ea typeface="Segoe UI" pitchFamily="34" charset="-122"/>
                <a:cs typeface="Segoe UI" pitchFamily="34" charset="-120"/>
              </a:rPr>
              <a:t>How many stars make it into the model</a:t>
            </a:r>
            <a:endParaRPr lang="en-US" sz="1700" dirty="0"/>
          </a:p>
        </p:txBody>
      </p:sp>
      <p:sp>
        <p:nvSpPr>
          <p:cNvPr id="12" name="Shape 8"/>
          <p:cNvSpPr/>
          <p:nvPr/>
        </p:nvSpPr>
        <p:spPr>
          <a:xfrm>
            <a:off x="4381348" y="4526280"/>
            <a:ext cx="3429000" cy="1234440"/>
          </a:xfrm>
          <a:prstGeom prst="roundRect">
            <a:avLst>
              <a:gd name="adj" fmla="val 10370"/>
            </a:avLst>
          </a:prstGeom>
          <a:solidFill>
            <a:srgbClr val="151B3A">
              <a:alpha val="92000"/>
            </a:srgbClr>
          </a:solidFill>
          <a:ln w="9525">
            <a:solidFill>
              <a:srgbClr val="3A4380"/>
            </a:solidFill>
            <a:prstDash val="solid"/>
          </a:ln>
        </p:spPr>
      </p:sp>
      <p:sp>
        <p:nvSpPr>
          <p:cNvPr id="13" name="Text 9"/>
          <p:cNvSpPr txBox="1"/>
          <p:nvPr/>
        </p:nvSpPr>
        <p:spPr>
          <a:xfrm>
            <a:off x="4655668" y="4636008"/>
            <a:ext cx="27432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WATCH FOR</a:t>
            </a:r>
            <a:endParaRPr lang="en-US" sz="1300" dirty="0"/>
          </a:p>
        </p:txBody>
      </p:sp>
      <p:sp>
        <p:nvSpPr>
          <p:cNvPr id="14" name="Text 10"/>
          <p:cNvSpPr txBox="1"/>
          <p:nvPr/>
        </p:nvSpPr>
        <p:spPr>
          <a:xfrm>
            <a:off x="4655668" y="4956048"/>
            <a:ext cx="2880360" cy="731520"/>
          </a:xfrm>
          <a:prstGeom prst="rect">
            <a:avLst/>
          </a:prstGeom>
          <a:noFill/>
          <a:ln/>
        </p:spPr>
        <p:txBody>
          <a:bodyPr wrap="square" lIns="0" tIns="0" rIns="0" bIns="0" rtlCol="0" anchor="ctr"/>
          <a:lstStyle/>
          <a:p>
            <a:pPr indent="0" marL="0">
              <a:buNone/>
            </a:pPr>
            <a:r>
              <a:rPr lang="en-US" sz="1700" dirty="0">
                <a:solidFill>
                  <a:srgbClr val="F2F0FF"/>
                </a:solidFill>
                <a:latin typeface="Segoe UI" pitchFamily="34" charset="0"/>
                <a:ea typeface="Segoe UI" pitchFamily="34" charset="-122"/>
                <a:cs typeface="Segoe UI" pitchFamily="34" charset="-120"/>
              </a:rPr>
              <a:t>One focus curve per star</a:t>
            </a:r>
            <a:endParaRPr lang="en-US" sz="1700" dirty="0"/>
          </a:p>
        </p:txBody>
      </p:sp>
      <p:sp>
        <p:nvSpPr>
          <p:cNvPr id="15" name="Shape 11"/>
          <p:cNvSpPr/>
          <p:nvPr/>
        </p:nvSpPr>
        <p:spPr>
          <a:xfrm>
            <a:off x="8122615" y="4526280"/>
            <a:ext cx="3429000" cy="1234440"/>
          </a:xfrm>
          <a:prstGeom prst="roundRect">
            <a:avLst>
              <a:gd name="adj" fmla="val 10370"/>
            </a:avLst>
          </a:prstGeom>
          <a:solidFill>
            <a:srgbClr val="151B3A">
              <a:alpha val="92000"/>
            </a:srgbClr>
          </a:solidFill>
          <a:ln w="9525">
            <a:solidFill>
              <a:srgbClr val="3A4380"/>
            </a:solidFill>
            <a:prstDash val="solid"/>
          </a:ln>
        </p:spPr>
      </p:sp>
      <p:sp>
        <p:nvSpPr>
          <p:cNvPr id="16" name="Text 12"/>
          <p:cNvSpPr txBox="1"/>
          <p:nvPr/>
        </p:nvSpPr>
        <p:spPr>
          <a:xfrm>
            <a:off x="8396935" y="4636008"/>
            <a:ext cx="27432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WATCH FOR</a:t>
            </a:r>
            <a:endParaRPr lang="en-US" sz="1300" dirty="0"/>
          </a:p>
        </p:txBody>
      </p:sp>
      <p:sp>
        <p:nvSpPr>
          <p:cNvPr id="17" name="Text 13"/>
          <p:cNvSpPr txBox="1"/>
          <p:nvPr/>
        </p:nvSpPr>
        <p:spPr>
          <a:xfrm>
            <a:off x="8396935" y="4956048"/>
            <a:ext cx="2880360" cy="731520"/>
          </a:xfrm>
          <a:prstGeom prst="rect">
            <a:avLst/>
          </a:prstGeom>
          <a:noFill/>
          <a:ln/>
        </p:spPr>
        <p:txBody>
          <a:bodyPr wrap="square" lIns="0" tIns="0" rIns="0" bIns="0" rtlCol="0" anchor="ctr"/>
          <a:lstStyle/>
          <a:p>
            <a:pPr indent="0" marL="0">
              <a:buNone/>
            </a:pPr>
            <a:r>
              <a:rPr lang="en-US" sz="1700" dirty="0">
                <a:solidFill>
                  <a:srgbClr val="F2F0FF"/>
                </a:solidFill>
                <a:latin typeface="Segoe UI" pitchFamily="34" charset="0"/>
                <a:ea typeface="Segoe UI" pitchFamily="34" charset="-122"/>
                <a:cs typeface="Segoe UI" pitchFamily="34" charset="-120"/>
              </a:rPr>
              <a:t>The 3D surface: tilt and curvature, in microns</a:t>
            </a:r>
            <a:endParaRPr lang="en-US" sz="17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One fitted sensor model (demo backup)</a:t>
            </a:r>
            <a:endParaRPr lang="en-US" sz="3200" dirty="0"/>
          </a:p>
        </p:txBody>
      </p:sp>
      <p:sp>
        <p:nvSpPr>
          <p:cNvPr id="5" name="Shape 2"/>
          <p:cNvSpPr/>
          <p:nvPr/>
        </p:nvSpPr>
        <p:spPr>
          <a:xfrm>
            <a:off x="640080" y="1691640"/>
            <a:ext cx="5760720" cy="3374898"/>
          </a:xfrm>
          <a:prstGeom prst="roundRect">
            <a:avLst>
              <a:gd name="adj" fmla="val 2709"/>
            </a:avLst>
          </a:prstGeom>
          <a:solidFill>
            <a:srgbClr val="FFFFFF"/>
          </a:solidFill>
          <a:ln/>
          <a:effectLst>
            <a:outerShdw sx="100000" sy="100000" kx="0" ky="0" algn="bl" rotWithShape="0" blurRad="177800" dist="50800" dir="5400000">
              <a:srgbClr val="000000">
                <a:alpha val="45000"/>
              </a:srgbClr>
            </a:outerShdw>
          </a:effectLst>
        </p:spPr>
      </p:sp>
      <p:pic>
        <p:nvPicPr>
          <p:cNvPr id="6" name="Image 0" descr="/home/ghilios/src/hocus-focus/presentations/hocus-focus-v4/assets/doc-backup-surface.png">    </p:cNvPr>
          <p:cNvPicPr>
            <a:picLocks noChangeAspect="1"/>
          </p:cNvPicPr>
          <p:nvPr/>
        </p:nvPicPr>
        <p:blipFill>
          <a:blip r:embed="rId2"/>
          <a:stretch>
            <a:fillRect/>
          </a:stretch>
        </p:blipFill>
        <p:spPr>
          <a:xfrm>
            <a:off x="749808" y="1801368"/>
            <a:ext cx="5541264" cy="3155442"/>
          </a:xfrm>
          <a:prstGeom prst="rect">
            <a:avLst/>
          </a:prstGeom>
        </p:spPr>
      </p:pic>
      <p:sp>
        <p:nvSpPr>
          <p:cNvPr id="7" name="Shape 3"/>
          <p:cNvSpPr/>
          <p:nvPr/>
        </p:nvSpPr>
        <p:spPr>
          <a:xfrm>
            <a:off x="640080" y="5249418"/>
            <a:ext cx="420624" cy="420624"/>
          </a:xfrm>
          <a:prstGeom prst="ellipse">
            <a:avLst/>
          </a:prstGeom>
          <a:solidFill>
            <a:srgbClr val="8B5CF6"/>
          </a:solidFill>
          <a:ln/>
        </p:spPr>
      </p:sp>
      <p:sp>
        <p:nvSpPr>
          <p:cNvPr id="8" name="Text 4"/>
          <p:cNvSpPr txBox="1"/>
          <p:nvPr/>
        </p:nvSpPr>
        <p:spPr>
          <a:xfrm>
            <a:off x="640080" y="5249418"/>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1</a:t>
            </a:r>
            <a:endParaRPr lang="en-US" sz="1196" dirty="0"/>
          </a:p>
        </p:txBody>
      </p:sp>
      <p:sp>
        <p:nvSpPr>
          <p:cNvPr id="9" name="Text 5"/>
          <p:cNvSpPr txBox="1"/>
          <p:nvPr/>
        </p:nvSpPr>
        <p:spPr>
          <a:xfrm>
            <a:off x="1207008" y="5249418"/>
            <a:ext cx="5120640" cy="420624"/>
          </a:xfrm>
          <a:prstGeom prst="rect">
            <a:avLst/>
          </a:prstGeom>
          <a:noFill/>
          <a:ln/>
        </p:spPr>
        <p:txBody>
          <a:bodyPr wrap="square" lIns="0" tIns="0" rIns="0" bIns="0" rtlCol="0" anchor="ctr"/>
          <a:lstStyle/>
          <a:p>
            <a:pPr indent="0" marL="0">
              <a:buNone/>
            </a:pPr>
            <a:r>
              <a:rPr lang="en-US" sz="1700" dirty="0">
                <a:solidFill>
                  <a:srgbClr val="F2F0FF"/>
                </a:solidFill>
                <a:latin typeface="Segoe UI" pitchFamily="34" charset="0"/>
                <a:ea typeface="Segoe UI" pitchFamily="34" charset="-122"/>
                <a:cs typeface="Segoe UI" pitchFamily="34" charset="-120"/>
              </a:rPr>
              <a:t>The slope is tilt; the bowl is curvature</a:t>
            </a:r>
            <a:endParaRPr lang="en-US" sz="1700" dirty="0"/>
          </a:p>
        </p:txBody>
      </p:sp>
      <p:sp>
        <p:nvSpPr>
          <p:cNvPr id="10" name="Shape 6"/>
          <p:cNvSpPr/>
          <p:nvPr/>
        </p:nvSpPr>
        <p:spPr>
          <a:xfrm>
            <a:off x="6629400" y="1691640"/>
            <a:ext cx="4919472" cy="1213840"/>
          </a:xfrm>
          <a:prstGeom prst="roundRect">
            <a:avLst>
              <a:gd name="adj" fmla="val 7533"/>
            </a:avLst>
          </a:prstGeom>
          <a:solidFill>
            <a:srgbClr val="FFFFFF"/>
          </a:solidFill>
          <a:ln/>
          <a:effectLst>
            <a:outerShdw sx="100000" sy="100000" kx="0" ky="0" algn="bl" rotWithShape="0" blurRad="177800" dist="50800" dir="5400000">
              <a:srgbClr val="000000">
                <a:alpha val="45000"/>
              </a:srgbClr>
            </a:outerShdw>
          </a:effectLst>
        </p:spPr>
      </p:sp>
      <p:pic>
        <p:nvPicPr>
          <p:cNvPr id="11" name="Image 1" descr="/home/ghilios/src/hocus-focus/presentations/hocus-focus-v4/assets/doc-backup-properties.png">    </p:cNvPr>
          <p:cNvPicPr>
            <a:picLocks noChangeAspect="1"/>
          </p:cNvPicPr>
          <p:nvPr/>
        </p:nvPicPr>
        <p:blipFill>
          <a:blip r:embed="rId3"/>
          <a:stretch>
            <a:fillRect/>
          </a:stretch>
        </p:blipFill>
        <p:spPr>
          <a:xfrm>
            <a:off x="6739128" y="1801368"/>
            <a:ext cx="4700016" cy="994384"/>
          </a:xfrm>
          <a:prstGeom prst="rect">
            <a:avLst/>
          </a:prstGeom>
        </p:spPr>
      </p:pic>
      <p:sp>
        <p:nvSpPr>
          <p:cNvPr id="12" name="Shape 7"/>
          <p:cNvSpPr/>
          <p:nvPr/>
        </p:nvSpPr>
        <p:spPr>
          <a:xfrm>
            <a:off x="6629400" y="3042640"/>
            <a:ext cx="420624" cy="420624"/>
          </a:xfrm>
          <a:prstGeom prst="ellipse">
            <a:avLst/>
          </a:prstGeom>
          <a:solidFill>
            <a:srgbClr val="8B5CF6"/>
          </a:solidFill>
          <a:ln/>
        </p:spPr>
      </p:sp>
      <p:sp>
        <p:nvSpPr>
          <p:cNvPr id="13" name="Text 8"/>
          <p:cNvSpPr txBox="1"/>
          <p:nvPr/>
        </p:nvSpPr>
        <p:spPr>
          <a:xfrm>
            <a:off x="6629400" y="3042640"/>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2</a:t>
            </a:r>
            <a:endParaRPr lang="en-US" sz="1196" dirty="0"/>
          </a:p>
        </p:txBody>
      </p:sp>
      <p:sp>
        <p:nvSpPr>
          <p:cNvPr id="14" name="Text 9"/>
          <p:cNvSpPr txBox="1"/>
          <p:nvPr/>
        </p:nvSpPr>
        <p:spPr>
          <a:xfrm>
            <a:off x="7196328" y="3042640"/>
            <a:ext cx="4389120" cy="420624"/>
          </a:xfrm>
          <a:prstGeom prst="rect">
            <a:avLst/>
          </a:prstGeom>
          <a:noFill/>
          <a:ln/>
        </p:spPr>
        <p:txBody>
          <a:bodyPr wrap="square" lIns="0" tIns="0" rIns="0" bIns="0" rtlCol="0" anchor="ctr"/>
          <a:lstStyle/>
          <a:p>
            <a:pPr indent="0" marL="0">
              <a:buNone/>
            </a:pPr>
            <a:r>
              <a:rPr lang="en-US" sz="1600" dirty="0">
                <a:solidFill>
                  <a:srgbClr val="F2F0FF"/>
                </a:solidFill>
                <a:latin typeface="Segoe UI" pitchFamily="34" charset="0"/>
                <a:ea typeface="Segoe UI" pitchFamily="34" charset="-122"/>
                <a:cs typeface="Segoe UI" pitchFamily="34" charset="-120"/>
              </a:rPr>
              <a:t>Points in Model: the stars that survived</a:t>
            </a:r>
            <a:endParaRPr lang="en-US" sz="1600" dirty="0"/>
          </a:p>
        </p:txBody>
      </p:sp>
      <p:sp>
        <p:nvSpPr>
          <p:cNvPr id="15" name="Shape 10"/>
          <p:cNvSpPr/>
          <p:nvPr/>
        </p:nvSpPr>
        <p:spPr>
          <a:xfrm>
            <a:off x="6629400" y="3682720"/>
            <a:ext cx="1830647" cy="2011680"/>
          </a:xfrm>
          <a:prstGeom prst="roundRect">
            <a:avLst>
              <a:gd name="adj" fmla="val 4995"/>
            </a:avLst>
          </a:prstGeom>
          <a:solidFill>
            <a:srgbClr val="FFFFFF"/>
          </a:solidFill>
          <a:ln/>
          <a:effectLst>
            <a:outerShdw sx="100000" sy="100000" kx="0" ky="0" algn="bl" rotWithShape="0" blurRad="177800" dist="50800" dir="5400000">
              <a:srgbClr val="000000">
                <a:alpha val="45000"/>
              </a:srgbClr>
            </a:outerShdw>
          </a:effectLst>
        </p:spPr>
      </p:sp>
      <p:pic>
        <p:nvPicPr>
          <p:cNvPr id="16" name="Image 2" descr="/home/ghilios/src/hocus-focus/presentations/hocus-focus-v4/assets/doc-backup-checklist.png">    </p:cNvPr>
          <p:cNvPicPr>
            <a:picLocks noChangeAspect="1"/>
          </p:cNvPicPr>
          <p:nvPr/>
        </p:nvPicPr>
        <p:blipFill>
          <a:blip r:embed="rId4"/>
          <a:stretch>
            <a:fillRect/>
          </a:stretch>
        </p:blipFill>
        <p:spPr>
          <a:xfrm>
            <a:off x="6739128" y="3792448"/>
            <a:ext cx="1611191" cy="1792224"/>
          </a:xfrm>
          <a:prstGeom prst="rect">
            <a:avLst/>
          </a:prstGeom>
        </p:spPr>
      </p:pic>
      <p:sp>
        <p:nvSpPr>
          <p:cNvPr id="17" name="Shape 11"/>
          <p:cNvSpPr/>
          <p:nvPr/>
        </p:nvSpPr>
        <p:spPr>
          <a:xfrm>
            <a:off x="8734367" y="3774160"/>
            <a:ext cx="420624" cy="420624"/>
          </a:xfrm>
          <a:prstGeom prst="ellipse">
            <a:avLst/>
          </a:prstGeom>
          <a:solidFill>
            <a:srgbClr val="8B5CF6"/>
          </a:solidFill>
          <a:ln/>
        </p:spPr>
      </p:sp>
      <p:sp>
        <p:nvSpPr>
          <p:cNvPr id="18" name="Text 12"/>
          <p:cNvSpPr txBox="1"/>
          <p:nvPr/>
        </p:nvSpPr>
        <p:spPr>
          <a:xfrm>
            <a:off x="8734367" y="3774160"/>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3</a:t>
            </a:r>
            <a:endParaRPr lang="en-US" sz="1196" dirty="0"/>
          </a:p>
        </p:txBody>
      </p:sp>
      <p:sp>
        <p:nvSpPr>
          <p:cNvPr id="19" name="Text 13"/>
          <p:cNvSpPr txBox="1"/>
          <p:nvPr/>
        </p:nvSpPr>
        <p:spPr>
          <a:xfrm>
            <a:off x="9301295" y="3755872"/>
            <a:ext cx="2250320" cy="1463040"/>
          </a:xfrm>
          <a:prstGeom prst="rect">
            <a:avLst/>
          </a:prstGeom>
          <a:noFill/>
          <a:ln/>
        </p:spPr>
        <p:txBody>
          <a:bodyPr wrap="square" lIns="0" tIns="0" rIns="0" bIns="0" rtlCol="0" anchor="t"/>
          <a:lstStyle/>
          <a:p>
            <a:pPr indent="0" marL="0">
              <a:buNone/>
            </a:pPr>
            <a:r>
              <a:rPr lang="en-US" sz="1600" dirty="0">
                <a:solidFill>
                  <a:srgbClr val="F2F0FF"/>
                </a:solidFill>
                <a:latin typeface="Segoe UI" pitchFamily="34" charset="0"/>
                <a:ea typeface="Segoe UI" pitchFamily="34" charset="-122"/>
                <a:cs typeface="Segoe UI" pitchFamily="34" charset="-120"/>
              </a:rPr>
              <a:t>Each effect is graded against the critical focus zone. Here curvature passes and tilt fails.</a:t>
            </a:r>
            <a:endParaRPr lang="en-US" sz="16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9326880"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That's why there are so many settings</a:t>
            </a:r>
            <a:endParaRPr lang="en-US" sz="3200" dirty="0"/>
          </a:p>
        </p:txBody>
      </p:sp>
      <p:sp>
        <p:nvSpPr>
          <p:cNvPr id="4" name="Shape 2"/>
          <p:cNvSpPr/>
          <p:nvPr/>
        </p:nvSpPr>
        <p:spPr>
          <a:xfrm>
            <a:off x="10180015" y="768096"/>
            <a:ext cx="1371600" cy="566928"/>
          </a:xfrm>
          <a:prstGeom prst="roundRect">
            <a:avLst>
              <a:gd name="adj" fmla="val 50000"/>
            </a:avLst>
          </a:prstGeom>
          <a:solidFill>
            <a:srgbClr val="FFB020"/>
          </a:solidFill>
          <a:ln/>
          <a:effectLst>
            <a:outerShdw sx="100000" sy="100000" kx="0" ky="0" algn="bl" rotWithShape="0" blurRad="177800" dist="50800" dir="5400000">
              <a:srgbClr val="000000">
                <a:alpha val="45000"/>
              </a:srgbClr>
            </a:outerShdw>
          </a:effectLst>
        </p:spPr>
      </p:sp>
      <p:sp>
        <p:nvSpPr>
          <p:cNvPr id="5" name="Text 3"/>
          <p:cNvSpPr txBox="1"/>
          <p:nvPr/>
        </p:nvSpPr>
        <p:spPr>
          <a:xfrm>
            <a:off x="10180015" y="768096"/>
            <a:ext cx="1371600" cy="566928"/>
          </a:xfrm>
          <a:prstGeom prst="rect">
            <a:avLst/>
          </a:prstGeom>
          <a:noFill/>
          <a:ln/>
        </p:spPr>
        <p:txBody>
          <a:bodyPr wrap="square" lIns="0" tIns="0" rIns="0" bIns="0" rtlCol="0" anchor="ctr"/>
          <a:lstStyle/>
          <a:p>
            <a:pPr algn="ctr" indent="0" marL="0">
              <a:buNone/>
            </a:pPr>
            <a:r>
              <a:rPr lang="en-US" sz="2000" b="1" spc="300" kern="0" dirty="0">
                <a:solidFill>
                  <a:srgbClr val="0B1026"/>
                </a:solidFill>
                <a:latin typeface="Segoe UI Semibold" pitchFamily="34" charset="0"/>
                <a:ea typeface="Segoe UI Semibold" pitchFamily="34" charset="-122"/>
                <a:cs typeface="Segoe UI Semibold" pitchFamily="34" charset="-120"/>
              </a:rPr>
              <a:t>SNR</a:t>
            </a:r>
            <a:endParaRPr lang="en-US" sz="2000" dirty="0"/>
          </a:p>
        </p:txBody>
      </p:sp>
      <p:sp>
        <p:nvSpPr>
          <p:cNvPr id="6" name="Shape 4"/>
          <p:cNvSpPr/>
          <p:nvPr/>
        </p:nvSpPr>
        <p:spPr>
          <a:xfrm>
            <a:off x="640080" y="6108192"/>
            <a:ext cx="3708806" cy="420624"/>
          </a:xfrm>
          <a:prstGeom prst="roundRect">
            <a:avLst>
              <a:gd name="adj" fmla="val 17391"/>
            </a:avLst>
          </a:prstGeom>
          <a:solidFill>
            <a:srgbClr val="1E2650"/>
          </a:solidFill>
          <a:ln w="9525">
            <a:solidFill>
              <a:srgbClr val="3A4380"/>
            </a:solidFill>
            <a:prstDash val="solid"/>
          </a:ln>
        </p:spPr>
      </p:sp>
      <p:pic>
        <p:nvPicPr>
          <p:cNvPr id="7"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8" name="Text 5"/>
          <p:cNvSpPr txBox="1"/>
          <p:nvPr/>
        </p:nvSpPr>
        <p:spPr>
          <a:xfrm>
            <a:off x="1115568" y="6108192"/>
            <a:ext cx="3160166"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ghilios.github.io/hocus-focus/settings</a:t>
            </a:r>
            <a:endParaRPr lang="en-US" sz="1300" dirty="0"/>
          </a:p>
        </p:txBody>
      </p:sp>
      <p:sp>
        <p:nvSpPr>
          <p:cNvPr id="10" name="Shape 6"/>
          <p:cNvSpPr/>
          <p:nvPr/>
        </p:nvSpPr>
        <p:spPr>
          <a:xfrm>
            <a:off x="640080" y="1691640"/>
            <a:ext cx="2743200" cy="2908691"/>
          </a:xfrm>
          <a:prstGeom prst="roundRect">
            <a:avLst>
              <a:gd name="adj" fmla="val 3333"/>
            </a:avLst>
          </a:prstGeom>
          <a:solidFill>
            <a:srgbClr val="FFFFFF"/>
          </a:solidFill>
          <a:ln/>
          <a:effectLst>
            <a:outerShdw sx="100000" sy="100000" kx="0" ky="0" algn="bl" rotWithShape="0" blurRad="177800" dist="50800" dir="5400000">
              <a:srgbClr val="000000">
                <a:alpha val="45000"/>
              </a:srgbClr>
            </a:outerShdw>
          </a:effectLst>
        </p:spPr>
      </p:sp>
      <p:pic>
        <p:nvPicPr>
          <p:cNvPr id="11" name="Image 1" descr="/home/ghilios/src/hocus-focus/presentations/hocus-focus-v4/assets/settings-wall.png">    </p:cNvPr>
          <p:cNvPicPr>
            <a:picLocks noChangeAspect="1"/>
          </p:cNvPicPr>
          <p:nvPr/>
        </p:nvPicPr>
        <p:blipFill>
          <a:blip r:embed="rId4"/>
          <a:stretch>
            <a:fillRect/>
          </a:stretch>
        </p:blipFill>
        <p:spPr>
          <a:xfrm>
            <a:off x="749808" y="1801368"/>
            <a:ext cx="2523744" cy="2689235"/>
          </a:xfrm>
          <a:prstGeom prst="rect">
            <a:avLst/>
          </a:prstGeom>
        </p:spPr>
      </p:pic>
      <p:sp>
        <p:nvSpPr>
          <p:cNvPr id="12" name="Text 7"/>
          <p:cNvSpPr txBox="1"/>
          <p:nvPr/>
        </p:nvSpPr>
        <p:spPr>
          <a:xfrm>
            <a:off x="640080" y="4783211"/>
            <a:ext cx="2743200" cy="365760"/>
          </a:xfrm>
          <a:prstGeom prst="rect">
            <a:avLst/>
          </a:prstGeom>
          <a:noFill/>
          <a:ln/>
        </p:spPr>
        <p:txBody>
          <a:bodyPr wrap="square" lIns="0" tIns="0" rIns="0" bIns="0" rtlCol="0" anchor="t"/>
          <a:lstStyle/>
          <a:p>
            <a:pPr algn="ctr" indent="0" marL="0">
              <a:buNone/>
            </a:pPr>
            <a:r>
              <a:rPr lang="en-US" sz="1500" dirty="0">
                <a:solidFill>
                  <a:srgbClr val="B4BBE0"/>
                </a:solidFill>
                <a:latin typeface="Segoe UI" pitchFamily="34" charset="0"/>
                <a:ea typeface="Segoe UI" pitchFamily="34" charset="-122"/>
                <a:cs typeface="Segoe UI" pitchFamily="34" charset="-120"/>
              </a:rPr>
              <a:t>40+ settings, four jobs</a:t>
            </a:r>
            <a:endParaRPr lang="en-US" sz="1500" dirty="0"/>
          </a:p>
        </p:txBody>
      </p:sp>
      <p:sp>
        <p:nvSpPr>
          <p:cNvPr id="13" name="Text 8"/>
          <p:cNvSpPr txBox="1"/>
          <p:nvPr/>
        </p:nvSpPr>
        <p:spPr>
          <a:xfrm>
            <a:off x="3840480" y="1600200"/>
            <a:ext cx="7711135" cy="731520"/>
          </a:xfrm>
          <a:prstGeom prst="rect">
            <a:avLst/>
          </a:prstGeom>
          <a:noFill/>
          <a:ln/>
        </p:spPr>
        <p:txBody>
          <a:bodyPr wrap="square" lIns="0" tIns="0" rIns="0" bIns="0" rtlCol="0" anchor="ctr"/>
          <a:lstStyle/>
          <a:p>
            <a:pPr indent="0" marL="0">
              <a:buNone/>
            </a:pPr>
            <a:r>
              <a:rPr lang="en-US" sz="3000" dirty="0">
                <a:solidFill>
                  <a:srgbClr val="FFB020"/>
                </a:solidFill>
                <a:latin typeface="Segoe UI Semibold" pitchFamily="34" charset="0"/>
                <a:ea typeface="Segoe UI Semibold" pitchFamily="34" charset="-122"/>
                <a:cs typeface="Segoe UI Semibold" pitchFamily="34" charset="-120"/>
              </a:rPr>
              <a:t>Every optical system is different</a:t>
            </a:r>
            <a:endParaRPr lang="en-US" sz="3000" dirty="0"/>
          </a:p>
        </p:txBody>
      </p:sp>
      <p:sp>
        <p:nvSpPr>
          <p:cNvPr id="14" name="Text 9"/>
          <p:cNvSpPr txBox="1"/>
          <p:nvPr/>
        </p:nvSpPr>
        <p:spPr>
          <a:xfrm>
            <a:off x="3840480" y="2377440"/>
            <a:ext cx="7711135" cy="777240"/>
          </a:xfrm>
          <a:prstGeom prst="rect">
            <a:avLst/>
          </a:prstGeom>
          <a:noFill/>
          <a:ln/>
        </p:spPr>
        <p:txBody>
          <a:bodyPr wrap="square" lIns="0" tIns="0" rIns="0" bIns="0" rtlCol="0" anchor="t"/>
          <a:lstStyle/>
          <a:p>
            <a:pPr indent="0" marL="0">
              <a:buNone/>
            </a:pPr>
            <a:r>
              <a:rPr lang="en-US" sz="1700" dirty="0">
                <a:solidFill>
                  <a:srgbClr val="F2F0FF"/>
                </a:solidFill>
                <a:latin typeface="Segoe UI" pitchFamily="34" charset="0"/>
                <a:ea typeface="Segoe UI" pitchFamily="34" charset="-122"/>
                <a:cs typeface="Segoe UI" pitchFamily="34" charset="-120"/>
              </a:rPr>
              <a:t>One-size-fits-all detection works most of the time for autofocus. It isn't precise enough for a sensor model.</a:t>
            </a:r>
            <a:endParaRPr lang="en-US" sz="1700" dirty="0"/>
          </a:p>
        </p:txBody>
      </p:sp>
      <p:sp>
        <p:nvSpPr>
          <p:cNvPr id="15" name="Shape 10"/>
          <p:cNvSpPr/>
          <p:nvPr/>
        </p:nvSpPr>
        <p:spPr>
          <a:xfrm>
            <a:off x="3840480" y="3291840"/>
            <a:ext cx="1790624" cy="658368"/>
          </a:xfrm>
          <a:prstGeom prst="roundRect">
            <a:avLst>
              <a:gd name="adj" fmla="val 19444"/>
            </a:avLst>
          </a:prstGeom>
          <a:solidFill>
            <a:srgbClr val="151B3A">
              <a:alpha val="92000"/>
            </a:srgbClr>
          </a:solidFill>
          <a:ln w="9525">
            <a:solidFill>
              <a:srgbClr val="3A4380"/>
            </a:solidFill>
            <a:prstDash val="solid"/>
          </a:ln>
        </p:spPr>
      </p:sp>
      <p:sp>
        <p:nvSpPr>
          <p:cNvPr id="16" name="Shape 11"/>
          <p:cNvSpPr/>
          <p:nvPr/>
        </p:nvSpPr>
        <p:spPr>
          <a:xfrm>
            <a:off x="3977640" y="3410712"/>
            <a:ext cx="420624" cy="420624"/>
          </a:xfrm>
          <a:prstGeom prst="ellipse">
            <a:avLst/>
          </a:prstGeom>
          <a:solidFill>
            <a:srgbClr val="8B5CF6"/>
          </a:solidFill>
          <a:ln/>
        </p:spPr>
      </p:sp>
      <p:pic>
        <p:nvPicPr>
          <p:cNvPr id="17" name="Image 2" descr="/home/ghilios/src/hocus-focus/presentations/hocus-focus-v4/assets/icon-search.png">    </p:cNvPr>
          <p:cNvPicPr>
            <a:picLocks noChangeAspect="1"/>
          </p:cNvPicPr>
          <p:nvPr/>
        </p:nvPicPr>
        <p:blipFill>
          <a:blip r:embed="rId5"/>
          <a:stretch>
            <a:fillRect/>
          </a:stretch>
        </p:blipFill>
        <p:spPr>
          <a:xfrm>
            <a:off x="4087368" y="3520440"/>
            <a:ext cx="201168" cy="201168"/>
          </a:xfrm>
          <a:prstGeom prst="rect">
            <a:avLst/>
          </a:prstGeom>
        </p:spPr>
      </p:pic>
      <p:sp>
        <p:nvSpPr>
          <p:cNvPr id="18" name="Text 12"/>
          <p:cNvSpPr txBox="1"/>
          <p:nvPr/>
        </p:nvSpPr>
        <p:spPr>
          <a:xfrm>
            <a:off x="4498848" y="3291840"/>
            <a:ext cx="1059104" cy="658368"/>
          </a:xfrm>
          <a:prstGeom prst="rect">
            <a:avLst/>
          </a:prstGeom>
          <a:noFill/>
          <a:ln/>
        </p:spPr>
        <p:txBody>
          <a:bodyPr wrap="square" lIns="0" tIns="0" rIns="0" bIns="0" rtlCol="0" anchor="ctr"/>
          <a:lstStyle/>
          <a:p>
            <a:pPr indent="0" marL="0">
              <a:buNone/>
            </a:pPr>
            <a:r>
              <a:rPr lang="en-US" sz="1500" dirty="0">
                <a:solidFill>
                  <a:srgbClr val="F2F0FF"/>
                </a:solidFill>
                <a:latin typeface="Segoe UI Semibold" pitchFamily="34" charset="0"/>
                <a:ea typeface="Segoe UI Semibold" pitchFamily="34" charset="-122"/>
                <a:cs typeface="Segoe UI Semibold" pitchFamily="34" charset="-120"/>
              </a:rPr>
              <a:t>Find faint stars</a:t>
            </a:r>
            <a:endParaRPr lang="en-US" sz="1500" dirty="0"/>
          </a:p>
        </p:txBody>
      </p:sp>
      <p:sp>
        <p:nvSpPr>
          <p:cNvPr id="19" name="Shape 13"/>
          <p:cNvSpPr/>
          <p:nvPr/>
        </p:nvSpPr>
        <p:spPr>
          <a:xfrm>
            <a:off x="5813984" y="3291840"/>
            <a:ext cx="1790624" cy="658368"/>
          </a:xfrm>
          <a:prstGeom prst="roundRect">
            <a:avLst>
              <a:gd name="adj" fmla="val 19444"/>
            </a:avLst>
          </a:prstGeom>
          <a:solidFill>
            <a:srgbClr val="151B3A">
              <a:alpha val="92000"/>
            </a:srgbClr>
          </a:solidFill>
          <a:ln w="9525">
            <a:solidFill>
              <a:srgbClr val="3A4380"/>
            </a:solidFill>
            <a:prstDash val="solid"/>
          </a:ln>
        </p:spPr>
      </p:sp>
      <p:sp>
        <p:nvSpPr>
          <p:cNvPr id="20" name="Shape 14"/>
          <p:cNvSpPr/>
          <p:nvPr/>
        </p:nvSpPr>
        <p:spPr>
          <a:xfrm>
            <a:off x="5951144" y="3410712"/>
            <a:ext cx="420624" cy="420624"/>
          </a:xfrm>
          <a:prstGeom prst="ellipse">
            <a:avLst/>
          </a:prstGeom>
          <a:solidFill>
            <a:srgbClr val="8B5CF6"/>
          </a:solidFill>
          <a:ln/>
        </p:spPr>
      </p:sp>
      <p:pic>
        <p:nvPicPr>
          <p:cNvPr id="21" name="Image 3" descr="/home/ghilios/src/hocus-focus/presentations/hocus-focus-v4/assets/icon-ring.png">    </p:cNvPr>
          <p:cNvPicPr>
            <a:picLocks noChangeAspect="1"/>
          </p:cNvPicPr>
          <p:nvPr/>
        </p:nvPicPr>
        <p:blipFill>
          <a:blip r:embed="rId6"/>
          <a:stretch>
            <a:fillRect/>
          </a:stretch>
        </p:blipFill>
        <p:spPr>
          <a:xfrm>
            <a:off x="6060872" y="3520440"/>
            <a:ext cx="201168" cy="201168"/>
          </a:xfrm>
          <a:prstGeom prst="rect">
            <a:avLst/>
          </a:prstGeom>
        </p:spPr>
      </p:pic>
      <p:sp>
        <p:nvSpPr>
          <p:cNvPr id="22" name="Text 15"/>
          <p:cNvSpPr txBox="1"/>
          <p:nvPr/>
        </p:nvSpPr>
        <p:spPr>
          <a:xfrm>
            <a:off x="6472352" y="3291840"/>
            <a:ext cx="1059104" cy="658368"/>
          </a:xfrm>
          <a:prstGeom prst="rect">
            <a:avLst/>
          </a:prstGeom>
          <a:noFill/>
          <a:ln/>
        </p:spPr>
        <p:txBody>
          <a:bodyPr wrap="square" lIns="0" tIns="0" rIns="0" bIns="0" rtlCol="0" anchor="ctr"/>
          <a:lstStyle/>
          <a:p>
            <a:pPr indent="0" marL="0">
              <a:buNone/>
            </a:pPr>
            <a:r>
              <a:rPr lang="en-US" sz="1500" dirty="0">
                <a:solidFill>
                  <a:srgbClr val="F2F0FF"/>
                </a:solidFill>
                <a:latin typeface="Segoe UI Semibold" pitchFamily="34" charset="0"/>
                <a:ea typeface="Segoe UI Semibold" pitchFamily="34" charset="-122"/>
                <a:cs typeface="Segoe UI Semibold" pitchFamily="34" charset="-120"/>
              </a:rPr>
              <a:t>Survive defocus</a:t>
            </a:r>
            <a:endParaRPr lang="en-US" sz="1500" dirty="0"/>
          </a:p>
        </p:txBody>
      </p:sp>
      <p:sp>
        <p:nvSpPr>
          <p:cNvPr id="23" name="Shape 16"/>
          <p:cNvSpPr/>
          <p:nvPr/>
        </p:nvSpPr>
        <p:spPr>
          <a:xfrm>
            <a:off x="7787488" y="3291840"/>
            <a:ext cx="1790624" cy="658368"/>
          </a:xfrm>
          <a:prstGeom prst="roundRect">
            <a:avLst>
              <a:gd name="adj" fmla="val 19444"/>
            </a:avLst>
          </a:prstGeom>
          <a:solidFill>
            <a:srgbClr val="151B3A">
              <a:alpha val="92000"/>
            </a:srgbClr>
          </a:solidFill>
          <a:ln w="9525">
            <a:solidFill>
              <a:srgbClr val="3A4380"/>
            </a:solidFill>
            <a:prstDash val="solid"/>
          </a:ln>
        </p:spPr>
      </p:sp>
      <p:sp>
        <p:nvSpPr>
          <p:cNvPr id="24" name="Shape 17"/>
          <p:cNvSpPr/>
          <p:nvPr/>
        </p:nvSpPr>
        <p:spPr>
          <a:xfrm>
            <a:off x="7924648" y="3410712"/>
            <a:ext cx="420624" cy="420624"/>
          </a:xfrm>
          <a:prstGeom prst="ellipse">
            <a:avLst/>
          </a:prstGeom>
          <a:solidFill>
            <a:srgbClr val="8B5CF6"/>
          </a:solidFill>
          <a:ln/>
        </p:spPr>
      </p:sp>
      <p:pic>
        <p:nvPicPr>
          <p:cNvPr id="25" name="Image 4" descr="/home/ghilios/src/hocus-focus/presentations/hocus-focus-v4/assets/icon-filter.png">    </p:cNvPr>
          <p:cNvPicPr>
            <a:picLocks noChangeAspect="1"/>
          </p:cNvPicPr>
          <p:nvPr/>
        </p:nvPicPr>
        <p:blipFill>
          <a:blip r:embed="rId7"/>
          <a:stretch>
            <a:fillRect/>
          </a:stretch>
        </p:blipFill>
        <p:spPr>
          <a:xfrm>
            <a:off x="8034376" y="3520440"/>
            <a:ext cx="201168" cy="201168"/>
          </a:xfrm>
          <a:prstGeom prst="rect">
            <a:avLst/>
          </a:prstGeom>
        </p:spPr>
      </p:pic>
      <p:sp>
        <p:nvSpPr>
          <p:cNvPr id="26" name="Text 18"/>
          <p:cNvSpPr txBox="1"/>
          <p:nvPr/>
        </p:nvSpPr>
        <p:spPr>
          <a:xfrm>
            <a:off x="8445856" y="3291840"/>
            <a:ext cx="1059104" cy="658368"/>
          </a:xfrm>
          <a:prstGeom prst="rect">
            <a:avLst/>
          </a:prstGeom>
          <a:noFill/>
          <a:ln/>
        </p:spPr>
        <p:txBody>
          <a:bodyPr wrap="square" lIns="0" tIns="0" rIns="0" bIns="0" rtlCol="0" anchor="ctr"/>
          <a:lstStyle/>
          <a:p>
            <a:pPr indent="0" marL="0">
              <a:buNone/>
            </a:pPr>
            <a:r>
              <a:rPr lang="en-US" sz="1500" dirty="0">
                <a:solidFill>
                  <a:srgbClr val="F2F0FF"/>
                </a:solidFill>
                <a:latin typeface="Segoe UI Semibold" pitchFamily="34" charset="0"/>
                <a:ea typeface="Segoe UI Semibold" pitchFamily="34" charset="-122"/>
                <a:cs typeface="Segoe UI Semibold" pitchFamily="34" charset="-120"/>
              </a:rPr>
              <a:t>Reject junk</a:t>
            </a:r>
            <a:endParaRPr lang="en-US" sz="1500" dirty="0"/>
          </a:p>
        </p:txBody>
      </p:sp>
      <p:sp>
        <p:nvSpPr>
          <p:cNvPr id="27" name="Shape 19"/>
          <p:cNvSpPr/>
          <p:nvPr/>
        </p:nvSpPr>
        <p:spPr>
          <a:xfrm>
            <a:off x="9760991" y="3291840"/>
            <a:ext cx="1790624" cy="658368"/>
          </a:xfrm>
          <a:prstGeom prst="roundRect">
            <a:avLst>
              <a:gd name="adj" fmla="val 19444"/>
            </a:avLst>
          </a:prstGeom>
          <a:solidFill>
            <a:srgbClr val="151B3A">
              <a:alpha val="92000"/>
            </a:srgbClr>
          </a:solidFill>
          <a:ln w="9525">
            <a:solidFill>
              <a:srgbClr val="3A4380"/>
            </a:solidFill>
            <a:prstDash val="solid"/>
          </a:ln>
        </p:spPr>
      </p:sp>
      <p:sp>
        <p:nvSpPr>
          <p:cNvPr id="28" name="Shape 20"/>
          <p:cNvSpPr/>
          <p:nvPr/>
        </p:nvSpPr>
        <p:spPr>
          <a:xfrm>
            <a:off x="9898151" y="3410712"/>
            <a:ext cx="420624" cy="420624"/>
          </a:xfrm>
          <a:prstGeom prst="ellipse">
            <a:avLst/>
          </a:prstGeom>
          <a:solidFill>
            <a:srgbClr val="8B5CF6"/>
          </a:solidFill>
          <a:ln/>
        </p:spPr>
      </p:sp>
      <p:pic>
        <p:nvPicPr>
          <p:cNvPr id="29" name="Image 5" descr="/home/ghilios/src/hocus-focus/presentations/hocus-focus-v4/assets/icon-ruler.png">    </p:cNvPr>
          <p:cNvPicPr>
            <a:picLocks noChangeAspect="1"/>
          </p:cNvPicPr>
          <p:nvPr/>
        </p:nvPicPr>
        <p:blipFill>
          <a:blip r:embed="rId8"/>
          <a:stretch>
            <a:fillRect/>
          </a:stretch>
        </p:blipFill>
        <p:spPr>
          <a:xfrm>
            <a:off x="10007879" y="3520440"/>
            <a:ext cx="201168" cy="201168"/>
          </a:xfrm>
          <a:prstGeom prst="rect">
            <a:avLst/>
          </a:prstGeom>
        </p:spPr>
      </p:pic>
      <p:sp>
        <p:nvSpPr>
          <p:cNvPr id="30" name="Text 21"/>
          <p:cNvSpPr txBox="1"/>
          <p:nvPr/>
        </p:nvSpPr>
        <p:spPr>
          <a:xfrm>
            <a:off x="10419359" y="3291840"/>
            <a:ext cx="1059104" cy="658368"/>
          </a:xfrm>
          <a:prstGeom prst="rect">
            <a:avLst/>
          </a:prstGeom>
          <a:noFill/>
          <a:ln/>
        </p:spPr>
        <p:txBody>
          <a:bodyPr wrap="square" lIns="0" tIns="0" rIns="0" bIns="0" rtlCol="0" anchor="ctr"/>
          <a:lstStyle/>
          <a:p>
            <a:pPr indent="0" marL="0">
              <a:buNone/>
            </a:pPr>
            <a:r>
              <a:rPr lang="en-US" sz="1500" dirty="0">
                <a:solidFill>
                  <a:srgbClr val="F2F0FF"/>
                </a:solidFill>
                <a:latin typeface="Segoe UI Semibold" pitchFamily="34" charset="0"/>
                <a:ea typeface="Segoe UI Semibold" pitchFamily="34" charset="-122"/>
                <a:cs typeface="Segoe UI Semibold" pitchFamily="34" charset="-120"/>
              </a:rPr>
              <a:t>Measure precisely</a:t>
            </a:r>
            <a:endParaRPr lang="en-US" sz="1500" dirty="0"/>
          </a:p>
        </p:txBody>
      </p:sp>
      <p:sp>
        <p:nvSpPr>
          <p:cNvPr id="31" name="Text 22"/>
          <p:cNvSpPr txBox="1"/>
          <p:nvPr/>
        </p:nvSpPr>
        <p:spPr>
          <a:xfrm>
            <a:off x="3840480" y="4114800"/>
            <a:ext cx="7711135" cy="685800"/>
          </a:xfrm>
          <a:prstGeom prst="rect">
            <a:avLst/>
          </a:prstGeom>
          <a:noFill/>
          <a:ln/>
        </p:spPr>
        <p:txBody>
          <a:bodyPr wrap="square" lIns="0" tIns="0" rIns="0" bIns="0" rtlCol="0" anchor="t"/>
          <a:lstStyle/>
          <a:p>
            <a:pPr indent="0" marL="0">
              <a:buNone/>
            </a:pPr>
            <a:r>
              <a:rPr lang="en-US" sz="1600" dirty="0">
                <a:solidFill>
                  <a:srgbClr val="B4BBE0"/>
                </a:solidFill>
                <a:latin typeface="Segoe UI" pitchFamily="34" charset="0"/>
                <a:ea typeface="Segoe UI" pitchFamily="34" charset="-122"/>
                <a:cs typeface="Segoe UI" pitchFamily="34" charset="-120"/>
              </a:rPr>
              <a:t>Each of these settings exists because I found a real difference between real setups. None was added on a hunch.</a:t>
            </a:r>
            <a:endParaRPr lang="en-US" sz="1600" dirty="0"/>
          </a:p>
        </p:txBody>
      </p:sp>
      <p:sp>
        <p:nvSpPr>
          <p:cNvPr id="32" name="Shape 23"/>
          <p:cNvSpPr/>
          <p:nvPr/>
        </p:nvSpPr>
        <p:spPr>
          <a:xfrm>
            <a:off x="3840480" y="4892040"/>
            <a:ext cx="7711135" cy="960120"/>
          </a:xfrm>
          <a:prstGeom prst="roundRect">
            <a:avLst>
              <a:gd name="adj" fmla="val 13333"/>
            </a:avLst>
          </a:prstGeom>
          <a:solidFill>
            <a:srgbClr val="1E2650"/>
          </a:solidFill>
          <a:ln w="19050">
            <a:solidFill>
              <a:srgbClr val="FFB020"/>
            </a:solidFill>
            <a:prstDash val="solid"/>
          </a:ln>
        </p:spPr>
      </p:sp>
      <p:sp>
        <p:nvSpPr>
          <p:cNvPr id="33" name="Text 24"/>
          <p:cNvSpPr txBox="1"/>
          <p:nvPr/>
        </p:nvSpPr>
        <p:spPr>
          <a:xfrm>
            <a:off x="4114800" y="4983480"/>
            <a:ext cx="5486400" cy="292608"/>
          </a:xfrm>
          <a:prstGeom prst="rect">
            <a:avLst/>
          </a:prstGeom>
          <a:noFill/>
          <a:ln/>
        </p:spPr>
        <p:txBody>
          <a:bodyPr wrap="square" lIns="0" tIns="0" rIns="0" bIns="0" rtlCol="0" anchor="ctr"/>
          <a:lstStyle/>
          <a:p>
            <a:pPr indent="0" marL="0">
              <a:buNone/>
            </a:pPr>
            <a:r>
              <a:rPr lang="en-US" sz="1300" b="1" spc="300" kern="0" dirty="0">
                <a:solidFill>
                  <a:srgbClr val="FFB020"/>
                </a:solidFill>
                <a:latin typeface="Segoe UI" pitchFamily="34" charset="0"/>
                <a:ea typeface="Segoe UI" pitchFamily="34" charset="-122"/>
                <a:cs typeface="Segoe UI" pitchFamily="34" charset="-120"/>
              </a:rPr>
              <a:t>FOR EVERYONE, NOT JUST TILT</a:t>
            </a:r>
            <a:endParaRPr lang="en-US" sz="1300" dirty="0"/>
          </a:p>
        </p:txBody>
      </p:sp>
      <p:sp>
        <p:nvSpPr>
          <p:cNvPr id="34" name="Text 25"/>
          <p:cNvSpPr txBox="1"/>
          <p:nvPr/>
        </p:nvSpPr>
        <p:spPr>
          <a:xfrm>
            <a:off x="4114800" y="5303520"/>
            <a:ext cx="7162495" cy="502920"/>
          </a:xfrm>
          <a:prstGeom prst="rect">
            <a:avLst/>
          </a:prstGeom>
          <a:noFill/>
          <a:ln/>
        </p:spPr>
        <p:txBody>
          <a:bodyPr wrap="square" lIns="0" tIns="0" rIns="0" bIns="0" rtlCol="0" anchor="ctr"/>
          <a:lstStyle/>
          <a:p>
            <a:pPr indent="0" marL="0">
              <a:buNone/>
            </a:pPr>
            <a:r>
              <a:rPr lang="en-US" sz="1600" dirty="0">
                <a:solidFill>
                  <a:srgbClr val="F2F0FF"/>
                </a:solidFill>
                <a:latin typeface="Segoe UI" pitchFamily="34" charset="0"/>
                <a:ea typeface="Segoe UI" pitchFamily="34" charset="-122"/>
                <a:cs typeface="Segoe UI" pitchFamily="34" charset="-120"/>
              </a:rPr>
              <a:t>A properly tuned detector pins down best focus with very low error. That error is now reported with every autofocus result.</a:t>
            </a:r>
            <a:endParaRPr lang="en-US" sz="16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9326880"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“Signal Amplification”: more frames, more signal</a:t>
            </a:r>
            <a:endParaRPr lang="en-US" sz="3200" dirty="0"/>
          </a:p>
        </p:txBody>
      </p:sp>
      <p:sp>
        <p:nvSpPr>
          <p:cNvPr id="4" name="Shape 2"/>
          <p:cNvSpPr/>
          <p:nvPr/>
        </p:nvSpPr>
        <p:spPr>
          <a:xfrm>
            <a:off x="10180015" y="768096"/>
            <a:ext cx="1371600" cy="566928"/>
          </a:xfrm>
          <a:prstGeom prst="roundRect">
            <a:avLst>
              <a:gd name="adj" fmla="val 50000"/>
            </a:avLst>
          </a:prstGeom>
          <a:solidFill>
            <a:srgbClr val="FFB020"/>
          </a:solidFill>
          <a:ln/>
          <a:effectLst>
            <a:outerShdw sx="100000" sy="100000" kx="0" ky="0" algn="bl" rotWithShape="0" blurRad="177800" dist="50800" dir="5400000">
              <a:srgbClr val="000000">
                <a:alpha val="45000"/>
              </a:srgbClr>
            </a:outerShdw>
          </a:effectLst>
        </p:spPr>
      </p:sp>
      <p:sp>
        <p:nvSpPr>
          <p:cNvPr id="5" name="Text 3"/>
          <p:cNvSpPr txBox="1"/>
          <p:nvPr/>
        </p:nvSpPr>
        <p:spPr>
          <a:xfrm>
            <a:off x="10180015" y="768096"/>
            <a:ext cx="1371600" cy="566928"/>
          </a:xfrm>
          <a:prstGeom prst="rect">
            <a:avLst/>
          </a:prstGeom>
          <a:noFill/>
          <a:ln/>
        </p:spPr>
        <p:txBody>
          <a:bodyPr wrap="square" lIns="0" tIns="0" rIns="0" bIns="0" rtlCol="0" anchor="ctr"/>
          <a:lstStyle/>
          <a:p>
            <a:pPr algn="ctr" indent="0" marL="0">
              <a:buNone/>
            </a:pPr>
            <a:r>
              <a:rPr lang="en-US" sz="2000" b="1" spc="300" kern="0" dirty="0">
                <a:solidFill>
                  <a:srgbClr val="0B1026"/>
                </a:solidFill>
                <a:latin typeface="Segoe UI Semibold" pitchFamily="34" charset="0"/>
                <a:ea typeface="Segoe UI Semibold" pitchFamily="34" charset="-122"/>
                <a:cs typeface="Segoe UI Semibold" pitchFamily="34" charset="-120"/>
              </a:rPr>
              <a:t>SNR</a:t>
            </a:r>
            <a:endParaRPr lang="en-US" sz="2000" dirty="0"/>
          </a:p>
        </p:txBody>
      </p:sp>
      <p:sp>
        <p:nvSpPr>
          <p:cNvPr id="6" name="Shape 4"/>
          <p:cNvSpPr/>
          <p:nvPr/>
        </p:nvSpPr>
        <p:spPr>
          <a:xfrm>
            <a:off x="640080" y="6108192"/>
            <a:ext cx="5777179" cy="420624"/>
          </a:xfrm>
          <a:prstGeom prst="roundRect">
            <a:avLst>
              <a:gd name="adj" fmla="val 17391"/>
            </a:avLst>
          </a:prstGeom>
          <a:solidFill>
            <a:srgbClr val="1E2650"/>
          </a:solidFill>
          <a:ln w="9525">
            <a:solidFill>
              <a:srgbClr val="3A4380"/>
            </a:solidFill>
            <a:prstDash val="solid"/>
          </a:ln>
        </p:spPr>
      </p:sp>
      <p:pic>
        <p:nvPicPr>
          <p:cNvPr id="7"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8" name="Text 5"/>
          <p:cNvSpPr txBox="1"/>
          <p:nvPr/>
        </p:nvSpPr>
        <p:spPr>
          <a:xfrm>
            <a:off x="1115568" y="6108192"/>
            <a:ext cx="5228539"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ghilios.github.io/hocus-focus/overview/tilt-aberration-inspector</a:t>
            </a:r>
            <a:endParaRPr lang="en-US" sz="1300" dirty="0"/>
          </a:p>
        </p:txBody>
      </p:sp>
      <p:pic>
        <p:nvPicPr>
          <p:cNvPr id="10" name="Image 1" descr="/home/ghilios/src/hocus-focus/presentations/hocus-focus-v4/assets/art-sigamp.png">    </p:cNvPr>
          <p:cNvPicPr>
            <a:picLocks noChangeAspect="1"/>
          </p:cNvPicPr>
          <p:nvPr/>
        </p:nvPicPr>
        <p:blipFill>
          <a:blip r:embed="rId4"/>
          <a:stretch>
            <a:fillRect/>
          </a:stretch>
        </p:blipFill>
        <p:spPr>
          <a:xfrm>
            <a:off x="640080" y="1691640"/>
            <a:ext cx="6766560" cy="2250986"/>
          </a:xfrm>
          <a:prstGeom prst="rect">
            <a:avLst/>
          </a:prstGeom>
        </p:spPr>
      </p:pic>
      <p:sp>
        <p:nvSpPr>
          <p:cNvPr id="11" name="Text 6"/>
          <p:cNvSpPr txBox="1"/>
          <p:nvPr/>
        </p:nvSpPr>
        <p:spPr>
          <a:xfrm>
            <a:off x="640080" y="4015778"/>
            <a:ext cx="2973185" cy="347472"/>
          </a:xfrm>
          <a:prstGeom prst="rect">
            <a:avLst/>
          </a:prstGeom>
          <a:noFill/>
          <a:ln/>
        </p:spPr>
        <p:txBody>
          <a:bodyPr wrap="square" lIns="0" tIns="0" rIns="0" bIns="0" rtlCol="0" anchor="ctr"/>
          <a:lstStyle/>
          <a:p>
            <a:pPr algn="ctr" indent="0" marL="0">
              <a:buNone/>
            </a:pPr>
            <a:r>
              <a:rPr lang="en-US" sz="1500" dirty="0">
                <a:solidFill>
                  <a:srgbClr val="B4BBE0"/>
                </a:solidFill>
                <a:latin typeface="Segoe UI" pitchFamily="34" charset="0"/>
                <a:ea typeface="Segoe UI" pitchFamily="34" charset="-122"/>
                <a:cs typeface="Segoe UI" pitchFamily="34" charset="-120"/>
              </a:rPr>
              <a:t>Normal sweep</a:t>
            </a:r>
            <a:endParaRPr lang="en-US" sz="1500" dirty="0"/>
          </a:p>
        </p:txBody>
      </p:sp>
      <p:sp>
        <p:nvSpPr>
          <p:cNvPr id="12" name="Text 7"/>
          <p:cNvSpPr txBox="1"/>
          <p:nvPr/>
        </p:nvSpPr>
        <p:spPr>
          <a:xfrm>
            <a:off x="640080" y="4354106"/>
            <a:ext cx="2973185" cy="292608"/>
          </a:xfrm>
          <a:prstGeom prst="rect">
            <a:avLst/>
          </a:prstGeom>
          <a:noFill/>
          <a:ln/>
        </p:spPr>
        <p:txBody>
          <a:bodyPr wrap="square" lIns="0" tIns="0" rIns="0" bIns="0" rtlCol="0" anchor="t"/>
          <a:lstStyle/>
          <a:p>
            <a:pPr algn="ctr" indent="0" marL="0">
              <a:buNone/>
            </a:pPr>
            <a:r>
              <a:rPr lang="en-US" sz="1400" dirty="0">
                <a:solidFill>
                  <a:srgbClr val="8088B8"/>
                </a:solidFill>
                <a:latin typeface="Segoe UI" pitchFamily="34" charset="0"/>
                <a:ea typeface="Segoe UI" pitchFamily="34" charset="-122"/>
                <a:cs typeface="Segoe UI" pitchFamily="34" charset="-120"/>
              </a:rPr>
              <a:t>star size vs. focuser position</a:t>
            </a:r>
            <a:endParaRPr lang="en-US" sz="1400" dirty="0"/>
          </a:p>
        </p:txBody>
      </p:sp>
      <p:sp>
        <p:nvSpPr>
          <p:cNvPr id="13" name="Text 8"/>
          <p:cNvSpPr txBox="1"/>
          <p:nvPr/>
        </p:nvSpPr>
        <p:spPr>
          <a:xfrm>
            <a:off x="3610495" y="4015778"/>
            <a:ext cx="4161905" cy="347472"/>
          </a:xfrm>
          <a:prstGeom prst="rect">
            <a:avLst/>
          </a:prstGeom>
          <a:noFill/>
          <a:ln/>
        </p:spPr>
        <p:txBody>
          <a:bodyPr wrap="square" lIns="0" tIns="0" rIns="0" bIns="0" rtlCol="0" anchor="ctr"/>
          <a:lstStyle/>
          <a:p>
            <a:pPr algn="ctr" indent="0" marL="0">
              <a:buNone/>
            </a:pPr>
            <a:r>
              <a:rPr lang="en-US" sz="1500" b="1" dirty="0">
                <a:solidFill>
                  <a:srgbClr val="FFB020"/>
                </a:solidFill>
                <a:latin typeface="Segoe UI" pitchFamily="34" charset="0"/>
                <a:ea typeface="Segoe UI" pitchFamily="34" charset="-122"/>
                <a:cs typeface="Segoe UI" pitchFamily="34" charset="-120"/>
              </a:rPr>
              <a:t>2×</a:t>
            </a:r>
            <a:pPr algn="ctr" indent="0" marL="0">
              <a:buNone/>
            </a:pPr>
            <a:r>
              <a:rPr lang="en-US" sz="1500" dirty="0">
                <a:solidFill>
                  <a:srgbClr val="B4BBE0"/>
                </a:solidFill>
                <a:latin typeface="Segoe UI" pitchFamily="34" charset="0"/>
                <a:ea typeface="Segoe UI" pitchFamily="34" charset="-122"/>
                <a:cs typeface="Segoe UI" pitchFamily="34" charset="-120"/>
              </a:rPr>
              <a:t>: same range, half the step, twice the frames</a:t>
            </a:r>
            <a:endParaRPr lang="en-US" sz="1500" dirty="0"/>
          </a:p>
        </p:txBody>
      </p:sp>
      <p:sp>
        <p:nvSpPr>
          <p:cNvPr id="14" name="Shape 9"/>
          <p:cNvSpPr/>
          <p:nvPr/>
        </p:nvSpPr>
        <p:spPr>
          <a:xfrm>
            <a:off x="640080" y="5074920"/>
            <a:ext cx="4480560" cy="568092"/>
          </a:xfrm>
          <a:prstGeom prst="roundRect">
            <a:avLst>
              <a:gd name="adj" fmla="val 16096"/>
            </a:avLst>
          </a:prstGeom>
          <a:solidFill>
            <a:srgbClr val="FFFFFF"/>
          </a:solidFill>
          <a:ln/>
          <a:effectLst>
            <a:outerShdw sx="100000" sy="100000" kx="0" ky="0" algn="bl" rotWithShape="0" blurRad="177800" dist="50800" dir="5400000">
              <a:srgbClr val="000000">
                <a:alpha val="45000"/>
              </a:srgbClr>
            </a:outerShdw>
          </a:effectLst>
        </p:spPr>
      </p:sp>
      <p:pic>
        <p:nvPicPr>
          <p:cNvPr id="15" name="Image 2" descr="/home/ghilios/src/hocus-focus/presentations/hocus-focus-v4/assets/doc-wizard-sigamp.png">    </p:cNvPr>
          <p:cNvPicPr>
            <a:picLocks noChangeAspect="1"/>
          </p:cNvPicPr>
          <p:nvPr/>
        </p:nvPicPr>
        <p:blipFill>
          <a:blip r:embed="rId5"/>
          <a:stretch>
            <a:fillRect/>
          </a:stretch>
        </p:blipFill>
        <p:spPr>
          <a:xfrm>
            <a:off x="749808" y="5184648"/>
            <a:ext cx="4261104" cy="348636"/>
          </a:xfrm>
          <a:prstGeom prst="rect">
            <a:avLst/>
          </a:prstGeom>
        </p:spPr>
      </p:pic>
      <p:sp>
        <p:nvSpPr>
          <p:cNvPr id="16" name="Text 10"/>
          <p:cNvSpPr txBox="1"/>
          <p:nvPr/>
        </p:nvSpPr>
        <p:spPr>
          <a:xfrm>
            <a:off x="5349240" y="5074920"/>
            <a:ext cx="2103120" cy="568092"/>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One number, in the inspector and the wizard</a:t>
            </a:r>
            <a:endParaRPr lang="en-US" sz="1400" dirty="0"/>
          </a:p>
        </p:txBody>
      </p:sp>
      <p:sp>
        <p:nvSpPr>
          <p:cNvPr id="17" name="Text 11"/>
          <p:cNvSpPr txBox="1"/>
          <p:nvPr/>
        </p:nvSpPr>
        <p:spPr>
          <a:xfrm>
            <a:off x="7863840" y="1691640"/>
            <a:ext cx="3685032" cy="4160520"/>
          </a:xfrm>
          <a:prstGeom prst="rect">
            <a:avLst/>
          </a:prstGeom>
          <a:noFill/>
          <a:ln/>
        </p:spPr>
        <p:txBody>
          <a:bodyPr wrap="square" lIns="0" tIns="0" rIns="0" bIns="0" rtlCol="0" anchor="ctr"/>
          <a:lstStyle/>
          <a:p>
            <a:pPr marL="279400" indent="-279400">
              <a:spcAft>
                <a:spcPts val="1400"/>
              </a:spcAft>
              <a:buSzPct val="100000"/>
              <a:buChar char="●"/>
            </a:pPr>
            <a:r>
              <a:rPr lang="en-US" sz="1900" b="1" dirty="0">
                <a:solidFill>
                  <a:srgbClr val="F2F0FF"/>
                </a:solidFill>
                <a:latin typeface="Segoe UI" pitchFamily="34" charset="0"/>
                <a:ea typeface="Segoe UI" pitchFamily="34" charset="-122"/>
                <a:cs typeface="Segoe UI" pitchFamily="34" charset="-120"/>
              </a:rPr>
              <a:t>More points on every star's curve</a:t>
            </a:r>
            <a:endParaRPr lang="en-US" sz="1900" dirty="0"/>
          </a:p>
          <a:p>
            <a:pPr marL="279400" indent="-279400">
              <a:spcAft>
                <a:spcPts val="1400"/>
              </a:spcAft>
              <a:buSzPct val="100000"/>
              <a:buChar char="●"/>
            </a:pPr>
            <a:r>
              <a:rPr lang="en-US" sz="1900" dirty="0">
                <a:solidFill>
                  <a:srgbClr val="F2F0FF"/>
                </a:solidFill>
                <a:latin typeface="Segoe UI" pitchFamily="34" charset="0"/>
                <a:ea typeface="Segoe UI" pitchFamily="34" charset="-122"/>
                <a:cs typeface="Segoe UI" pitchFamily="34" charset="-120"/>
              </a:rPr>
              <a:t>Smaller focus jumps between frames, so stars are easier to match</a:t>
            </a:r>
            <a:endParaRPr lang="en-US" sz="1900" dirty="0"/>
          </a:p>
          <a:p>
            <a:pPr marL="279400" indent="-279400">
              <a:spcAft>
                <a:spcPts val="1400"/>
              </a:spcAft>
              <a:buSzPct val="100000"/>
              <a:buChar char="●"/>
            </a:pPr>
            <a:r>
              <a:rPr lang="en-US" sz="1900" b="1" dirty="0">
                <a:solidFill>
                  <a:srgbClr val="F2F0FF"/>
                </a:solidFill>
                <a:latin typeface="Segoe UI" pitchFamily="34" charset="0"/>
                <a:ea typeface="Segoe UI" pitchFamily="34" charset="-122"/>
                <a:cs typeface="Segoe UI" pitchFamily="34" charset="-120"/>
              </a:rPr>
              <a:t>The cost is exposures:</a:t>
            </a:r>
            <a:pPr indent="0" marL="0">
              <a:buNone/>
            </a:pPr>
            <a:r>
              <a:rPr lang="en-US" sz="1900" dirty="0">
                <a:solidFill>
                  <a:srgbClr val="F2F0FF"/>
                </a:solidFill>
                <a:latin typeface="Segoe UI" pitchFamily="34" charset="0"/>
                <a:ea typeface="Segoe UI" pitchFamily="34" charset="-122"/>
                <a:cs typeface="Segoe UI" pitchFamily="34" charset="-120"/>
              </a:rPr>
              <a:t> a calibration is several sweeps</a:t>
            </a:r>
            <a:endParaRPr lang="en-US" sz="19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Now it tells you how far to turn each screw</a:t>
            </a:r>
            <a:endParaRPr lang="en-US" sz="3200" dirty="0"/>
          </a:p>
        </p:txBody>
      </p:sp>
      <p:sp>
        <p:nvSpPr>
          <p:cNvPr id="4" name="Shape 2"/>
          <p:cNvSpPr/>
          <p:nvPr/>
        </p:nvSpPr>
        <p:spPr>
          <a:xfrm>
            <a:off x="640080" y="6108192"/>
            <a:ext cx="5777179"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5228539"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ghilios.github.io/hocus-focus/overview/tilt-aberration-inspector</a:t>
            </a:r>
            <a:endParaRPr lang="en-US" sz="1300" dirty="0"/>
          </a:p>
        </p:txBody>
      </p:sp>
      <p:sp>
        <p:nvSpPr>
          <p:cNvPr id="8" name="Shape 4"/>
          <p:cNvSpPr/>
          <p:nvPr/>
        </p:nvSpPr>
        <p:spPr>
          <a:xfrm>
            <a:off x="1188720" y="1691640"/>
            <a:ext cx="10362895" cy="1920275"/>
          </a:xfrm>
          <a:prstGeom prst="roundRect">
            <a:avLst>
              <a:gd name="adj" fmla="val 4762"/>
            </a:avLst>
          </a:prstGeom>
          <a:solidFill>
            <a:srgbClr val="FFFFFF"/>
          </a:solidFill>
          <a:ln/>
          <a:effectLst>
            <a:outerShdw sx="100000" sy="100000" kx="0" ky="0" algn="bl" rotWithShape="0" blurRad="177800" dist="50800" dir="5400000">
              <a:srgbClr val="000000">
                <a:alpha val="45000"/>
              </a:srgbClr>
            </a:outerShdw>
          </a:effectLst>
        </p:spPr>
      </p:sp>
      <p:pic>
        <p:nvPicPr>
          <p:cNvPr id="9" name="Image 1" descr="/home/ghilios/src/hocus-focus/presentations/hocus-focus-v4/assets/doc-guidance.png">    </p:cNvPr>
          <p:cNvPicPr>
            <a:picLocks noChangeAspect="1"/>
          </p:cNvPicPr>
          <p:nvPr/>
        </p:nvPicPr>
        <p:blipFill>
          <a:blip r:embed="rId4"/>
          <a:stretch>
            <a:fillRect/>
          </a:stretch>
        </p:blipFill>
        <p:spPr>
          <a:xfrm>
            <a:off x="1298448" y="1801368"/>
            <a:ext cx="10143439" cy="1700819"/>
          </a:xfrm>
          <a:prstGeom prst="rect">
            <a:avLst/>
          </a:prstGeom>
        </p:spPr>
      </p:pic>
      <p:sp>
        <p:nvSpPr>
          <p:cNvPr id="10" name="Shape 5"/>
          <p:cNvSpPr/>
          <p:nvPr/>
        </p:nvSpPr>
        <p:spPr>
          <a:xfrm>
            <a:off x="9009583" y="3282731"/>
            <a:ext cx="2468880" cy="256032"/>
          </a:xfrm>
          <a:prstGeom prst="roundRect">
            <a:avLst>
              <a:gd name="adj" fmla="val 21429"/>
            </a:avLst>
          </a:prstGeom>
          <a:solidFill>
            <a:srgbClr val="FF4D9D"/>
          </a:solidFill>
          <a:ln/>
        </p:spPr>
      </p:sp>
      <p:sp>
        <p:nvSpPr>
          <p:cNvPr id="11" name="Text 6"/>
          <p:cNvSpPr txBox="1"/>
          <p:nvPr/>
        </p:nvSpPr>
        <p:spPr>
          <a:xfrm>
            <a:off x="9009583" y="3282731"/>
            <a:ext cx="24688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DRAFT IMAGE → guidance.png</a:t>
            </a:r>
            <a:endParaRPr lang="en-US" sz="900" dirty="0"/>
          </a:p>
        </p:txBody>
      </p:sp>
      <p:sp>
        <p:nvSpPr>
          <p:cNvPr id="12" name="Shape 7"/>
          <p:cNvSpPr/>
          <p:nvPr/>
        </p:nvSpPr>
        <p:spPr>
          <a:xfrm>
            <a:off x="640080" y="1673356"/>
            <a:ext cx="420624" cy="420624"/>
          </a:xfrm>
          <a:prstGeom prst="ellipse">
            <a:avLst/>
          </a:prstGeom>
          <a:solidFill>
            <a:srgbClr val="8B5CF6"/>
          </a:solidFill>
          <a:ln/>
        </p:spPr>
      </p:sp>
      <p:sp>
        <p:nvSpPr>
          <p:cNvPr id="13" name="Text 8"/>
          <p:cNvSpPr txBox="1"/>
          <p:nvPr/>
        </p:nvSpPr>
        <p:spPr>
          <a:xfrm>
            <a:off x="640080" y="1673356"/>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1</a:t>
            </a:r>
            <a:endParaRPr lang="en-US" sz="1196" dirty="0"/>
          </a:p>
        </p:txBody>
      </p:sp>
      <p:sp>
        <p:nvSpPr>
          <p:cNvPr id="14" name="Shape 9"/>
          <p:cNvSpPr/>
          <p:nvPr/>
        </p:nvSpPr>
        <p:spPr>
          <a:xfrm>
            <a:off x="640080" y="2287844"/>
            <a:ext cx="420624" cy="420624"/>
          </a:xfrm>
          <a:prstGeom prst="ellipse">
            <a:avLst/>
          </a:prstGeom>
          <a:solidFill>
            <a:srgbClr val="8B5CF6"/>
          </a:solidFill>
          <a:ln/>
        </p:spPr>
      </p:sp>
      <p:sp>
        <p:nvSpPr>
          <p:cNvPr id="15" name="Text 10"/>
          <p:cNvSpPr txBox="1"/>
          <p:nvPr/>
        </p:nvSpPr>
        <p:spPr>
          <a:xfrm>
            <a:off x="640080" y="2287844"/>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2</a:t>
            </a:r>
            <a:endParaRPr lang="en-US" sz="1196" dirty="0"/>
          </a:p>
        </p:txBody>
      </p:sp>
      <p:sp>
        <p:nvSpPr>
          <p:cNvPr id="16" name="Shape 11"/>
          <p:cNvSpPr/>
          <p:nvPr/>
        </p:nvSpPr>
        <p:spPr>
          <a:xfrm>
            <a:off x="640080" y="3017548"/>
            <a:ext cx="420624" cy="420624"/>
          </a:xfrm>
          <a:prstGeom prst="ellipse">
            <a:avLst/>
          </a:prstGeom>
          <a:solidFill>
            <a:srgbClr val="8B5CF6"/>
          </a:solidFill>
          <a:ln/>
        </p:spPr>
      </p:sp>
      <p:sp>
        <p:nvSpPr>
          <p:cNvPr id="17" name="Text 12"/>
          <p:cNvSpPr txBox="1"/>
          <p:nvPr/>
        </p:nvSpPr>
        <p:spPr>
          <a:xfrm>
            <a:off x="640080" y="3017548"/>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3</a:t>
            </a:r>
            <a:endParaRPr lang="en-US" sz="1196" dirty="0"/>
          </a:p>
        </p:txBody>
      </p:sp>
      <p:sp>
        <p:nvSpPr>
          <p:cNvPr id="18" name="Shape 13"/>
          <p:cNvSpPr/>
          <p:nvPr/>
        </p:nvSpPr>
        <p:spPr>
          <a:xfrm>
            <a:off x="640080" y="4041683"/>
            <a:ext cx="420624" cy="420624"/>
          </a:xfrm>
          <a:prstGeom prst="ellipse">
            <a:avLst/>
          </a:prstGeom>
          <a:solidFill>
            <a:srgbClr val="8B5CF6"/>
          </a:solidFill>
          <a:ln/>
        </p:spPr>
      </p:sp>
      <p:sp>
        <p:nvSpPr>
          <p:cNvPr id="19" name="Text 14"/>
          <p:cNvSpPr txBox="1"/>
          <p:nvPr/>
        </p:nvSpPr>
        <p:spPr>
          <a:xfrm>
            <a:off x="640080" y="4041683"/>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1</a:t>
            </a:r>
            <a:endParaRPr lang="en-US" sz="1196" dirty="0"/>
          </a:p>
        </p:txBody>
      </p:sp>
      <p:sp>
        <p:nvSpPr>
          <p:cNvPr id="20" name="Text 15"/>
          <p:cNvSpPr txBox="1"/>
          <p:nvPr/>
        </p:nvSpPr>
        <p:spPr>
          <a:xfrm>
            <a:off x="1207008" y="4023395"/>
            <a:ext cx="2862072" cy="457200"/>
          </a:xfrm>
          <a:prstGeom prst="rect">
            <a:avLst/>
          </a:prstGeom>
          <a:noFill/>
          <a:ln/>
        </p:spPr>
        <p:txBody>
          <a:bodyPr wrap="square" lIns="0" tIns="0" rIns="0" bIns="0" rtlCol="0" anchor="ctr"/>
          <a:lstStyle/>
          <a:p>
            <a:pPr indent="0" marL="0">
              <a:buNone/>
            </a:pPr>
            <a:r>
              <a:rPr lang="en-US" sz="1800" dirty="0">
                <a:solidFill>
                  <a:srgbClr val="F2F0FF"/>
                </a:solidFill>
                <a:latin typeface="Segoe UI Semibold" pitchFamily="34" charset="0"/>
                <a:ea typeface="Segoe UI Semibold" pitchFamily="34" charset="-122"/>
                <a:cs typeface="Segoe UI Semibold" pitchFamily="34" charset="-120"/>
              </a:rPr>
              <a:t>The legend, in your units</a:t>
            </a:r>
            <a:endParaRPr lang="en-US" sz="1800" dirty="0"/>
          </a:p>
        </p:txBody>
      </p:sp>
      <p:sp>
        <p:nvSpPr>
          <p:cNvPr id="21" name="Text 16"/>
          <p:cNvSpPr txBox="1"/>
          <p:nvPr/>
        </p:nvSpPr>
        <p:spPr>
          <a:xfrm>
            <a:off x="1207008" y="4526315"/>
            <a:ext cx="2862072" cy="82296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Turns, degrees or clock-minutes. Motor steps for motorized adapters</a:t>
            </a:r>
            <a:endParaRPr lang="en-US" sz="1500" dirty="0"/>
          </a:p>
        </p:txBody>
      </p:sp>
      <p:sp>
        <p:nvSpPr>
          <p:cNvPr id="22" name="Shape 17"/>
          <p:cNvSpPr/>
          <p:nvPr/>
        </p:nvSpPr>
        <p:spPr>
          <a:xfrm>
            <a:off x="4381348" y="4041683"/>
            <a:ext cx="420624" cy="420624"/>
          </a:xfrm>
          <a:prstGeom prst="ellipse">
            <a:avLst/>
          </a:prstGeom>
          <a:solidFill>
            <a:srgbClr val="8B5CF6"/>
          </a:solidFill>
          <a:ln/>
        </p:spPr>
      </p:sp>
      <p:sp>
        <p:nvSpPr>
          <p:cNvPr id="23" name="Text 18"/>
          <p:cNvSpPr txBox="1"/>
          <p:nvPr/>
        </p:nvSpPr>
        <p:spPr>
          <a:xfrm>
            <a:off x="4381348" y="4041683"/>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2</a:t>
            </a:r>
            <a:endParaRPr lang="en-US" sz="1196" dirty="0"/>
          </a:p>
        </p:txBody>
      </p:sp>
      <p:sp>
        <p:nvSpPr>
          <p:cNvPr id="24" name="Text 19"/>
          <p:cNvSpPr txBox="1"/>
          <p:nvPr/>
        </p:nvSpPr>
        <p:spPr>
          <a:xfrm>
            <a:off x="4948276" y="4023395"/>
            <a:ext cx="2862072" cy="457200"/>
          </a:xfrm>
          <a:prstGeom prst="rect">
            <a:avLst/>
          </a:prstGeom>
          <a:noFill/>
          <a:ln/>
        </p:spPr>
        <p:txBody>
          <a:bodyPr wrap="square" lIns="0" tIns="0" rIns="0" bIns="0" rtlCol="0" anchor="ctr"/>
          <a:lstStyle/>
          <a:p>
            <a:pPr indent="0" marL="0">
              <a:buNone/>
            </a:pPr>
            <a:r>
              <a:rPr lang="en-US" sz="1800" dirty="0">
                <a:solidFill>
                  <a:srgbClr val="F2F0FF"/>
                </a:solidFill>
                <a:latin typeface="Segoe UI Semibold" pitchFamily="34" charset="0"/>
                <a:ea typeface="Segoe UI Semibold" pitchFamily="34" charset="-122"/>
                <a:cs typeface="Segoe UI Semibold" pitchFamily="34" charset="-120"/>
              </a:rPr>
              <a:t>Arrows: which way</a:t>
            </a:r>
            <a:endParaRPr lang="en-US" sz="1800" dirty="0"/>
          </a:p>
        </p:txBody>
      </p:sp>
      <p:sp>
        <p:nvSpPr>
          <p:cNvPr id="25" name="Text 20"/>
          <p:cNvSpPr txBox="1"/>
          <p:nvPr/>
        </p:nvSpPr>
        <p:spPr>
          <a:xfrm>
            <a:off x="4948276" y="4526315"/>
            <a:ext cx="2862072" cy="82296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The direction each corner of the adapter needs to move</a:t>
            </a:r>
            <a:endParaRPr lang="en-US" sz="1500" dirty="0"/>
          </a:p>
        </p:txBody>
      </p:sp>
      <p:sp>
        <p:nvSpPr>
          <p:cNvPr id="26" name="Shape 21"/>
          <p:cNvSpPr/>
          <p:nvPr/>
        </p:nvSpPr>
        <p:spPr>
          <a:xfrm>
            <a:off x="8122615" y="4041683"/>
            <a:ext cx="420624" cy="420624"/>
          </a:xfrm>
          <a:prstGeom prst="ellipse">
            <a:avLst/>
          </a:prstGeom>
          <a:solidFill>
            <a:srgbClr val="8B5CF6"/>
          </a:solidFill>
          <a:ln/>
        </p:spPr>
      </p:sp>
      <p:sp>
        <p:nvSpPr>
          <p:cNvPr id="27" name="Text 22"/>
          <p:cNvSpPr txBox="1"/>
          <p:nvPr/>
        </p:nvSpPr>
        <p:spPr>
          <a:xfrm>
            <a:off x="8122615" y="4041683"/>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Segoe UI Semibold" pitchFamily="34" charset="0"/>
                <a:ea typeface="Segoe UI Semibold" pitchFamily="34" charset="-122"/>
                <a:cs typeface="Segoe UI Semibold" pitchFamily="34" charset="-120"/>
              </a:rPr>
              <a:t>3</a:t>
            </a:r>
            <a:endParaRPr lang="en-US" sz="1196" dirty="0"/>
          </a:p>
        </p:txBody>
      </p:sp>
      <p:sp>
        <p:nvSpPr>
          <p:cNvPr id="28" name="Text 23"/>
          <p:cNvSpPr txBox="1"/>
          <p:nvPr/>
        </p:nvSpPr>
        <p:spPr>
          <a:xfrm>
            <a:off x="8689543" y="4023395"/>
            <a:ext cx="2862072" cy="457200"/>
          </a:xfrm>
          <a:prstGeom prst="rect">
            <a:avLst/>
          </a:prstGeom>
          <a:noFill/>
          <a:ln/>
        </p:spPr>
        <p:txBody>
          <a:bodyPr wrap="square" lIns="0" tIns="0" rIns="0" bIns="0" rtlCol="0" anchor="ctr"/>
          <a:lstStyle/>
          <a:p>
            <a:pPr indent="0" marL="0">
              <a:buNone/>
            </a:pPr>
            <a:r>
              <a:rPr lang="en-US" sz="1800" dirty="0">
                <a:solidFill>
                  <a:srgbClr val="F2F0FF"/>
                </a:solidFill>
                <a:latin typeface="Segoe UI Semibold" pitchFamily="34" charset="0"/>
                <a:ea typeface="Segoe UI Semibold" pitchFamily="34" charset="-122"/>
                <a:cs typeface="Segoe UI Semibold" pitchFamily="34" charset="-120"/>
              </a:rPr>
              <a:t>Numbers: how far</a:t>
            </a:r>
            <a:endParaRPr lang="en-US" sz="1800" dirty="0"/>
          </a:p>
        </p:txBody>
      </p:sp>
      <p:sp>
        <p:nvSpPr>
          <p:cNvPr id="29" name="Text 24"/>
          <p:cNvSpPr txBox="1"/>
          <p:nvPr/>
        </p:nvSpPr>
        <p:spPr>
          <a:xfrm>
            <a:off x="8689543" y="4526315"/>
            <a:ext cx="2862072" cy="82296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Per screw, split into Tilt, Backfocus, and the Total you apply</a:t>
            </a:r>
            <a:endParaRPr lang="en-US" sz="15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Tilt and backfocus are separate fixes</a:t>
            </a:r>
            <a:endParaRPr lang="en-US" sz="3200" dirty="0"/>
          </a:p>
        </p:txBody>
      </p:sp>
      <p:sp>
        <p:nvSpPr>
          <p:cNvPr id="4" name="Shape 2"/>
          <p:cNvSpPr/>
          <p:nvPr/>
        </p:nvSpPr>
        <p:spPr>
          <a:xfrm>
            <a:off x="640080" y="6108192"/>
            <a:ext cx="5777179"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5228539"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ghilios.github.io/hocus-focus/overview/tilt-aberration-inspector</a:t>
            </a:r>
            <a:endParaRPr lang="en-US" sz="1300" dirty="0"/>
          </a:p>
        </p:txBody>
      </p:sp>
      <p:sp>
        <p:nvSpPr>
          <p:cNvPr id="8" name="Shape 4"/>
          <p:cNvSpPr/>
          <p:nvPr/>
        </p:nvSpPr>
        <p:spPr>
          <a:xfrm>
            <a:off x="640080" y="1691640"/>
            <a:ext cx="3520440" cy="3611880"/>
          </a:xfrm>
          <a:prstGeom prst="roundRect">
            <a:avLst>
              <a:gd name="adj" fmla="val 3636"/>
            </a:avLst>
          </a:prstGeom>
          <a:solidFill>
            <a:srgbClr val="151B3A">
              <a:alpha val="92000"/>
            </a:srgbClr>
          </a:solidFill>
          <a:ln w="9525">
            <a:solidFill>
              <a:srgbClr val="3A4380"/>
            </a:solidFill>
            <a:prstDash val="solid"/>
          </a:ln>
        </p:spPr>
      </p:sp>
      <p:pic>
        <p:nvPicPr>
          <p:cNvPr id="9" name="Image 1" descr="/home/ghilios/src/hocus-focus/presentations/hocus-focus-v4/assets/art-tilt.png">    </p:cNvPr>
          <p:cNvPicPr>
            <a:picLocks noChangeAspect="1"/>
          </p:cNvPicPr>
          <p:nvPr/>
        </p:nvPicPr>
        <p:blipFill>
          <a:blip r:embed="rId4"/>
          <a:stretch>
            <a:fillRect/>
          </a:stretch>
        </p:blipFill>
        <p:spPr>
          <a:xfrm>
            <a:off x="972094" y="1828800"/>
            <a:ext cx="2856411" cy="1874520"/>
          </a:xfrm>
          <a:prstGeom prst="rect">
            <a:avLst/>
          </a:prstGeom>
        </p:spPr>
      </p:pic>
      <p:sp>
        <p:nvSpPr>
          <p:cNvPr id="10" name="Text 5"/>
          <p:cNvSpPr txBox="1"/>
          <p:nvPr/>
        </p:nvSpPr>
        <p:spPr>
          <a:xfrm>
            <a:off x="960120" y="3794760"/>
            <a:ext cx="2880360" cy="502920"/>
          </a:xfrm>
          <a:prstGeom prst="rect">
            <a:avLst/>
          </a:prstGeom>
          <a:noFill/>
          <a:ln/>
        </p:spPr>
        <p:txBody>
          <a:bodyPr wrap="square" lIns="0" tIns="0" rIns="0" bIns="0" rtlCol="0" anchor="ctr"/>
          <a:lstStyle/>
          <a:p>
            <a:pPr indent="0" marL="0">
              <a:buNone/>
            </a:pPr>
            <a:r>
              <a:rPr lang="en-US" sz="2600" dirty="0">
                <a:solidFill>
                  <a:srgbClr val="F2F0FF"/>
                </a:solidFill>
                <a:latin typeface="Segoe UI Semibold" pitchFamily="34" charset="0"/>
                <a:ea typeface="Segoe UI Semibold" pitchFamily="34" charset="-122"/>
                <a:cs typeface="Segoe UI Semibold" pitchFamily="34" charset="-120"/>
              </a:rPr>
              <a:t>Tilt</a:t>
            </a:r>
            <a:endParaRPr lang="en-US" sz="2600" dirty="0"/>
          </a:p>
        </p:txBody>
      </p:sp>
      <p:sp>
        <p:nvSpPr>
          <p:cNvPr id="11" name="Text 6"/>
          <p:cNvSpPr txBox="1"/>
          <p:nvPr/>
        </p:nvSpPr>
        <p:spPr>
          <a:xfrm>
            <a:off x="960120" y="4343400"/>
            <a:ext cx="2880360" cy="914400"/>
          </a:xfrm>
          <a:prstGeom prst="rect">
            <a:avLst/>
          </a:prstGeom>
          <a:noFill/>
          <a:ln/>
        </p:spPr>
        <p:txBody>
          <a:bodyPr wrap="square" lIns="0" tIns="0" rIns="0" bIns="0" rtlCol="0" anchor="t"/>
          <a:lstStyle/>
          <a:p>
            <a:pPr indent="0" marL="0">
              <a:buNone/>
            </a:pPr>
            <a:r>
              <a:rPr lang="en-US" sz="1700" dirty="0">
                <a:solidFill>
                  <a:srgbClr val="F2F0FF"/>
                </a:solidFill>
                <a:latin typeface="Segoe UI" pitchFamily="34" charset="0"/>
                <a:ea typeface="Segoe UI" pitchFamily="34" charset="-122"/>
                <a:cs typeface="Segoe UI" pitchFamily="34" charset="-120"/>
              </a:rPr>
              <a:t>The fix: turn the screws differently</a:t>
            </a:r>
            <a:endParaRPr lang="en-US" sz="1700" dirty="0"/>
          </a:p>
        </p:txBody>
      </p:sp>
      <p:sp>
        <p:nvSpPr>
          <p:cNvPr id="12" name="Shape 7"/>
          <p:cNvSpPr/>
          <p:nvPr/>
        </p:nvSpPr>
        <p:spPr>
          <a:xfrm>
            <a:off x="4389120" y="1691640"/>
            <a:ext cx="3520440" cy="3611880"/>
          </a:xfrm>
          <a:prstGeom prst="roundRect">
            <a:avLst>
              <a:gd name="adj" fmla="val 3636"/>
            </a:avLst>
          </a:prstGeom>
          <a:solidFill>
            <a:srgbClr val="151B3A">
              <a:alpha val="92000"/>
            </a:srgbClr>
          </a:solidFill>
          <a:ln w="9525">
            <a:solidFill>
              <a:srgbClr val="3A4380"/>
            </a:solidFill>
            <a:prstDash val="solid"/>
          </a:ln>
        </p:spPr>
      </p:sp>
      <p:pic>
        <p:nvPicPr>
          <p:cNvPr id="13" name="Image 2" descr="/home/ghilios/src/hocus-focus/presentations/hocus-focus-v4/assets/art-backfocus.png">    </p:cNvPr>
          <p:cNvPicPr>
            <a:picLocks noChangeAspect="1"/>
          </p:cNvPicPr>
          <p:nvPr/>
        </p:nvPicPr>
        <p:blipFill>
          <a:blip r:embed="rId5"/>
          <a:stretch>
            <a:fillRect/>
          </a:stretch>
        </p:blipFill>
        <p:spPr>
          <a:xfrm>
            <a:off x="4721134" y="1828800"/>
            <a:ext cx="2856411" cy="1874520"/>
          </a:xfrm>
          <a:prstGeom prst="rect">
            <a:avLst/>
          </a:prstGeom>
        </p:spPr>
      </p:pic>
      <p:sp>
        <p:nvSpPr>
          <p:cNvPr id="14" name="Text 8"/>
          <p:cNvSpPr txBox="1"/>
          <p:nvPr/>
        </p:nvSpPr>
        <p:spPr>
          <a:xfrm>
            <a:off x="4709160" y="3794760"/>
            <a:ext cx="2880360" cy="502920"/>
          </a:xfrm>
          <a:prstGeom prst="rect">
            <a:avLst/>
          </a:prstGeom>
          <a:noFill/>
          <a:ln/>
        </p:spPr>
        <p:txBody>
          <a:bodyPr wrap="square" lIns="0" tIns="0" rIns="0" bIns="0" rtlCol="0" anchor="ctr"/>
          <a:lstStyle/>
          <a:p>
            <a:pPr indent="0" marL="0">
              <a:buNone/>
            </a:pPr>
            <a:r>
              <a:rPr lang="en-US" sz="2600" dirty="0">
                <a:solidFill>
                  <a:srgbClr val="F2F0FF"/>
                </a:solidFill>
                <a:latin typeface="Segoe UI Semibold" pitchFamily="34" charset="0"/>
                <a:ea typeface="Segoe UI Semibold" pitchFamily="34" charset="-122"/>
                <a:cs typeface="Segoe UI Semibold" pitchFamily="34" charset="-120"/>
              </a:rPr>
              <a:t>Backfocus</a:t>
            </a:r>
            <a:endParaRPr lang="en-US" sz="2600" dirty="0"/>
          </a:p>
        </p:txBody>
      </p:sp>
      <p:sp>
        <p:nvSpPr>
          <p:cNvPr id="15" name="Text 9"/>
          <p:cNvSpPr txBox="1"/>
          <p:nvPr/>
        </p:nvSpPr>
        <p:spPr>
          <a:xfrm>
            <a:off x="4709160" y="4343400"/>
            <a:ext cx="2880360" cy="914400"/>
          </a:xfrm>
          <a:prstGeom prst="rect">
            <a:avLst/>
          </a:prstGeom>
          <a:noFill/>
          <a:ln/>
        </p:spPr>
        <p:txBody>
          <a:bodyPr wrap="square" lIns="0" tIns="0" rIns="0" bIns="0" rtlCol="0" anchor="t"/>
          <a:lstStyle/>
          <a:p>
            <a:pPr indent="0" marL="0">
              <a:buNone/>
            </a:pPr>
            <a:r>
              <a:rPr lang="en-US" sz="1700" dirty="0">
                <a:solidFill>
                  <a:srgbClr val="F2F0FF"/>
                </a:solidFill>
                <a:latin typeface="Segoe UI" pitchFamily="34" charset="0"/>
                <a:ea typeface="Segoe UI" pitchFamily="34" charset="-122"/>
                <a:cs typeface="Segoe UI" pitchFamily="34" charset="-120"/>
              </a:rPr>
              <a:t>The fix: turn them all the same way, or add a spacer</a:t>
            </a:r>
            <a:endParaRPr lang="en-US" sz="1700" dirty="0"/>
          </a:p>
        </p:txBody>
      </p:sp>
      <p:sp>
        <p:nvSpPr>
          <p:cNvPr id="16" name="Text 10"/>
          <p:cNvSpPr txBox="1"/>
          <p:nvPr/>
        </p:nvSpPr>
        <p:spPr>
          <a:xfrm>
            <a:off x="640080" y="5394960"/>
            <a:ext cx="7269480" cy="365760"/>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Dashed: where focus wants the sensor.   Bar: the sensor.   Arrows: the fix.</a:t>
            </a:r>
            <a:endParaRPr lang="en-US" sz="1400" dirty="0"/>
          </a:p>
        </p:txBody>
      </p:sp>
      <p:sp>
        <p:nvSpPr>
          <p:cNvPr id="17" name="Text 11"/>
          <p:cNvSpPr txBox="1"/>
          <p:nvPr/>
        </p:nvSpPr>
        <p:spPr>
          <a:xfrm>
            <a:off x="8183880" y="1691640"/>
            <a:ext cx="3367735" cy="457200"/>
          </a:xfrm>
          <a:prstGeom prst="rect">
            <a:avLst/>
          </a:prstGeom>
          <a:noFill/>
          <a:ln/>
        </p:spPr>
        <p:txBody>
          <a:bodyPr wrap="square" lIns="0" tIns="0" rIns="0" bIns="0" rtlCol="0" anchor="ctr"/>
          <a:lstStyle/>
          <a:p>
            <a:pPr indent="0" marL="0">
              <a:buNone/>
            </a:pPr>
            <a:r>
              <a:rPr lang="en-US" sz="2200" dirty="0">
                <a:solidFill>
                  <a:srgbClr val="F2F0FF"/>
                </a:solidFill>
                <a:latin typeface="Segoe UI Semibold" pitchFamily="34" charset="0"/>
                <a:ea typeface="Segoe UI Semibold" pitchFamily="34" charset="-122"/>
                <a:cs typeface="Segoe UI Semibold" pitchFamily="34" charset="-120"/>
              </a:rPr>
              <a:t>What's left is your optics</a:t>
            </a:r>
            <a:endParaRPr lang="en-US" sz="2200" dirty="0"/>
          </a:p>
        </p:txBody>
      </p:sp>
      <p:sp>
        <p:nvSpPr>
          <p:cNvPr id="18" name="Text 12"/>
          <p:cNvSpPr txBox="1"/>
          <p:nvPr/>
        </p:nvSpPr>
        <p:spPr>
          <a:xfrm>
            <a:off x="8183880" y="2194560"/>
            <a:ext cx="3367735" cy="1005840"/>
          </a:xfrm>
          <a:prstGeom prst="rect">
            <a:avLst/>
          </a:prstGeom>
          <a:noFill/>
          <a:ln/>
        </p:spPr>
        <p:txBody>
          <a:bodyPr wrap="square" lIns="0" tIns="0" rIns="0" bIns="0" rtlCol="0" anchor="t"/>
          <a:lstStyle/>
          <a:p>
            <a:pPr indent="0" marL="0">
              <a:buNone/>
            </a:pPr>
            <a:r>
              <a:rPr lang="en-US" sz="1600" dirty="0">
                <a:solidFill>
                  <a:srgbClr val="B4BBE0"/>
                </a:solidFill>
                <a:latin typeface="Segoe UI" pitchFamily="34" charset="0"/>
                <a:ea typeface="Segoe UI" pitchFamily="34" charset="-122"/>
                <a:cs typeface="Segoe UI" pitchFamily="34" charset="-120"/>
              </a:rPr>
              <a:t>Each effect is graded against your critical focus zone, so you know when you're done.</a:t>
            </a:r>
            <a:endParaRPr lang="en-US" sz="1600" dirty="0"/>
          </a:p>
        </p:txBody>
      </p:sp>
      <p:sp>
        <p:nvSpPr>
          <p:cNvPr id="19" name="Shape 13"/>
          <p:cNvSpPr/>
          <p:nvPr/>
        </p:nvSpPr>
        <p:spPr>
          <a:xfrm>
            <a:off x="8183880" y="3337560"/>
            <a:ext cx="3367735" cy="603504"/>
          </a:xfrm>
          <a:prstGeom prst="roundRect">
            <a:avLst>
              <a:gd name="adj" fmla="val 21212"/>
            </a:avLst>
          </a:prstGeom>
          <a:solidFill>
            <a:srgbClr val="151B3A">
              <a:alpha val="92000"/>
            </a:srgbClr>
          </a:solidFill>
          <a:ln w="9525">
            <a:solidFill>
              <a:srgbClr val="3A4380"/>
            </a:solidFill>
            <a:prstDash val="solid"/>
          </a:ln>
        </p:spPr>
      </p:sp>
      <p:pic>
        <p:nvPicPr>
          <p:cNvPr id="20" name="Image 3" descr="/home/ghilios/src/hocus-focus/presentations/hocus-focus-v4/assets/icon-check-green.png">    </p:cNvPr>
          <p:cNvPicPr>
            <a:picLocks noChangeAspect="1"/>
          </p:cNvPicPr>
          <p:nvPr/>
        </p:nvPicPr>
        <p:blipFill>
          <a:blip r:embed="rId6"/>
          <a:stretch>
            <a:fillRect/>
          </a:stretch>
        </p:blipFill>
        <p:spPr>
          <a:xfrm>
            <a:off x="8366760" y="3474720"/>
            <a:ext cx="329184" cy="329184"/>
          </a:xfrm>
          <a:prstGeom prst="rect">
            <a:avLst/>
          </a:prstGeom>
        </p:spPr>
      </p:pic>
      <p:sp>
        <p:nvSpPr>
          <p:cNvPr id="21" name="Text 14"/>
          <p:cNvSpPr txBox="1"/>
          <p:nvPr/>
        </p:nvSpPr>
        <p:spPr>
          <a:xfrm>
            <a:off x="8869680" y="3337560"/>
            <a:ext cx="1280160" cy="603504"/>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Model fit</a:t>
            </a:r>
            <a:endParaRPr lang="en-US" sz="1700" dirty="0"/>
          </a:p>
        </p:txBody>
      </p:sp>
      <p:sp>
        <p:nvSpPr>
          <p:cNvPr id="22" name="Text 15"/>
          <p:cNvSpPr txBox="1"/>
          <p:nvPr/>
        </p:nvSpPr>
        <p:spPr>
          <a:xfrm>
            <a:off x="10058400" y="3337560"/>
            <a:ext cx="1401775" cy="603504"/>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explains the data</a:t>
            </a:r>
            <a:endParaRPr lang="en-US" sz="1400" dirty="0"/>
          </a:p>
        </p:txBody>
      </p:sp>
      <p:sp>
        <p:nvSpPr>
          <p:cNvPr id="23" name="Shape 16"/>
          <p:cNvSpPr/>
          <p:nvPr/>
        </p:nvSpPr>
        <p:spPr>
          <a:xfrm>
            <a:off x="8183880" y="4018788"/>
            <a:ext cx="3367735" cy="603504"/>
          </a:xfrm>
          <a:prstGeom prst="roundRect">
            <a:avLst>
              <a:gd name="adj" fmla="val 21212"/>
            </a:avLst>
          </a:prstGeom>
          <a:solidFill>
            <a:srgbClr val="151B3A">
              <a:alpha val="92000"/>
            </a:srgbClr>
          </a:solidFill>
          <a:ln w="9525">
            <a:solidFill>
              <a:srgbClr val="3A4380"/>
            </a:solidFill>
            <a:prstDash val="solid"/>
          </a:ln>
        </p:spPr>
      </p:sp>
      <p:pic>
        <p:nvPicPr>
          <p:cNvPr id="24" name="Image 4" descr="/home/ghilios/src/hocus-focus/presentations/hocus-focus-v4/assets/icon-check-green.png">    </p:cNvPr>
          <p:cNvPicPr>
            <a:picLocks noChangeAspect="1"/>
          </p:cNvPicPr>
          <p:nvPr/>
        </p:nvPicPr>
        <p:blipFill>
          <a:blip r:embed="rId7"/>
          <a:stretch>
            <a:fillRect/>
          </a:stretch>
        </p:blipFill>
        <p:spPr>
          <a:xfrm>
            <a:off x="8366760" y="4155948"/>
            <a:ext cx="329184" cy="329184"/>
          </a:xfrm>
          <a:prstGeom prst="rect">
            <a:avLst/>
          </a:prstGeom>
        </p:spPr>
      </p:pic>
      <p:sp>
        <p:nvSpPr>
          <p:cNvPr id="25" name="Text 17"/>
          <p:cNvSpPr txBox="1"/>
          <p:nvPr/>
        </p:nvSpPr>
        <p:spPr>
          <a:xfrm>
            <a:off x="8869680" y="4018788"/>
            <a:ext cx="1280160" cy="603504"/>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Curvature</a:t>
            </a:r>
            <a:endParaRPr lang="en-US" sz="1700" dirty="0"/>
          </a:p>
        </p:txBody>
      </p:sp>
      <p:sp>
        <p:nvSpPr>
          <p:cNvPr id="26" name="Text 18"/>
          <p:cNvSpPr txBox="1"/>
          <p:nvPr/>
        </p:nvSpPr>
        <p:spPr>
          <a:xfrm>
            <a:off x="10058400" y="4018788"/>
            <a:ext cx="1401775" cy="603504"/>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within tolerance</a:t>
            </a:r>
            <a:endParaRPr lang="en-US" sz="1400" dirty="0"/>
          </a:p>
        </p:txBody>
      </p:sp>
      <p:sp>
        <p:nvSpPr>
          <p:cNvPr id="27" name="Shape 19"/>
          <p:cNvSpPr/>
          <p:nvPr/>
        </p:nvSpPr>
        <p:spPr>
          <a:xfrm>
            <a:off x="8183880" y="4700016"/>
            <a:ext cx="3367735" cy="603504"/>
          </a:xfrm>
          <a:prstGeom prst="roundRect">
            <a:avLst>
              <a:gd name="adj" fmla="val 21212"/>
            </a:avLst>
          </a:prstGeom>
          <a:solidFill>
            <a:srgbClr val="151B3A">
              <a:alpha val="92000"/>
            </a:srgbClr>
          </a:solidFill>
          <a:ln w="9525">
            <a:solidFill>
              <a:srgbClr val="3A4380"/>
            </a:solidFill>
            <a:prstDash val="solid"/>
          </a:ln>
        </p:spPr>
      </p:sp>
      <p:pic>
        <p:nvPicPr>
          <p:cNvPr id="28" name="Image 5" descr="/home/ghilios/src/hocus-focus/presentations/hocus-focus-v4/assets/icon-cross-pink.png">    </p:cNvPr>
          <p:cNvPicPr>
            <a:picLocks noChangeAspect="1"/>
          </p:cNvPicPr>
          <p:nvPr/>
        </p:nvPicPr>
        <p:blipFill>
          <a:blip r:embed="rId8"/>
          <a:stretch>
            <a:fillRect/>
          </a:stretch>
        </p:blipFill>
        <p:spPr>
          <a:xfrm>
            <a:off x="8366760" y="4837176"/>
            <a:ext cx="329184" cy="329184"/>
          </a:xfrm>
          <a:prstGeom prst="rect">
            <a:avLst/>
          </a:prstGeom>
        </p:spPr>
      </p:pic>
      <p:sp>
        <p:nvSpPr>
          <p:cNvPr id="29" name="Text 20"/>
          <p:cNvSpPr txBox="1"/>
          <p:nvPr/>
        </p:nvSpPr>
        <p:spPr>
          <a:xfrm>
            <a:off x="8869680" y="4700016"/>
            <a:ext cx="1280160" cy="603504"/>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Tilt</a:t>
            </a:r>
            <a:endParaRPr lang="en-US" sz="1700" dirty="0"/>
          </a:p>
        </p:txBody>
      </p:sp>
      <p:sp>
        <p:nvSpPr>
          <p:cNvPr id="30" name="Text 21"/>
          <p:cNvSpPr txBox="1"/>
          <p:nvPr/>
        </p:nvSpPr>
        <p:spPr>
          <a:xfrm>
            <a:off x="10058400" y="4700016"/>
            <a:ext cx="1401775" cy="603504"/>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too large: adjust</a:t>
            </a:r>
            <a:endParaRPr lang="en-US" sz="14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Measure, turn, re-measure: watch the tilt converge</a:t>
            </a:r>
            <a:endParaRPr lang="en-US" sz="3200" dirty="0"/>
          </a:p>
        </p:txBody>
      </p:sp>
      <p:sp>
        <p:nvSpPr>
          <p:cNvPr id="4" name="Shape 2"/>
          <p:cNvSpPr/>
          <p:nvPr/>
        </p:nvSpPr>
        <p:spPr>
          <a:xfrm>
            <a:off x="640080" y="6108192"/>
            <a:ext cx="5777179"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5228539"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ghilios.github.io/hocus-focus/overview/tilt-aberration-inspector</a:t>
            </a:r>
            <a:endParaRPr lang="en-US" sz="1300" dirty="0"/>
          </a:p>
        </p:txBody>
      </p:sp>
      <p:sp>
        <p:nvSpPr>
          <p:cNvPr id="8" name="Text 4"/>
          <p:cNvSpPr txBox="1"/>
          <p:nvPr/>
        </p:nvSpPr>
        <p:spPr>
          <a:xfrm>
            <a:off x="640080" y="1691640"/>
            <a:ext cx="3931920" cy="4160520"/>
          </a:xfrm>
          <a:prstGeom prst="rect">
            <a:avLst/>
          </a:prstGeom>
          <a:noFill/>
          <a:ln/>
        </p:spPr>
        <p:txBody>
          <a:bodyPr wrap="square" lIns="0" tIns="0" rIns="0" bIns="0" rtlCol="0" anchor="ctr"/>
          <a:lstStyle/>
          <a:p>
            <a:pPr marL="279400" indent="-279400">
              <a:spcAft>
                <a:spcPts val="1400"/>
              </a:spcAft>
              <a:buSzPct val="100000"/>
              <a:buChar char="●"/>
            </a:pPr>
            <a:r>
              <a:rPr lang="en-US" sz="2000" b="1" dirty="0">
                <a:solidFill>
                  <a:srgbClr val="F2F0FF"/>
                </a:solidFill>
                <a:latin typeface="Segoe UI" pitchFamily="34" charset="0"/>
                <a:ea typeface="Segoe UI" pitchFamily="34" charset="-122"/>
                <a:cs typeface="Segoe UI" pitchFamily="34" charset="-120"/>
              </a:rPr>
              <a:t>Each round, the correction gets smaller</a:t>
            </a:r>
            <a:endParaRPr lang="en-US" sz="2000" dirty="0"/>
          </a:p>
          <a:p>
            <a:pPr marL="279400" indent="-279400">
              <a:spcAft>
                <a:spcPts val="1400"/>
              </a:spcAft>
              <a:buSzPct val="100000"/>
              <a:buChar char="●"/>
            </a:pPr>
            <a:r>
              <a:rPr lang="en-US" sz="2000" dirty="0">
                <a:solidFill>
                  <a:srgbClr val="F2F0FF"/>
                </a:solidFill>
                <a:latin typeface="Segoe UI" pitchFamily="34" charset="0"/>
                <a:ea typeface="Segoe UI" pitchFamily="34" charset="-122"/>
                <a:cs typeface="Segoe UI" pitchFamily="34" charset="-120"/>
              </a:rPr>
              <a:t>The history keeps every measurement of the session</a:t>
            </a:r>
            <a:endParaRPr lang="en-US" sz="2000" dirty="0"/>
          </a:p>
          <a:p>
            <a:pPr marL="279400" indent="-279400">
              <a:spcAft>
                <a:spcPts val="1400"/>
              </a:spcAft>
              <a:buSzPct val="100000"/>
              <a:buChar char="●"/>
            </a:pPr>
            <a:r>
              <a:rPr lang="en-US" sz="2000" dirty="0">
                <a:solidFill>
                  <a:srgbClr val="F2F0FF"/>
                </a:solidFill>
                <a:latin typeface="Segoe UI" pitchFamily="34" charset="0"/>
                <a:ea typeface="Segoe UI" pitchFamily="34" charset="-122"/>
                <a:cs typeface="Segoe UI" pitchFamily="34" charset="-120"/>
              </a:rPr>
              <a:t>Stop when tilt is inside your critical focus zone</a:t>
            </a:r>
            <a:endParaRPr lang="en-US" sz="2000" dirty="0"/>
          </a:p>
        </p:txBody>
      </p:sp>
      <p:sp>
        <p:nvSpPr>
          <p:cNvPr id="9" name="Shape 5"/>
          <p:cNvSpPr/>
          <p:nvPr/>
        </p:nvSpPr>
        <p:spPr>
          <a:xfrm>
            <a:off x="4892040" y="1691640"/>
            <a:ext cx="6656832" cy="4160520"/>
          </a:xfrm>
          <a:prstGeom prst="roundRect">
            <a:avLst>
              <a:gd name="adj" fmla="val 2637"/>
            </a:avLst>
          </a:prstGeom>
          <a:solidFill>
            <a:srgbClr val="151B3A">
              <a:alpha val="75000"/>
            </a:srgbClr>
          </a:solidFill>
          <a:ln w="19050">
            <a:solidFill>
              <a:srgbClr val="FF4D9D"/>
            </a:solidFill>
            <a:prstDash val="dash"/>
          </a:ln>
        </p:spPr>
      </p:sp>
      <p:sp>
        <p:nvSpPr>
          <p:cNvPr id="10" name="Text 6"/>
          <p:cNvSpPr txBox="1"/>
          <p:nvPr/>
        </p:nvSpPr>
        <p:spPr>
          <a:xfrm>
            <a:off x="5074920" y="1691640"/>
            <a:ext cx="6291072" cy="4160520"/>
          </a:xfrm>
          <a:prstGeom prst="rect">
            <a:avLst/>
          </a:prstGeom>
          <a:noFill/>
          <a:ln/>
        </p:spPr>
        <p:txBody>
          <a:bodyPr wrap="square" rtlCol="0" anchor="ctr"/>
          <a:lstStyle/>
          <a:p>
            <a:pPr algn="ctr" indent="0" marL="0">
              <a:spcAft>
                <a:spcPts val="800"/>
              </a:spcAft>
              <a:buNone/>
            </a:pPr>
            <a:r>
              <a:rPr lang="en-US" sz="1100" b="1" spc="300" kern="0" dirty="0">
                <a:solidFill>
                  <a:srgbClr val="FF4D9D"/>
                </a:solidFill>
                <a:latin typeface="Segoe UI" pitchFamily="34" charset="0"/>
                <a:ea typeface="Segoe UI" pitchFamily="34" charset="-122"/>
                <a:cs typeface="Segoe UI" pitchFamily="34" charset="-120"/>
              </a:rPr>
              <a:t>SCREENSHOT NEEDED</a:t>
            </a:r>
            <a:endParaRPr lang="en-US" sz="1100" dirty="0"/>
          </a:p>
          <a:p>
            <a:pPr algn="ctr" indent="0" marL="0">
              <a:spcAft>
                <a:spcPts val="800"/>
              </a:spcAft>
              <a:buNone/>
            </a:pPr>
            <a:r>
              <a:rPr lang="en-US" sz="1500" dirty="0">
                <a:solidFill>
                  <a:srgbClr val="F2F0FF"/>
                </a:solidFill>
                <a:latin typeface="Consolas" pitchFamily="34" charset="0"/>
                <a:ea typeface="Consolas" pitchFamily="34" charset="-122"/>
                <a:cs typeface="Consolas" pitchFamily="34" charset="-120"/>
              </a:rPr>
              <a:t>screenshots/tilt-history.png</a:t>
            </a:r>
            <a:endParaRPr lang="en-US" sz="1100" dirty="0"/>
          </a:p>
          <a:p>
            <a:pPr algn="ctr" indent="0" marL="0">
              <a:spcAft>
                <a:spcPts val="800"/>
              </a:spcAft>
              <a:buNone/>
            </a:pPr>
            <a:r>
              <a:rPr lang="en-US" sz="1300" dirty="0">
                <a:solidFill>
                  <a:srgbClr val="B4BBE0"/>
                </a:solidFill>
                <a:latin typeface="Segoe UI" pitchFamily="34" charset="0"/>
                <a:ea typeface="Segoe UI" pitchFamily="34" charset="-122"/>
                <a:cs typeface="Segoe UI" pitchFamily="34" charset="-120"/>
              </a:rPr>
              <a:t>Tilt Measurement History after 2–3 measure/adjust rounds</a:t>
            </a:r>
            <a:endParaRPr lang="en-US" sz="11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With an ASG EAT, calibration runs itself</a:t>
            </a:r>
            <a:endParaRPr lang="en-US" sz="3200" dirty="0"/>
          </a:p>
        </p:txBody>
      </p:sp>
      <p:sp>
        <p:nvSpPr>
          <p:cNvPr id="4" name="Shape 2"/>
          <p:cNvSpPr/>
          <p:nvPr/>
        </p:nvSpPr>
        <p:spPr>
          <a:xfrm>
            <a:off x="640080" y="6108192"/>
            <a:ext cx="5538521"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989881"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ghilios.github.io/hocus-focus/overview/motorized-tilt-adapter</a:t>
            </a:r>
            <a:endParaRPr lang="en-US" sz="1300" dirty="0"/>
          </a:p>
        </p:txBody>
      </p:sp>
      <p:sp>
        <p:nvSpPr>
          <p:cNvPr id="8" name="Shape 4"/>
          <p:cNvSpPr/>
          <p:nvPr/>
        </p:nvSpPr>
        <p:spPr>
          <a:xfrm>
            <a:off x="640080" y="1691640"/>
            <a:ext cx="5852160" cy="4160520"/>
          </a:xfrm>
          <a:prstGeom prst="roundRect">
            <a:avLst>
              <a:gd name="adj" fmla="val 2637"/>
            </a:avLst>
          </a:prstGeom>
          <a:solidFill>
            <a:srgbClr val="151B3A">
              <a:alpha val="75000"/>
            </a:srgbClr>
          </a:solidFill>
          <a:ln w="19050">
            <a:solidFill>
              <a:srgbClr val="FF4D9D"/>
            </a:solidFill>
            <a:prstDash val="dash"/>
          </a:ln>
        </p:spPr>
      </p:sp>
      <p:sp>
        <p:nvSpPr>
          <p:cNvPr id="9" name="Text 5"/>
          <p:cNvSpPr txBox="1"/>
          <p:nvPr/>
        </p:nvSpPr>
        <p:spPr>
          <a:xfrm>
            <a:off x="822960" y="1691640"/>
            <a:ext cx="5486400" cy="4160520"/>
          </a:xfrm>
          <a:prstGeom prst="rect">
            <a:avLst/>
          </a:prstGeom>
          <a:noFill/>
          <a:ln/>
        </p:spPr>
        <p:txBody>
          <a:bodyPr wrap="square" rtlCol="0" anchor="ctr"/>
          <a:lstStyle/>
          <a:p>
            <a:pPr algn="ctr" indent="0" marL="0">
              <a:spcAft>
                <a:spcPts val="800"/>
              </a:spcAft>
              <a:buNone/>
            </a:pPr>
            <a:r>
              <a:rPr lang="en-US" sz="1100" b="1" spc="300" kern="0" dirty="0">
                <a:solidFill>
                  <a:srgbClr val="FF4D9D"/>
                </a:solidFill>
                <a:latin typeface="Segoe UI" pitchFamily="34" charset="0"/>
                <a:ea typeface="Segoe UI" pitchFamily="34" charset="-122"/>
                <a:cs typeface="Segoe UI" pitchFamily="34" charset="-120"/>
              </a:rPr>
              <a:t>SCREENSHOT NEEDED</a:t>
            </a:r>
            <a:endParaRPr lang="en-US" sz="1100" dirty="0"/>
          </a:p>
          <a:p>
            <a:pPr algn="ctr" indent="0" marL="0">
              <a:spcAft>
                <a:spcPts val="800"/>
              </a:spcAft>
              <a:buNone/>
            </a:pPr>
            <a:r>
              <a:rPr lang="en-US" sz="1500" dirty="0">
                <a:solidFill>
                  <a:srgbClr val="F2F0FF"/>
                </a:solidFill>
                <a:latin typeface="Consolas" pitchFamily="34" charset="0"/>
                <a:ea typeface="Consolas" pitchFamily="34" charset="-122"/>
                <a:cs typeface="Consolas" pitchFamily="34" charset="-120"/>
              </a:rPr>
              <a:t>screenshots/eat-connection.png</a:t>
            </a:r>
            <a:endParaRPr lang="en-US" sz="1100" dirty="0"/>
          </a:p>
          <a:p>
            <a:pPr algn="ctr" indent="0" marL="0">
              <a:spcAft>
                <a:spcPts val="800"/>
              </a:spcAft>
              <a:buNone/>
            </a:pPr>
            <a:r>
              <a:rPr lang="en-US" sz="1300" dirty="0">
                <a:solidFill>
                  <a:srgbClr val="B4BBE0"/>
                </a:solidFill>
                <a:latin typeface="Segoe UI" pitchFamily="34" charset="0"/>
                <a:ea typeface="Segoe UI" pitchFamily="34" charset="-122"/>
                <a:cs typeface="Segoe UI" pitchFamily="34" charset="-120"/>
              </a:rPr>
              <a:t>Motorized Device Connection + motor positions grid (Simulator port is fine)</a:t>
            </a:r>
            <a:endParaRPr lang="en-US" sz="1100" dirty="0"/>
          </a:p>
        </p:txBody>
      </p:sp>
      <p:sp>
        <p:nvSpPr>
          <p:cNvPr id="10" name="Text 6"/>
          <p:cNvSpPr txBox="1"/>
          <p:nvPr/>
        </p:nvSpPr>
        <p:spPr>
          <a:xfrm>
            <a:off x="6903720" y="1691640"/>
            <a:ext cx="4647895" cy="1371600"/>
          </a:xfrm>
          <a:prstGeom prst="rect">
            <a:avLst/>
          </a:prstGeom>
          <a:noFill/>
          <a:ln/>
        </p:spPr>
        <p:txBody>
          <a:bodyPr wrap="square" lIns="0" tIns="0" rIns="0" bIns="0" rtlCol="0" anchor="ct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Press Auto Run All.</a:t>
            </a:r>
            <a:endParaRPr lang="en-US" sz="3200" dirty="0"/>
          </a:p>
          <a:p>
            <a:pPr indent="0" marL="0">
              <a:buNone/>
            </a:pPr>
            <a:r>
              <a:rPr lang="en-US" sz="3200" dirty="0">
                <a:solidFill>
                  <a:srgbClr val="FF4D9D"/>
                </a:solidFill>
                <a:latin typeface="Segoe UI Semibold" pitchFamily="34" charset="0"/>
                <a:ea typeface="Segoe UI Semibold" pitchFamily="34" charset="-122"/>
                <a:cs typeface="Segoe UI Semibold" pitchFamily="34" charset="-120"/>
              </a:rPr>
              <a:t>Walk away.</a:t>
            </a:r>
            <a:endParaRPr lang="en-US" sz="3200" dirty="0"/>
          </a:p>
        </p:txBody>
      </p:sp>
      <p:sp>
        <p:nvSpPr>
          <p:cNvPr id="11" name="Text 7"/>
          <p:cNvSpPr txBox="1"/>
          <p:nvPr/>
        </p:nvSpPr>
        <p:spPr>
          <a:xfrm>
            <a:off x="6903720" y="3154680"/>
            <a:ext cx="4647895" cy="1371600"/>
          </a:xfrm>
          <a:prstGeom prst="rect">
            <a:avLst/>
          </a:prstGeom>
          <a:noFill/>
          <a:ln/>
        </p:spPr>
        <p:txBody>
          <a:bodyPr wrap="square" lIns="0" tIns="0" rIns="0" bIns="0" rtlCol="0" anchor="t"/>
          <a:lstStyle/>
          <a:p>
            <a:pPr indent="0" marL="0">
              <a:buNone/>
            </a:pPr>
            <a:r>
              <a:rPr lang="en-US" sz="1700" dirty="0">
                <a:solidFill>
                  <a:srgbClr val="B4BBE0"/>
                </a:solidFill>
                <a:latin typeface="Segoe UI" pitchFamily="34" charset="0"/>
                <a:ea typeface="Segoe UI" pitchFamily="34" charset="-122"/>
                <a:cs typeface="Segoe UI" pitchFamily="34" charset="-120"/>
              </a:rPr>
              <a:t>Four motors driven directly from N.I.N.A. The wizard makes every move and every measurement itself. Cancel at any time and it puts the motors back.</a:t>
            </a:r>
            <a:endParaRPr lang="en-US" sz="1700" dirty="0"/>
          </a:p>
        </p:txBody>
      </p:sp>
      <p:sp>
        <p:nvSpPr>
          <p:cNvPr id="12" name="Shape 8"/>
          <p:cNvSpPr/>
          <p:nvPr/>
        </p:nvSpPr>
        <p:spPr>
          <a:xfrm>
            <a:off x="6903720" y="4709160"/>
            <a:ext cx="4647895" cy="1143000"/>
          </a:xfrm>
          <a:prstGeom prst="roundRect">
            <a:avLst>
              <a:gd name="adj" fmla="val 11200"/>
            </a:avLst>
          </a:prstGeom>
          <a:solidFill>
            <a:srgbClr val="1E2650"/>
          </a:solidFill>
          <a:ln w="19050">
            <a:solidFill>
              <a:srgbClr val="8B5CF6"/>
            </a:solidFill>
            <a:prstDash val="solid"/>
          </a:ln>
        </p:spPr>
      </p:sp>
      <p:sp>
        <p:nvSpPr>
          <p:cNvPr id="13" name="Text 9"/>
          <p:cNvSpPr txBox="1"/>
          <p:nvPr/>
        </p:nvSpPr>
        <p:spPr>
          <a:xfrm>
            <a:off x="7178040" y="4800600"/>
            <a:ext cx="27432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THANK YOU</a:t>
            </a:r>
            <a:endParaRPr lang="en-US" sz="1300" dirty="0"/>
          </a:p>
        </p:txBody>
      </p:sp>
      <p:sp>
        <p:nvSpPr>
          <p:cNvPr id="14" name="Text 10"/>
          <p:cNvSpPr txBox="1"/>
          <p:nvPr/>
        </p:nvSpPr>
        <p:spPr>
          <a:xfrm>
            <a:off x="7178040" y="5102352"/>
            <a:ext cx="4099255" cy="685800"/>
          </a:xfrm>
          <a:prstGeom prst="rect">
            <a:avLst/>
          </a:prstGeom>
          <a:noFill/>
          <a:ln/>
        </p:spPr>
        <p:txBody>
          <a:bodyPr wrap="square" lIns="0" tIns="0" rIns="0" bIns="0" rtlCol="0" anchor="ctr"/>
          <a:lstStyle/>
          <a:p>
            <a:pPr indent="0" marL="0">
              <a:buNone/>
            </a:pPr>
            <a:r>
              <a:rPr lang="en-US" sz="1600" b="1" dirty="0">
                <a:solidFill>
                  <a:srgbClr val="F2F0FF"/>
                </a:solidFill>
                <a:latin typeface="Segoe UI" pitchFamily="34" charset="0"/>
                <a:ea typeface="Segoe UI" pitchFamily="34" charset="-122"/>
                <a:cs typeface="Segoe UI" pitchFamily="34" charset="-120"/>
              </a:rPr>
              <a:t>Josh Jones at ASG</a:t>
            </a:r>
            <a:pPr indent="0" marL="0">
              <a:buNone/>
            </a:pPr>
            <a:r>
              <a:rPr lang="en-US" sz="1600" dirty="0">
                <a:solidFill>
                  <a:srgbClr val="F2F0FF"/>
                </a:solidFill>
                <a:latin typeface="Segoe UI" pitchFamily="34" charset="0"/>
                <a:ea typeface="Segoe UI" pitchFamily="34" charset="-122"/>
                <a:cs typeface="Segoe UI" pitchFamily="34" charset="-120"/>
              </a:rPr>
              <a:t>, for the EAT that made this automation possible</a:t>
            </a:r>
            <a:endParaRPr lang="en-US" sz="16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Then it corrects tilt and backfocus for you</a:t>
            </a:r>
            <a:endParaRPr lang="en-US" sz="3200" dirty="0"/>
          </a:p>
        </p:txBody>
      </p:sp>
      <p:sp>
        <p:nvSpPr>
          <p:cNvPr id="4" name="Shape 2"/>
          <p:cNvSpPr/>
          <p:nvPr/>
        </p:nvSpPr>
        <p:spPr>
          <a:xfrm>
            <a:off x="640080" y="6108192"/>
            <a:ext cx="5538521"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989881"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ghilios.github.io/hocus-focus/overview/motorized-tilt-adapter</a:t>
            </a:r>
            <a:endParaRPr lang="en-US" sz="1300" dirty="0"/>
          </a:p>
        </p:txBody>
      </p:sp>
      <p:sp>
        <p:nvSpPr>
          <p:cNvPr id="8" name="Shape 4"/>
          <p:cNvSpPr/>
          <p:nvPr/>
        </p:nvSpPr>
        <p:spPr>
          <a:xfrm>
            <a:off x="640080" y="2080260"/>
            <a:ext cx="713232" cy="713232"/>
          </a:xfrm>
          <a:prstGeom prst="ellipse">
            <a:avLst/>
          </a:prstGeom>
          <a:solidFill>
            <a:srgbClr val="8B5CF6"/>
          </a:solidFill>
          <a:ln/>
        </p:spPr>
      </p:sp>
      <p:pic>
        <p:nvPicPr>
          <p:cNvPr id="9" name="Image 1" descr="/home/ghilios/src/hocus-focus/presentations/hocus-focus-v4/assets/icon-hand.png">    </p:cNvPr>
          <p:cNvPicPr>
            <a:picLocks noChangeAspect="1"/>
          </p:cNvPicPr>
          <p:nvPr/>
        </p:nvPicPr>
        <p:blipFill>
          <a:blip r:embed="rId4"/>
          <a:stretch>
            <a:fillRect/>
          </a:stretch>
        </p:blipFill>
        <p:spPr>
          <a:xfrm>
            <a:off x="832653" y="2272833"/>
            <a:ext cx="328087" cy="328087"/>
          </a:xfrm>
          <a:prstGeom prst="rect">
            <a:avLst/>
          </a:prstGeom>
        </p:spPr>
      </p:pic>
      <p:sp>
        <p:nvSpPr>
          <p:cNvPr id="10" name="Text 5"/>
          <p:cNvSpPr txBox="1"/>
          <p:nvPr/>
        </p:nvSpPr>
        <p:spPr>
          <a:xfrm>
            <a:off x="1627632" y="2025396"/>
            <a:ext cx="3584448" cy="411480"/>
          </a:xfrm>
          <a:prstGeom prst="rect">
            <a:avLst/>
          </a:prstGeom>
          <a:noFill/>
          <a:ln/>
        </p:spPr>
        <p:txBody>
          <a:bodyPr wrap="square" lIns="0" tIns="0" rIns="0" bIns="0" rtlCol="0" anchor="ctr"/>
          <a:lstStyle/>
          <a:p>
            <a:pPr indent="0" marL="0">
              <a:buNone/>
            </a:pPr>
            <a:r>
              <a:rPr lang="en-US" sz="2000" dirty="0">
                <a:solidFill>
                  <a:srgbClr val="F2F0FF"/>
                </a:solidFill>
                <a:latin typeface="Segoe UI Semibold" pitchFamily="34" charset="0"/>
                <a:ea typeface="Segoe UI Semibold" pitchFamily="34" charset="-122"/>
                <a:cs typeface="Segoe UI Semibold" pitchFamily="34" charset="-120"/>
              </a:rPr>
              <a:t>You approve every move</a:t>
            </a:r>
            <a:endParaRPr lang="en-US" sz="2000" dirty="0"/>
          </a:p>
        </p:txBody>
      </p:sp>
      <p:sp>
        <p:nvSpPr>
          <p:cNvPr id="11" name="Text 6"/>
          <p:cNvSpPr txBox="1"/>
          <p:nvPr/>
        </p:nvSpPr>
        <p:spPr>
          <a:xfrm>
            <a:off x="1627632" y="2446020"/>
            <a:ext cx="3584448" cy="68580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Review each motor command first. Apply tilt, backfocus, or both</a:t>
            </a:r>
            <a:endParaRPr lang="en-US" sz="1500" dirty="0"/>
          </a:p>
        </p:txBody>
      </p:sp>
      <p:sp>
        <p:nvSpPr>
          <p:cNvPr id="12" name="Shape 7"/>
          <p:cNvSpPr/>
          <p:nvPr/>
        </p:nvSpPr>
        <p:spPr>
          <a:xfrm>
            <a:off x="640080" y="3360420"/>
            <a:ext cx="713232" cy="713232"/>
          </a:xfrm>
          <a:prstGeom prst="ellipse">
            <a:avLst/>
          </a:prstGeom>
          <a:solidFill>
            <a:srgbClr val="8B5CF6"/>
          </a:solidFill>
          <a:ln/>
        </p:spPr>
      </p:sp>
      <p:pic>
        <p:nvPicPr>
          <p:cNvPr id="13" name="Image 2" descr="/home/ghilios/src/hocus-focus/presentations/hocus-focus-v4/assets/icon-moves.png">    </p:cNvPr>
          <p:cNvPicPr>
            <a:picLocks noChangeAspect="1"/>
          </p:cNvPicPr>
          <p:nvPr/>
        </p:nvPicPr>
        <p:blipFill>
          <a:blip r:embed="rId5"/>
          <a:stretch>
            <a:fillRect/>
          </a:stretch>
        </p:blipFill>
        <p:spPr>
          <a:xfrm>
            <a:off x="832653" y="3552993"/>
            <a:ext cx="328087" cy="328087"/>
          </a:xfrm>
          <a:prstGeom prst="rect">
            <a:avLst/>
          </a:prstGeom>
        </p:spPr>
      </p:pic>
      <p:sp>
        <p:nvSpPr>
          <p:cNvPr id="14" name="Text 8"/>
          <p:cNvSpPr txBox="1"/>
          <p:nvPr/>
        </p:nvSpPr>
        <p:spPr>
          <a:xfrm>
            <a:off x="1627632" y="3305556"/>
            <a:ext cx="3584448" cy="411480"/>
          </a:xfrm>
          <a:prstGeom prst="rect">
            <a:avLst/>
          </a:prstGeom>
          <a:noFill/>
          <a:ln/>
        </p:spPr>
        <p:txBody>
          <a:bodyPr wrap="square" lIns="0" tIns="0" rIns="0" bIns="0" rtlCol="0" anchor="ctr"/>
          <a:lstStyle/>
          <a:p>
            <a:pPr indent="0" marL="0">
              <a:buNone/>
            </a:pPr>
            <a:r>
              <a:rPr lang="en-US" sz="2000" dirty="0">
                <a:solidFill>
                  <a:srgbClr val="F2F0FF"/>
                </a:solidFill>
                <a:latin typeface="Segoe UI Semibold" pitchFamily="34" charset="0"/>
                <a:ea typeface="Segoe UI Semibold" pitchFamily="34" charset="-122"/>
                <a:cs typeface="Segoe UI Semibold" pitchFamily="34" charset="-120"/>
              </a:rPr>
              <a:t>At most three moves</a:t>
            </a:r>
            <a:endParaRPr lang="en-US" sz="2000" dirty="0"/>
          </a:p>
        </p:txBody>
      </p:sp>
      <p:sp>
        <p:nvSpPr>
          <p:cNvPr id="15" name="Text 9"/>
          <p:cNvSpPr txBox="1"/>
          <p:nvPr/>
        </p:nvSpPr>
        <p:spPr>
          <a:xfrm>
            <a:off x="1627632" y="3726180"/>
            <a:ext cx="3584448" cy="68580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For a complete tilt and backfocus correction</a:t>
            </a:r>
            <a:endParaRPr lang="en-US" sz="1500" dirty="0"/>
          </a:p>
        </p:txBody>
      </p:sp>
      <p:sp>
        <p:nvSpPr>
          <p:cNvPr id="16" name="Shape 10"/>
          <p:cNvSpPr/>
          <p:nvPr/>
        </p:nvSpPr>
        <p:spPr>
          <a:xfrm>
            <a:off x="640080" y="4640580"/>
            <a:ext cx="713232" cy="713232"/>
          </a:xfrm>
          <a:prstGeom prst="ellipse">
            <a:avLst/>
          </a:prstGeom>
          <a:solidFill>
            <a:srgbClr val="8B5CF6"/>
          </a:solidFill>
          <a:ln/>
        </p:spPr>
      </p:sp>
      <p:pic>
        <p:nvPicPr>
          <p:cNvPr id="17" name="Image 3" descr="/home/ghilios/src/hocus-focus/presentations/hocus-focus-v4/assets/icon-undo.png">    </p:cNvPr>
          <p:cNvPicPr>
            <a:picLocks noChangeAspect="1"/>
          </p:cNvPicPr>
          <p:nvPr/>
        </p:nvPicPr>
        <p:blipFill>
          <a:blip r:embed="rId6"/>
          <a:stretch>
            <a:fillRect/>
          </a:stretch>
        </p:blipFill>
        <p:spPr>
          <a:xfrm>
            <a:off x="832653" y="4833153"/>
            <a:ext cx="328087" cy="328087"/>
          </a:xfrm>
          <a:prstGeom prst="rect">
            <a:avLst/>
          </a:prstGeom>
        </p:spPr>
      </p:pic>
      <p:sp>
        <p:nvSpPr>
          <p:cNvPr id="18" name="Text 11"/>
          <p:cNvSpPr txBox="1"/>
          <p:nvPr/>
        </p:nvSpPr>
        <p:spPr>
          <a:xfrm>
            <a:off x="1627632" y="4585716"/>
            <a:ext cx="3584448" cy="411480"/>
          </a:xfrm>
          <a:prstGeom prst="rect">
            <a:avLst/>
          </a:prstGeom>
          <a:noFill/>
          <a:ln/>
        </p:spPr>
        <p:txBody>
          <a:bodyPr wrap="square" lIns="0" tIns="0" rIns="0" bIns="0" rtlCol="0" anchor="ctr"/>
          <a:lstStyle/>
          <a:p>
            <a:pPr indent="0" marL="0">
              <a:buNone/>
            </a:pPr>
            <a:r>
              <a:rPr lang="en-US" sz="2000" dirty="0">
                <a:solidFill>
                  <a:srgbClr val="F2F0FF"/>
                </a:solidFill>
                <a:latin typeface="Segoe UI Semibold" pitchFamily="34" charset="0"/>
                <a:ea typeface="Segoe UI Semibold" pitchFamily="34" charset="-122"/>
                <a:cs typeface="Segoe UI Semibold" pitchFamily="34" charset="-120"/>
              </a:rPr>
              <a:t>Got worse? Revert</a:t>
            </a:r>
            <a:endParaRPr lang="en-US" sz="2000" dirty="0"/>
          </a:p>
        </p:txBody>
      </p:sp>
      <p:sp>
        <p:nvSpPr>
          <p:cNvPr id="19" name="Text 12"/>
          <p:cNvSpPr txBox="1"/>
          <p:nvPr/>
        </p:nvSpPr>
        <p:spPr>
          <a:xfrm>
            <a:off x="1627632" y="5006340"/>
            <a:ext cx="3584448" cy="68580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One click undoes the moves. Then measure again</a:t>
            </a:r>
            <a:endParaRPr lang="en-US" sz="1500" dirty="0"/>
          </a:p>
        </p:txBody>
      </p:sp>
      <p:sp>
        <p:nvSpPr>
          <p:cNvPr id="20" name="Shape 13"/>
          <p:cNvSpPr/>
          <p:nvPr/>
        </p:nvSpPr>
        <p:spPr>
          <a:xfrm>
            <a:off x="5486400" y="1691640"/>
            <a:ext cx="6062472" cy="4160520"/>
          </a:xfrm>
          <a:prstGeom prst="roundRect">
            <a:avLst>
              <a:gd name="adj" fmla="val 2637"/>
            </a:avLst>
          </a:prstGeom>
          <a:solidFill>
            <a:srgbClr val="151B3A">
              <a:alpha val="75000"/>
            </a:srgbClr>
          </a:solidFill>
          <a:ln w="19050">
            <a:solidFill>
              <a:srgbClr val="FF4D9D"/>
            </a:solidFill>
            <a:prstDash val="dash"/>
          </a:ln>
        </p:spPr>
      </p:sp>
      <p:sp>
        <p:nvSpPr>
          <p:cNvPr id="21" name="Text 14"/>
          <p:cNvSpPr txBox="1"/>
          <p:nvPr/>
        </p:nvSpPr>
        <p:spPr>
          <a:xfrm>
            <a:off x="5669280" y="1691640"/>
            <a:ext cx="5696712" cy="4160520"/>
          </a:xfrm>
          <a:prstGeom prst="rect">
            <a:avLst/>
          </a:prstGeom>
          <a:noFill/>
          <a:ln/>
        </p:spPr>
        <p:txBody>
          <a:bodyPr wrap="square" rtlCol="0" anchor="ctr"/>
          <a:lstStyle/>
          <a:p>
            <a:pPr algn="ctr" indent="0" marL="0">
              <a:spcAft>
                <a:spcPts val="800"/>
              </a:spcAft>
              <a:buNone/>
            </a:pPr>
            <a:r>
              <a:rPr lang="en-US" sz="1100" b="1" spc="300" kern="0" dirty="0">
                <a:solidFill>
                  <a:srgbClr val="FF4D9D"/>
                </a:solidFill>
                <a:latin typeface="Segoe UI" pitchFamily="34" charset="0"/>
                <a:ea typeface="Segoe UI" pitchFamily="34" charset="-122"/>
                <a:cs typeface="Segoe UI" pitchFamily="34" charset="-120"/>
              </a:rPr>
              <a:t>SCREENSHOT NEEDED</a:t>
            </a:r>
            <a:endParaRPr lang="en-US" sz="1100" dirty="0"/>
          </a:p>
          <a:p>
            <a:pPr algn="ctr" indent="0" marL="0">
              <a:spcAft>
                <a:spcPts val="800"/>
              </a:spcAft>
              <a:buNone/>
            </a:pPr>
            <a:r>
              <a:rPr lang="en-US" sz="1500" dirty="0">
                <a:solidFill>
                  <a:srgbClr val="F2F0FF"/>
                </a:solidFill>
                <a:latin typeface="Consolas" pitchFamily="34" charset="0"/>
                <a:ea typeface="Consolas" pitchFamily="34" charset="-122"/>
                <a:cs typeface="Consolas" pitchFamily="34" charset="-120"/>
              </a:rPr>
              <a:t>screenshots/eat-review-commands.png</a:t>
            </a:r>
            <a:endParaRPr lang="en-US" sz="1100" dirty="0"/>
          </a:p>
          <a:p>
            <a:pPr algn="ctr" indent="0" marL="0">
              <a:spcAft>
                <a:spcPts val="800"/>
              </a:spcAft>
              <a:buNone/>
            </a:pPr>
            <a:r>
              <a:rPr lang="en-US" sz="1300" dirty="0">
                <a:solidFill>
                  <a:srgbClr val="B4BBE0"/>
                </a:solidFill>
                <a:latin typeface="Segoe UI" pitchFamily="34" charset="0"/>
                <a:ea typeface="Segoe UI" pitchFamily="34" charset="-122"/>
                <a:cs typeface="Segoe UI" pitchFamily="34" charset="-120"/>
              </a:rPr>
              <a:t>“Review motor commands” approval dialog</a:t>
            </a:r>
            <a:endParaRPr lang="en-US" sz="11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74320"/>
            <a:ext cx="8229600" cy="292608"/>
          </a:xfrm>
          <a:prstGeom prst="rect">
            <a:avLst/>
          </a:prstGeom>
          <a:noFill/>
          <a:ln/>
        </p:spPr>
        <p:txBody>
          <a:bodyPr wrap="square" lIns="0" tIns="0" rIns="0" bIns="0" rtlCol="0" anchor="ctr"/>
          <a:lstStyle/>
          <a:p>
            <a:pPr indent="0" marL="0">
              <a:buNone/>
            </a:pPr>
            <a:r>
              <a:rPr lang="en-US" sz="1100" spc="200" kern="0" dirty="0">
                <a:solidFill>
                  <a:srgbClr val="8088B8"/>
                </a:solidFill>
                <a:latin typeface="Segoe UI" pitchFamily="34" charset="0"/>
                <a:ea typeface="Segoe UI" pitchFamily="34" charset="-122"/>
                <a:cs typeface="Segoe UI" pitchFamily="34" charset="-120"/>
              </a:rPr>
              <a:t>01  FEWER DECISIONS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spc="200" kern="0" dirty="0">
                <a:solidFill>
                  <a:srgbClr val="8088B8"/>
                </a:solidFill>
                <a:latin typeface="Segoe UI" pitchFamily="34" charset="0"/>
                <a:ea typeface="Segoe UI" pitchFamily="34" charset="-122"/>
                <a:cs typeface="Segoe UI" pitchFamily="34" charset="-120"/>
              </a:rPr>
              <a:t>02  MORE STARS</a:t>
            </a:r>
            <a:pPr indent="0" marL="0">
              <a:buNone/>
            </a:pPr>
            <a:r>
              <a:rPr lang="en-US" sz="1100" spc="200" kern="0" dirty="0">
                <a:solidFill>
                  <a:srgbClr val="8088B8"/>
                </a:solidFill>
                <a:latin typeface="Segoe UI" pitchFamily="34" charset="0"/>
                <a:ea typeface="Segoe UI" pitchFamily="34" charset="-122"/>
                <a:cs typeface="Segoe UI" pitchFamily="34" charset="-120"/>
              </a:rPr>
              <a:t>      </a:t>
            </a:r>
            <a:pPr indent="0" marL="0">
              <a:buNone/>
            </a:pPr>
            <a:r>
              <a:rPr lang="en-US" sz="1100" b="1" spc="200" kern="0" dirty="0">
                <a:solidFill>
                  <a:srgbClr val="F2F0FF"/>
                </a:solidFill>
                <a:latin typeface="Segoe UI" pitchFamily="34" charset="0"/>
                <a:ea typeface="Segoe UI" pitchFamily="34" charset="-122"/>
                <a:cs typeface="Segoe UI" pitchFamily="34" charset="-120"/>
              </a:rPr>
              <a:t>03  FLAT SENSORS</a:t>
            </a:r>
            <a:endParaRPr lang="en-US" sz="1100" dirty="0"/>
          </a:p>
        </p:txBody>
      </p:sp>
      <p:sp>
        <p:nvSpPr>
          <p:cNvPr id="3" name="Text 1"/>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Rehearse all of it indoors</a:t>
            </a:r>
            <a:endParaRPr lang="en-US" sz="3200" dirty="0"/>
          </a:p>
        </p:txBody>
      </p:sp>
      <p:sp>
        <p:nvSpPr>
          <p:cNvPr id="4" name="Shape 2"/>
          <p:cNvSpPr/>
          <p:nvPr/>
        </p:nvSpPr>
        <p:spPr>
          <a:xfrm>
            <a:off x="640080" y="6108192"/>
            <a:ext cx="5061204" cy="420624"/>
          </a:xfrm>
          <a:prstGeom prst="roundRect">
            <a:avLst>
              <a:gd name="adj" fmla="val 17391"/>
            </a:avLst>
          </a:prstGeom>
          <a:solidFill>
            <a:srgbClr val="1E2650"/>
          </a:solidFill>
          <a:ln w="9525">
            <a:solidFill>
              <a:srgbClr val="3A4380"/>
            </a:solidFill>
            <a:prstDash val="solid"/>
          </a:ln>
        </p:spPr>
      </p:sp>
      <p:pic>
        <p:nvPicPr>
          <p:cNvPr id="5" name="Image 0" descr="/home/ghilios/src/hocus-focus/presentations/hocus-focus-v4/assets/icon-book.png">    </p:cNvPr>
          <p:cNvPicPr>
            <a:picLocks noChangeAspect="1"/>
          </p:cNvPicPr>
          <p:nvPr/>
        </p:nvPicPr>
        <p:blipFill>
          <a:blip r:embed="rId2"/>
          <a:stretch>
            <a:fillRect/>
          </a:stretch>
        </p:blipFill>
        <p:spPr>
          <a:xfrm>
            <a:off x="804672" y="6217920"/>
            <a:ext cx="201168" cy="201168"/>
          </a:xfrm>
          <a:prstGeom prst="rect">
            <a:avLst/>
          </a:prstGeom>
        </p:spPr>
      </p:pic>
      <p:sp>
        <p:nvSpPr>
          <p:cNvPr id="6" name="Text 3"/>
          <p:cNvSpPr txBox="1"/>
          <p:nvPr/>
        </p:nvSpPr>
        <p:spPr>
          <a:xfrm>
            <a:off x="1115568" y="6108192"/>
            <a:ext cx="4512564" cy="420624"/>
          </a:xfrm>
          <a:prstGeom prst="rect">
            <a:avLst/>
          </a:prstGeom>
          <a:noFill/>
          <a:ln/>
        </p:spPr>
        <p:txBody>
          <a:bodyPr wrap="square" lIns="0" tIns="0" rIns="0" bIns="0" rtlCol="0" anchor="ctr"/>
          <a:lstStyle/>
          <a:p>
            <a:pPr indent="0" marL="0">
              <a:buNone/>
            </a:pPr>
            <a:r>
              <a:rPr lang="en-US" sz="1300" u="sng" dirty="0">
                <a:solidFill>
                  <a:srgbClr val="F2F0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ghilios.github.io/hocus-focus/overview/camera-simulator</a:t>
            </a:r>
            <a:endParaRPr lang="en-US" sz="1300" dirty="0"/>
          </a:p>
        </p:txBody>
      </p:sp>
      <p:sp>
        <p:nvSpPr>
          <p:cNvPr id="8" name="Shape 4"/>
          <p:cNvSpPr/>
          <p:nvPr/>
        </p:nvSpPr>
        <p:spPr>
          <a:xfrm>
            <a:off x="640080" y="1693988"/>
            <a:ext cx="3429000" cy="2509903"/>
          </a:xfrm>
          <a:prstGeom prst="roundRect">
            <a:avLst>
              <a:gd name="adj" fmla="val 3643"/>
            </a:avLst>
          </a:prstGeom>
          <a:solidFill>
            <a:srgbClr val="FFFFFF"/>
          </a:solidFill>
          <a:ln/>
          <a:effectLst>
            <a:outerShdw sx="100000" sy="100000" kx="0" ky="0" algn="bl" rotWithShape="0" blurRad="177800" dist="50800" dir="5400000">
              <a:srgbClr val="000000">
                <a:alpha val="45000"/>
              </a:srgbClr>
            </a:outerShdw>
          </a:effectLst>
        </p:spPr>
      </p:sp>
      <p:pic>
        <p:nvPicPr>
          <p:cNvPr id="9" name="Image 1" descr="/home/ghilios/src/hocus-focus/presentations/hocus-focus-v4/screenshots/sim-frame-focused.png">    </p:cNvPr>
          <p:cNvPicPr>
            <a:picLocks noChangeAspect="1"/>
          </p:cNvPicPr>
          <p:nvPr/>
        </p:nvPicPr>
        <p:blipFill>
          <a:blip r:embed="rId4"/>
          <a:stretch>
            <a:fillRect/>
          </a:stretch>
        </p:blipFill>
        <p:spPr>
          <a:xfrm>
            <a:off x="749808" y="1803716"/>
            <a:ext cx="3209544" cy="2290447"/>
          </a:xfrm>
          <a:prstGeom prst="rect">
            <a:avLst/>
          </a:prstGeom>
        </p:spPr>
      </p:pic>
      <p:sp>
        <p:nvSpPr>
          <p:cNvPr id="10" name="Shape 5"/>
          <p:cNvSpPr/>
          <p:nvPr/>
        </p:nvSpPr>
        <p:spPr>
          <a:xfrm>
            <a:off x="4381348" y="1693988"/>
            <a:ext cx="3429000" cy="2509903"/>
          </a:xfrm>
          <a:prstGeom prst="roundRect">
            <a:avLst>
              <a:gd name="adj" fmla="val 3643"/>
            </a:avLst>
          </a:prstGeom>
          <a:solidFill>
            <a:srgbClr val="FFFFFF"/>
          </a:solidFill>
          <a:ln/>
          <a:effectLst>
            <a:outerShdw sx="100000" sy="100000" kx="0" ky="0" algn="bl" rotWithShape="0" blurRad="177800" dist="50800" dir="5400000">
              <a:srgbClr val="000000">
                <a:alpha val="45000"/>
              </a:srgbClr>
            </a:outerShdw>
          </a:effectLst>
        </p:spPr>
      </p:sp>
      <p:pic>
        <p:nvPicPr>
          <p:cNvPr id="11" name="Image 2" descr="/home/ghilios/src/hocus-focus/presentations/hocus-focus-v4/screenshots/sim-frame-defocused.png">    </p:cNvPr>
          <p:cNvPicPr>
            <a:picLocks noChangeAspect="1"/>
          </p:cNvPicPr>
          <p:nvPr/>
        </p:nvPicPr>
        <p:blipFill>
          <a:blip r:embed="rId5"/>
          <a:stretch>
            <a:fillRect/>
          </a:stretch>
        </p:blipFill>
        <p:spPr>
          <a:xfrm>
            <a:off x="4491076" y="1803716"/>
            <a:ext cx="3209544" cy="2290447"/>
          </a:xfrm>
          <a:prstGeom prst="rect">
            <a:avLst/>
          </a:prstGeom>
        </p:spPr>
      </p:pic>
      <p:sp>
        <p:nvSpPr>
          <p:cNvPr id="12" name="Shape 6"/>
          <p:cNvSpPr/>
          <p:nvPr/>
        </p:nvSpPr>
        <p:spPr>
          <a:xfrm>
            <a:off x="8122615" y="1691640"/>
            <a:ext cx="3429000" cy="2514600"/>
          </a:xfrm>
          <a:prstGeom prst="roundRect">
            <a:avLst>
              <a:gd name="adj" fmla="val 4364"/>
            </a:avLst>
          </a:prstGeom>
          <a:solidFill>
            <a:srgbClr val="151B3A">
              <a:alpha val="75000"/>
            </a:srgbClr>
          </a:solidFill>
          <a:ln w="19050">
            <a:solidFill>
              <a:srgbClr val="FF4D9D"/>
            </a:solidFill>
            <a:prstDash val="dash"/>
          </a:ln>
        </p:spPr>
      </p:sp>
      <p:sp>
        <p:nvSpPr>
          <p:cNvPr id="13" name="Text 7"/>
          <p:cNvSpPr txBox="1"/>
          <p:nvPr/>
        </p:nvSpPr>
        <p:spPr>
          <a:xfrm>
            <a:off x="8305495" y="1691640"/>
            <a:ext cx="3063240" cy="2514600"/>
          </a:xfrm>
          <a:prstGeom prst="rect">
            <a:avLst/>
          </a:prstGeom>
          <a:noFill/>
          <a:ln/>
        </p:spPr>
        <p:txBody>
          <a:bodyPr wrap="square" rtlCol="0" anchor="ctr"/>
          <a:lstStyle/>
          <a:p>
            <a:pPr algn="ctr" indent="0" marL="0">
              <a:spcAft>
                <a:spcPts val="800"/>
              </a:spcAft>
              <a:buNone/>
            </a:pPr>
            <a:r>
              <a:rPr lang="en-US" sz="1100" b="1" spc="300" kern="0" dirty="0">
                <a:solidFill>
                  <a:srgbClr val="FF4D9D"/>
                </a:solidFill>
                <a:latin typeface="Segoe UI" pitchFamily="34" charset="0"/>
                <a:ea typeface="Segoe UI" pitchFamily="34" charset="-122"/>
                <a:cs typeface="Segoe UI" pitchFamily="34" charset="-120"/>
              </a:rPr>
              <a:t>SCREENSHOT NEEDED</a:t>
            </a:r>
            <a:endParaRPr lang="en-US" sz="1100" dirty="0"/>
          </a:p>
          <a:p>
            <a:pPr algn="ctr" indent="0" marL="0">
              <a:spcAft>
                <a:spcPts val="800"/>
              </a:spcAft>
              <a:buNone/>
            </a:pPr>
            <a:r>
              <a:rPr lang="en-US" sz="1500" dirty="0">
                <a:solidFill>
                  <a:srgbClr val="F2F0FF"/>
                </a:solidFill>
                <a:latin typeface="Consolas" pitchFamily="34" charset="0"/>
                <a:ea typeface="Consolas" pitchFamily="34" charset="-122"/>
                <a:cs typeface="Consolas" pitchFamily="34" charset="-120"/>
              </a:rPr>
              <a:t>screenshots/sim-tilt-panel.png</a:t>
            </a:r>
            <a:endParaRPr lang="en-US" sz="1100" dirty="0"/>
          </a:p>
          <a:p>
            <a:pPr algn="ctr" indent="0" marL="0">
              <a:spcAft>
                <a:spcPts val="800"/>
              </a:spcAft>
              <a:buNone/>
            </a:pPr>
            <a:r>
              <a:rPr lang="en-US" sz="1300" dirty="0">
                <a:solidFill>
                  <a:srgbClr val="B4BBE0"/>
                </a:solidFill>
                <a:latin typeface="Segoe UI" pitchFamily="34" charset="0"/>
                <a:ea typeface="Segoe UI" pitchFamily="34" charset="-122"/>
                <a:cs typeface="Segoe UI" pitchFamily="34" charset="-120"/>
              </a:rPr>
              <a:t>Simulator Tilt Adapter panel at ✓ ≈ flat</a:t>
            </a:r>
            <a:endParaRPr lang="en-US" sz="1100" dirty="0"/>
          </a:p>
        </p:txBody>
      </p:sp>
      <p:sp>
        <p:nvSpPr>
          <p:cNvPr id="14" name="Text 8"/>
          <p:cNvSpPr txBox="1"/>
          <p:nvPr/>
        </p:nvSpPr>
        <p:spPr>
          <a:xfrm>
            <a:off x="640080" y="4480560"/>
            <a:ext cx="3429000" cy="457200"/>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A camera simulator with real stars</a:t>
            </a:r>
            <a:endParaRPr lang="en-US" sz="1700" dirty="0"/>
          </a:p>
        </p:txBody>
      </p:sp>
      <p:sp>
        <p:nvSpPr>
          <p:cNvPr id="15" name="Text 9"/>
          <p:cNvSpPr txBox="1"/>
          <p:nvPr/>
        </p:nvSpPr>
        <p:spPr>
          <a:xfrm>
            <a:off x="640080" y="4983480"/>
            <a:ext cx="3429000" cy="82296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Catalog stars for wherever the mount points, with real sensors, filters, seeing and noise</a:t>
            </a:r>
            <a:endParaRPr lang="en-US" sz="1400" dirty="0"/>
          </a:p>
        </p:txBody>
      </p:sp>
      <p:sp>
        <p:nvSpPr>
          <p:cNvPr id="16" name="Text 10"/>
          <p:cNvSpPr txBox="1"/>
          <p:nvPr/>
        </p:nvSpPr>
        <p:spPr>
          <a:xfrm>
            <a:off x="4381348" y="4480560"/>
            <a:ext cx="3429000" cy="457200"/>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It defocuses like your scope</a:t>
            </a:r>
            <a:endParaRPr lang="en-US" sz="1700" dirty="0"/>
          </a:p>
        </p:txBody>
      </p:sp>
      <p:sp>
        <p:nvSpPr>
          <p:cNvPr id="17" name="Text 11"/>
          <p:cNvSpPr txBox="1"/>
          <p:nvPr/>
        </p:nvSpPr>
        <p:spPr>
          <a:xfrm>
            <a:off x="4381348" y="4983480"/>
            <a:ext cx="3429000" cy="82296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Donuts included. Inject tilt and backfocus error on purpose</a:t>
            </a:r>
            <a:endParaRPr lang="en-US" sz="1400" dirty="0"/>
          </a:p>
        </p:txBody>
      </p:sp>
      <p:sp>
        <p:nvSpPr>
          <p:cNvPr id="18" name="Text 12"/>
          <p:cNvSpPr txBox="1"/>
          <p:nvPr/>
        </p:nvSpPr>
        <p:spPr>
          <a:xfrm>
            <a:off x="8122615" y="4480560"/>
            <a:ext cx="3429000" cy="457200"/>
          </a:xfrm>
          <a:prstGeom prst="rect">
            <a:avLst/>
          </a:prstGeom>
          <a:noFill/>
          <a:ln/>
        </p:spPr>
        <p:txBody>
          <a:bodyPr wrap="square" lIns="0" tIns="0" rIns="0" bIns="0" rtlCol="0" anchor="ctr"/>
          <a:lstStyle/>
          <a:p>
            <a:pPr indent="0" marL="0">
              <a:buNone/>
            </a:pPr>
            <a:r>
              <a:rPr lang="en-US" sz="1700" dirty="0">
                <a:solidFill>
                  <a:srgbClr val="F2F0FF"/>
                </a:solidFill>
                <a:latin typeface="Segoe UI Semibold" pitchFamily="34" charset="0"/>
                <a:ea typeface="Segoe UI Semibold" pitchFamily="34" charset="-122"/>
                <a:cs typeface="Segoe UI Semibold" pitchFamily="34" charset="-120"/>
              </a:rPr>
              <a:t>Virtual screws, or a virtual EAT</a:t>
            </a:r>
            <a:endParaRPr lang="en-US" sz="1700" dirty="0"/>
          </a:p>
        </p:txBody>
      </p:sp>
      <p:sp>
        <p:nvSpPr>
          <p:cNvPr id="19" name="Text 13"/>
          <p:cNvSpPr txBox="1"/>
          <p:nvPr/>
        </p:nvSpPr>
        <p:spPr>
          <a:xfrm>
            <a:off x="8122615" y="4983480"/>
            <a:ext cx="3429000" cy="82296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Run autofocus, calibration and correction on a cloudy day</a:t>
            </a:r>
            <a:endParaRPr lang="en-US" sz="14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21792"/>
            <a:ext cx="10911535" cy="868680"/>
          </a:xfrm>
          <a:prstGeom prst="rect">
            <a:avLst/>
          </a:prstGeom>
          <a:noFill/>
          <a:ln/>
        </p:spPr>
        <p:txBody>
          <a:bodyPr wrap="square" lIns="0" tIns="0" rIns="0" bIns="0" rtlCol="0" anchor="ctr">
            <a:normAutofit/>
          </a:bodyPr>
          <a:lstStyle/>
          <a:p>
            <a:pPr indent="0" marL="0">
              <a:buNone/>
            </a:pPr>
            <a:r>
              <a:rPr lang="en-US" sz="3200" dirty="0">
                <a:solidFill>
                  <a:srgbClr val="F2F0FF"/>
                </a:solidFill>
                <a:latin typeface="Segoe UI Semibold" pitchFamily="34" charset="0"/>
                <a:ea typeface="Segoe UI Semibold" pitchFamily="34" charset="-122"/>
                <a:cs typeface="Segoe UI Semibold" pitchFamily="34" charset="-120"/>
              </a:rPr>
              <a:t>Why every star matters</a:t>
            </a:r>
            <a:endParaRPr lang="en-US" sz="3200" dirty="0"/>
          </a:p>
        </p:txBody>
      </p:sp>
      <p:sp>
        <p:nvSpPr>
          <p:cNvPr id="4" name="Shape 1"/>
          <p:cNvSpPr/>
          <p:nvPr/>
        </p:nvSpPr>
        <p:spPr>
          <a:xfrm>
            <a:off x="640080" y="1783080"/>
            <a:ext cx="3429000" cy="1234440"/>
          </a:xfrm>
          <a:prstGeom prst="roundRect">
            <a:avLst>
              <a:gd name="adj" fmla="val 10370"/>
            </a:avLst>
          </a:prstGeom>
          <a:solidFill>
            <a:srgbClr val="151B3A">
              <a:alpha val="92000"/>
            </a:srgbClr>
          </a:solidFill>
          <a:ln w="9525">
            <a:solidFill>
              <a:srgbClr val="3A4380"/>
            </a:solidFill>
            <a:prstDash val="solid"/>
          </a:ln>
        </p:spPr>
      </p:sp>
      <p:sp>
        <p:nvSpPr>
          <p:cNvPr id="5" name="Text 2"/>
          <p:cNvSpPr txBox="1"/>
          <p:nvPr/>
        </p:nvSpPr>
        <p:spPr>
          <a:xfrm>
            <a:off x="914400" y="1892808"/>
            <a:ext cx="288036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01  FEWER DECISIONS</a:t>
            </a:r>
            <a:endParaRPr lang="en-US" sz="1300" dirty="0"/>
          </a:p>
        </p:txBody>
      </p:sp>
      <p:sp>
        <p:nvSpPr>
          <p:cNvPr id="6" name="Text 3"/>
          <p:cNvSpPr txBox="1"/>
          <p:nvPr/>
        </p:nvSpPr>
        <p:spPr>
          <a:xfrm>
            <a:off x="914400" y="2240280"/>
            <a:ext cx="2880360" cy="685800"/>
          </a:xfrm>
          <a:prstGeom prst="rect">
            <a:avLst/>
          </a:prstGeom>
          <a:noFill/>
          <a:ln/>
        </p:spPr>
        <p:txBody>
          <a:bodyPr wrap="square" lIns="0" tIns="0" rIns="0" bIns="0" rtlCol="0" anchor="t"/>
          <a:lstStyle/>
          <a:p>
            <a:pPr indent="0" marL="0">
              <a:buNone/>
            </a:pPr>
            <a:r>
              <a:rPr lang="en-US" sz="1600" dirty="0">
                <a:solidFill>
                  <a:srgbClr val="F2F0FF"/>
                </a:solidFill>
                <a:latin typeface="Segoe UI" pitchFamily="34" charset="0"/>
                <a:ea typeface="Segoe UI" pitchFamily="34" charset="-122"/>
                <a:cs typeface="Segoe UI" pitchFamily="34" charset="-120"/>
              </a:rPr>
              <a:t>Too many settings? The optimizer sets them for you.</a:t>
            </a:r>
            <a:endParaRPr lang="en-US" sz="1600" dirty="0"/>
          </a:p>
        </p:txBody>
      </p:sp>
      <p:sp>
        <p:nvSpPr>
          <p:cNvPr id="7" name="Shape 4"/>
          <p:cNvSpPr/>
          <p:nvPr/>
        </p:nvSpPr>
        <p:spPr>
          <a:xfrm>
            <a:off x="4381348" y="1783080"/>
            <a:ext cx="3429000" cy="1234440"/>
          </a:xfrm>
          <a:prstGeom prst="roundRect">
            <a:avLst>
              <a:gd name="adj" fmla="val 10370"/>
            </a:avLst>
          </a:prstGeom>
          <a:solidFill>
            <a:srgbClr val="151B3A">
              <a:alpha val="92000"/>
            </a:srgbClr>
          </a:solidFill>
          <a:ln w="9525">
            <a:solidFill>
              <a:srgbClr val="3A4380"/>
            </a:solidFill>
            <a:prstDash val="solid"/>
          </a:ln>
        </p:spPr>
      </p:sp>
      <p:sp>
        <p:nvSpPr>
          <p:cNvPr id="8" name="Text 5"/>
          <p:cNvSpPr txBox="1"/>
          <p:nvPr/>
        </p:nvSpPr>
        <p:spPr>
          <a:xfrm>
            <a:off x="4655668" y="1892808"/>
            <a:ext cx="288036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02  MORE STARS</a:t>
            </a:r>
            <a:endParaRPr lang="en-US" sz="1300" dirty="0"/>
          </a:p>
        </p:txBody>
      </p:sp>
      <p:sp>
        <p:nvSpPr>
          <p:cNvPr id="9" name="Text 6"/>
          <p:cNvSpPr txBox="1"/>
          <p:nvPr/>
        </p:nvSpPr>
        <p:spPr>
          <a:xfrm>
            <a:off x="4655668" y="2240280"/>
            <a:ext cx="2880360" cy="685800"/>
          </a:xfrm>
          <a:prstGeom prst="rect">
            <a:avLst/>
          </a:prstGeom>
          <a:noFill/>
          <a:ln/>
        </p:spPr>
        <p:txBody>
          <a:bodyPr wrap="square" lIns="0" tIns="0" rIns="0" bIns="0" rtlCol="0" anchor="t"/>
          <a:lstStyle/>
          <a:p>
            <a:pPr indent="0" marL="0">
              <a:buNone/>
            </a:pPr>
            <a:r>
              <a:rPr lang="en-US" sz="1600" dirty="0">
                <a:solidFill>
                  <a:srgbClr val="F2F0FF"/>
                </a:solidFill>
                <a:latin typeface="Segoe UI" pitchFamily="34" charset="0"/>
                <a:ea typeface="Segoe UI" pitchFamily="34" charset="-122"/>
                <a:cs typeface="Segoe UI" pitchFamily="34" charset="-120"/>
              </a:rPr>
              <a:t>Donuts, adaptive thresholds, better fits, frame review.</a:t>
            </a:r>
            <a:endParaRPr lang="en-US" sz="1600" dirty="0"/>
          </a:p>
        </p:txBody>
      </p:sp>
      <p:sp>
        <p:nvSpPr>
          <p:cNvPr id="10" name="Shape 7"/>
          <p:cNvSpPr/>
          <p:nvPr/>
        </p:nvSpPr>
        <p:spPr>
          <a:xfrm>
            <a:off x="8122615" y="1783080"/>
            <a:ext cx="3429000" cy="1234440"/>
          </a:xfrm>
          <a:prstGeom prst="roundRect">
            <a:avLst>
              <a:gd name="adj" fmla="val 10370"/>
            </a:avLst>
          </a:prstGeom>
          <a:solidFill>
            <a:srgbClr val="151B3A">
              <a:alpha val="92000"/>
            </a:srgbClr>
          </a:solidFill>
          <a:ln w="9525">
            <a:solidFill>
              <a:srgbClr val="3A4380"/>
            </a:solidFill>
            <a:prstDash val="solid"/>
          </a:ln>
        </p:spPr>
      </p:sp>
      <p:sp>
        <p:nvSpPr>
          <p:cNvPr id="11" name="Text 8"/>
          <p:cNvSpPr txBox="1"/>
          <p:nvPr/>
        </p:nvSpPr>
        <p:spPr>
          <a:xfrm>
            <a:off x="8396935" y="1892808"/>
            <a:ext cx="288036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03  FLAT SENSORS</a:t>
            </a:r>
            <a:endParaRPr lang="en-US" sz="1300" dirty="0"/>
          </a:p>
        </p:txBody>
      </p:sp>
      <p:sp>
        <p:nvSpPr>
          <p:cNvPr id="12" name="Text 9"/>
          <p:cNvSpPr txBox="1"/>
          <p:nvPr/>
        </p:nvSpPr>
        <p:spPr>
          <a:xfrm>
            <a:off x="8396935" y="2240280"/>
            <a:ext cx="2880360" cy="685800"/>
          </a:xfrm>
          <a:prstGeom prst="rect">
            <a:avLst/>
          </a:prstGeom>
          <a:noFill/>
          <a:ln/>
        </p:spPr>
        <p:txBody>
          <a:bodyPr wrap="square" lIns="0" tIns="0" rIns="0" bIns="0" rtlCol="0" anchor="t"/>
          <a:lstStyle/>
          <a:p>
            <a:pPr indent="0" marL="0">
              <a:buNone/>
            </a:pPr>
            <a:r>
              <a:rPr lang="en-US" sz="1600" dirty="0">
                <a:solidFill>
                  <a:srgbClr val="F2F0FF"/>
                </a:solidFill>
                <a:latin typeface="Segoe UI" pitchFamily="34" charset="0"/>
                <a:ea typeface="Segoe UI" pitchFamily="34" charset="-122"/>
                <a:cs typeface="Segoe UI" pitchFamily="34" charset="-120"/>
              </a:rPr>
              <a:t>Calibrate the adapter, then guided or automatic correction.</a:t>
            </a:r>
            <a:endParaRPr lang="en-US" sz="1600" dirty="0"/>
          </a:p>
        </p:txBody>
      </p:sp>
      <p:sp>
        <p:nvSpPr>
          <p:cNvPr id="13" name="Shape 10"/>
          <p:cNvSpPr/>
          <p:nvPr/>
        </p:nvSpPr>
        <p:spPr>
          <a:xfrm>
            <a:off x="640080" y="3246120"/>
            <a:ext cx="10911535" cy="640080"/>
          </a:xfrm>
          <a:prstGeom prst="roundRect">
            <a:avLst>
              <a:gd name="adj" fmla="val 14286"/>
            </a:avLst>
          </a:prstGeom>
          <a:solidFill>
            <a:srgbClr val="FFB020"/>
          </a:solidFill>
          <a:ln/>
        </p:spPr>
      </p:sp>
      <p:sp>
        <p:nvSpPr>
          <p:cNvPr id="14" name="Text 11"/>
          <p:cNvSpPr txBox="1"/>
          <p:nvPr/>
        </p:nvSpPr>
        <p:spPr>
          <a:xfrm>
            <a:off x="960120" y="3246120"/>
            <a:ext cx="10271455" cy="640080"/>
          </a:xfrm>
          <a:prstGeom prst="rect">
            <a:avLst/>
          </a:prstGeom>
          <a:noFill/>
          <a:ln/>
        </p:spPr>
        <p:txBody>
          <a:bodyPr wrap="square" lIns="0" tIns="0" rIns="0" bIns="0" rtlCol="0" anchor="ctr"/>
          <a:lstStyle/>
          <a:p>
            <a:pPr indent="0" marL="0">
              <a:buNone/>
            </a:pPr>
            <a:r>
              <a:rPr lang="en-US" sz="1800" b="1" spc="300" kern="0" dirty="0">
                <a:solidFill>
                  <a:srgbClr val="0B1026"/>
                </a:solidFill>
                <a:latin typeface="Segoe UI Semibold" pitchFamily="34" charset="0"/>
                <a:ea typeface="Segoe UI Semibold" pitchFamily="34" charset="-122"/>
                <a:cs typeface="Segoe UI Semibold" pitchFamily="34" charset="-120"/>
              </a:rPr>
              <a:t>SNR   </a:t>
            </a:r>
            <a:pPr indent="0" marL="0">
              <a:buNone/>
            </a:pPr>
            <a:r>
              <a:rPr lang="en-US" sz="1800" dirty="0">
                <a:solidFill>
                  <a:srgbClr val="0B1026"/>
                </a:solidFill>
                <a:latin typeface="Segoe UI Semibold" pitchFamily="34" charset="0"/>
                <a:ea typeface="Segoe UI Semibold" pitchFamily="34" charset="-122"/>
                <a:cs typeface="Segoe UI Semibold" pitchFamily="34" charset="-120"/>
              </a:rPr>
              <a:t>A sensor model needs every star measured well. That is why the settings exist.</a:t>
            </a:r>
            <a:endParaRPr lang="en-US" sz="1800" dirty="0"/>
          </a:p>
        </p:txBody>
      </p:sp>
      <p:sp>
        <p:nvSpPr>
          <p:cNvPr id="15" name="Shape 12"/>
          <p:cNvSpPr/>
          <p:nvPr/>
        </p:nvSpPr>
        <p:spPr>
          <a:xfrm>
            <a:off x="640080" y="4114800"/>
            <a:ext cx="10911535" cy="2011680"/>
          </a:xfrm>
          <a:prstGeom prst="roundRect">
            <a:avLst>
              <a:gd name="adj" fmla="val 6364"/>
            </a:avLst>
          </a:prstGeom>
          <a:solidFill>
            <a:srgbClr val="151B3A">
              <a:alpha val="92000"/>
            </a:srgbClr>
          </a:solidFill>
          <a:ln w="9525">
            <a:solidFill>
              <a:srgbClr val="3A4380"/>
            </a:solidFill>
            <a:prstDash val="solid"/>
          </a:ln>
        </p:spPr>
      </p:sp>
      <p:sp>
        <p:nvSpPr>
          <p:cNvPr id="16" name="Shape 13"/>
          <p:cNvSpPr/>
          <p:nvPr/>
        </p:nvSpPr>
        <p:spPr>
          <a:xfrm>
            <a:off x="914400" y="4297680"/>
            <a:ext cx="1645920" cy="1645920"/>
          </a:xfrm>
          <a:prstGeom prst="roundRect">
            <a:avLst>
              <a:gd name="adj" fmla="val 4444"/>
            </a:avLst>
          </a:prstGeom>
          <a:solidFill>
            <a:srgbClr val="FFFFFF"/>
          </a:solidFill>
          <a:ln/>
        </p:spPr>
      </p:sp>
      <p:pic>
        <p:nvPicPr>
          <p:cNvPr id="17" name="Image 0" descr="/home/ghilios/src/hocus-focus/presentations/hocus-focus-v4/assets/qr-home.png">    </p:cNvPr>
          <p:cNvPicPr>
            <a:picLocks noChangeAspect="1"/>
          </p:cNvPicPr>
          <p:nvPr/>
        </p:nvPicPr>
        <p:blipFill>
          <a:blip r:embed="rId2"/>
          <a:stretch>
            <a:fillRect/>
          </a:stretch>
        </p:blipFill>
        <p:spPr>
          <a:xfrm>
            <a:off x="987552" y="4370832"/>
            <a:ext cx="1499616" cy="1499616"/>
          </a:xfrm>
          <a:prstGeom prst="rect">
            <a:avLst/>
          </a:prstGeom>
        </p:spPr>
      </p:pic>
      <p:sp>
        <p:nvSpPr>
          <p:cNvPr id="18" name="Text 14"/>
          <p:cNvSpPr txBox="1"/>
          <p:nvPr/>
        </p:nvSpPr>
        <p:spPr>
          <a:xfrm>
            <a:off x="2926080" y="4343400"/>
            <a:ext cx="54864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IT'S ALL DOCUMENTED</a:t>
            </a:r>
            <a:endParaRPr lang="en-US" sz="1300" dirty="0"/>
          </a:p>
        </p:txBody>
      </p:sp>
      <p:sp>
        <p:nvSpPr>
          <p:cNvPr id="19" name="Text 15"/>
          <p:cNvSpPr txBox="1"/>
          <p:nvPr/>
        </p:nvSpPr>
        <p:spPr>
          <a:xfrm>
            <a:off x="2926080" y="4663440"/>
            <a:ext cx="8229600" cy="640080"/>
          </a:xfrm>
          <a:prstGeom prst="rect">
            <a:avLst/>
          </a:prstGeom>
          <a:noFill/>
          <a:ln/>
        </p:spPr>
        <p:txBody>
          <a:bodyPr wrap="square" lIns="0" tIns="0" rIns="0" bIns="0" rtlCol="0" anchor="ctr"/>
          <a:lstStyle/>
          <a:p>
            <a:pPr indent="0" marL="0">
              <a:buNone/>
            </a:pPr>
            <a:r>
              <a:rPr lang="en-US" sz="3200" u="sng" dirty="0">
                <a:solidFill>
                  <a:srgbClr val="F2F0FF"/>
                </a:solidFill>
                <a:latin typeface="Segoe UI Semibold" pitchFamily="34" charset="0"/>
                <a:ea typeface="Segoe UI Semibold" pitchFamily="34" charset="-122"/>
                <a:cs typeface="Segoe UI Semi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ghilios.github.io/hocus-focus</a:t>
            </a:r>
            <a:endParaRPr lang="en-US" sz="3200" dirty="0"/>
          </a:p>
        </p:txBody>
      </p:sp>
      <p:sp>
        <p:nvSpPr>
          <p:cNvPr id="20" name="Text 16"/>
          <p:cNvSpPr txBox="1"/>
          <p:nvPr/>
        </p:nvSpPr>
        <p:spPr>
          <a:xfrm>
            <a:off x="2926080" y="5349240"/>
            <a:ext cx="8412480" cy="548640"/>
          </a:xfrm>
          <a:prstGeom prst="rect">
            <a:avLst/>
          </a:prstGeom>
          <a:noFill/>
          <a:ln/>
        </p:spPr>
        <p:txBody>
          <a:bodyPr wrap="square" lIns="0" tIns="0" rIns="0" bIns="0" rtlCol="0" anchor="t"/>
          <a:lstStyle/>
          <a:p>
            <a:pPr indent="0" marL="0">
              <a:buNone/>
            </a:pPr>
            <a:r>
              <a:rPr lang="en-US" sz="1500" dirty="0">
                <a:solidFill>
                  <a:srgbClr val="B4BBE0"/>
                </a:solidFill>
                <a:latin typeface="Segoe UI" pitchFamily="34" charset="0"/>
                <a:ea typeface="Segoe UI" pitchFamily="34" charset="-122"/>
                <a:cs typeface="Segoe UI" pitchFamily="34" charset="-120"/>
              </a:rPr>
              <a:t>Quick start  ·  every setting  ·  the optimizer  ·  tilt adapter wizard  ·  motorized adapters  ·  simulator</a:t>
            </a:r>
            <a:endParaRPr lang="en-US" sz="1500" dirty="0"/>
          </a:p>
        </p:txBody>
      </p:sp>
      <p:sp>
        <p:nvSpPr>
          <p:cNvPr id="25" name="Slide Number Placeholder 0"/>
          <p:cNvSpPr>
            <a:spLocks noGrp="1"/>
          </p:cNvSpPr>
          <p:nvPr>
            <p:ph type="sldNum" sz="quarter" idx="4294967295"/>
          </p:nvPr>
        </p:nvSpPr>
        <p:spPr>
          <a:xfrm>
            <a:off x="11094415" y="6291072"/>
            <a:ext cx="457200" cy="292608"/>
          </a:xfrm>
          <a:prstGeom prst="rect">
            <a:avLst/>
          </a:prstGeom>
          <a:extLst>
            <a:ext uri="{C572A759-6A51-4108-AA02-DFA0A04FC94B}">
              <ma14:wrappingTextBoxFlag xmlns:ma14="http://schemas.microsoft.com/office/mac/drawingml/2011/main" val="0"/>
            </a:ext>
          </a:extLst>
        </p:spPr>
        <p:txBody>
          <a:bodyPr/>
          <a:lstStyle>
            <a:lvl1pPr>
              <a:defRPr sz="1200">
                <a:solidFill>
                  <a:srgbClr val="B4BBE0"/>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640080" y="1097280"/>
            <a:ext cx="5669280" cy="1188720"/>
          </a:xfrm>
          <a:prstGeom prst="rect">
            <a:avLst/>
          </a:prstGeom>
          <a:noFill/>
          <a:ln/>
        </p:spPr>
        <p:txBody>
          <a:bodyPr wrap="square" lIns="0" tIns="0" rIns="0" bIns="0" rtlCol="0" anchor="ctr"/>
          <a:lstStyle/>
          <a:p>
            <a:pPr indent="0" marL="0">
              <a:buNone/>
            </a:pPr>
            <a:r>
              <a:rPr lang="en-US" sz="6600" dirty="0">
                <a:solidFill>
                  <a:srgbClr val="F2F0FF"/>
                </a:solidFill>
                <a:latin typeface="Segoe UI Semibold" pitchFamily="34" charset="0"/>
                <a:ea typeface="Segoe UI Semibold" pitchFamily="34" charset="-122"/>
                <a:cs typeface="Segoe UI Semibold" pitchFamily="34" charset="-120"/>
              </a:rPr>
              <a:t>Thank you</a:t>
            </a:r>
            <a:endParaRPr lang="en-US" sz="6600" dirty="0"/>
          </a:p>
        </p:txBody>
      </p:sp>
      <p:sp>
        <p:nvSpPr>
          <p:cNvPr id="4" name="Text 1"/>
          <p:cNvSpPr txBox="1"/>
          <p:nvPr/>
        </p:nvSpPr>
        <p:spPr>
          <a:xfrm>
            <a:off x="640080" y="2240280"/>
            <a:ext cx="5669280" cy="731520"/>
          </a:xfrm>
          <a:prstGeom prst="rect">
            <a:avLst/>
          </a:prstGeom>
          <a:noFill/>
          <a:ln/>
        </p:spPr>
        <p:txBody>
          <a:bodyPr wrap="square" lIns="0" tIns="0" rIns="0" bIns="0" rtlCol="0" anchor="ctr"/>
          <a:lstStyle/>
          <a:p>
            <a:pPr indent="0" marL="0">
              <a:buNone/>
            </a:pPr>
            <a:r>
              <a:rPr lang="en-US" sz="3600" dirty="0">
                <a:solidFill>
                  <a:srgbClr val="C4B5FD"/>
                </a:solidFill>
                <a:latin typeface="Segoe UI Light" pitchFamily="34" charset="0"/>
                <a:ea typeface="Segoe UI Light" pitchFamily="34" charset="-122"/>
                <a:cs typeface="Segoe UI Light" pitchFamily="34" charset="-120"/>
              </a:rPr>
              <a:t>Questions?</a:t>
            </a:r>
            <a:endParaRPr lang="en-US" sz="3600" dirty="0"/>
          </a:p>
        </p:txBody>
      </p:sp>
      <p:sp>
        <p:nvSpPr>
          <p:cNvPr id="5" name="Shape 2"/>
          <p:cNvSpPr/>
          <p:nvPr/>
        </p:nvSpPr>
        <p:spPr>
          <a:xfrm>
            <a:off x="640080" y="3657600"/>
            <a:ext cx="566928" cy="566928"/>
          </a:xfrm>
          <a:prstGeom prst="ellipse">
            <a:avLst/>
          </a:prstGeom>
          <a:solidFill>
            <a:srgbClr val="8B5CF6"/>
          </a:solidFill>
          <a:ln/>
        </p:spPr>
      </p:sp>
      <p:pic>
        <p:nvPicPr>
          <p:cNvPr id="6" name="Image 0" descr="/home/ghilios/src/hocus-focus/presentations/hocus-focus-v4/assets/icon-discord.png">    </p:cNvPr>
          <p:cNvPicPr>
            <a:picLocks noChangeAspect="1"/>
          </p:cNvPicPr>
          <p:nvPr/>
        </p:nvPicPr>
        <p:blipFill>
          <a:blip r:embed="rId2"/>
          <a:stretch>
            <a:fillRect/>
          </a:stretch>
        </p:blipFill>
        <p:spPr>
          <a:xfrm>
            <a:off x="793151" y="3810671"/>
            <a:ext cx="260787" cy="260787"/>
          </a:xfrm>
          <a:prstGeom prst="rect">
            <a:avLst/>
          </a:prstGeom>
        </p:spPr>
      </p:pic>
      <p:sp>
        <p:nvSpPr>
          <p:cNvPr id="7" name="Text 3"/>
          <p:cNvSpPr txBox="1"/>
          <p:nvPr/>
        </p:nvSpPr>
        <p:spPr>
          <a:xfrm>
            <a:off x="1481328" y="3602736"/>
            <a:ext cx="4462272" cy="411480"/>
          </a:xfrm>
          <a:prstGeom prst="rect">
            <a:avLst/>
          </a:prstGeom>
          <a:noFill/>
          <a:ln/>
        </p:spPr>
        <p:txBody>
          <a:bodyPr wrap="square" lIns="0" tIns="0" rIns="0" bIns="0" rtlCol="0" anchor="ctr"/>
          <a:lstStyle/>
          <a:p>
            <a:pPr indent="0" marL="0">
              <a:buNone/>
            </a:pPr>
            <a:r>
              <a:rPr lang="en-US" sz="1900" dirty="0">
                <a:solidFill>
                  <a:srgbClr val="F2F0FF"/>
                </a:solidFill>
                <a:latin typeface="Segoe UI Semibold" pitchFamily="34" charset="0"/>
                <a:ea typeface="Segoe UI Semibold" pitchFamily="34" charset="-122"/>
                <a:cs typeface="Segoe UI Semibold" pitchFamily="34" charset="-120"/>
              </a:rPr>
              <a:t>jokogeo</a:t>
            </a:r>
            <a:endParaRPr lang="en-US" sz="1900" dirty="0"/>
          </a:p>
        </p:txBody>
      </p:sp>
      <p:sp>
        <p:nvSpPr>
          <p:cNvPr id="8" name="Text 4"/>
          <p:cNvSpPr txBox="1"/>
          <p:nvPr/>
        </p:nvSpPr>
        <p:spPr>
          <a:xfrm>
            <a:off x="1481328" y="4023360"/>
            <a:ext cx="4462272" cy="36576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N.I.N.A. Discord</a:t>
            </a:r>
            <a:endParaRPr lang="en-US" sz="1400" dirty="0"/>
          </a:p>
        </p:txBody>
      </p:sp>
      <p:sp>
        <p:nvSpPr>
          <p:cNvPr id="9" name="Shape 5"/>
          <p:cNvSpPr/>
          <p:nvPr/>
        </p:nvSpPr>
        <p:spPr>
          <a:xfrm>
            <a:off x="640080" y="4663440"/>
            <a:ext cx="566928" cy="566928"/>
          </a:xfrm>
          <a:prstGeom prst="ellipse">
            <a:avLst/>
          </a:prstGeom>
          <a:solidFill>
            <a:srgbClr val="8B5CF6"/>
          </a:solidFill>
          <a:ln/>
        </p:spPr>
      </p:sp>
      <p:pic>
        <p:nvPicPr>
          <p:cNvPr id="10" name="Image 1" descr="/home/ghilios/src/hocus-focus/presentations/hocus-focus-v4/assets/icon-github.png">    </p:cNvPr>
          <p:cNvPicPr>
            <a:picLocks noChangeAspect="1"/>
          </p:cNvPicPr>
          <p:nvPr/>
        </p:nvPicPr>
        <p:blipFill>
          <a:blip r:embed="rId3"/>
          <a:stretch>
            <a:fillRect/>
          </a:stretch>
        </p:blipFill>
        <p:spPr>
          <a:xfrm>
            <a:off x="793151" y="4816511"/>
            <a:ext cx="260787" cy="260787"/>
          </a:xfrm>
          <a:prstGeom prst="rect">
            <a:avLst/>
          </a:prstGeom>
        </p:spPr>
      </p:pic>
      <p:sp>
        <p:nvSpPr>
          <p:cNvPr id="11" name="Text 6"/>
          <p:cNvSpPr txBox="1"/>
          <p:nvPr/>
        </p:nvSpPr>
        <p:spPr>
          <a:xfrm>
            <a:off x="1481328" y="4608576"/>
            <a:ext cx="4462272" cy="411480"/>
          </a:xfrm>
          <a:prstGeom prst="rect">
            <a:avLst/>
          </a:prstGeom>
          <a:noFill/>
          <a:ln/>
        </p:spPr>
        <p:txBody>
          <a:bodyPr wrap="square" lIns="0" tIns="0" rIns="0" bIns="0" rtlCol="0" anchor="ctr"/>
          <a:lstStyle/>
          <a:p>
            <a:pPr indent="0" marL="0">
              <a:buNone/>
            </a:pPr>
            <a:r>
              <a:rPr lang="en-US" sz="1900" dirty="0">
                <a:solidFill>
                  <a:srgbClr val="F2F0FF"/>
                </a:solidFill>
                <a:latin typeface="Segoe UI Semibold" pitchFamily="34" charset="0"/>
                <a:ea typeface="Segoe UI Semibold" pitchFamily="34" charset="-122"/>
                <a:cs typeface="Segoe UI Semibold" pitchFamily="34" charset="-120"/>
              </a:rPr>
              <a:t>github.com/ghilios/hocus-focus</a:t>
            </a:r>
            <a:endParaRPr lang="en-US" sz="1900" dirty="0"/>
          </a:p>
        </p:txBody>
      </p:sp>
      <p:sp>
        <p:nvSpPr>
          <p:cNvPr id="12" name="Text 7"/>
          <p:cNvSpPr txBox="1"/>
          <p:nvPr/>
        </p:nvSpPr>
        <p:spPr>
          <a:xfrm>
            <a:off x="1481328" y="5029200"/>
            <a:ext cx="4462272" cy="365760"/>
          </a:xfrm>
          <a:prstGeom prst="rect">
            <a:avLst/>
          </a:prstGeom>
          <a:noFill/>
          <a:ln/>
        </p:spPr>
        <p:txBody>
          <a:bodyPr wrap="square" lIns="0" tIns="0" rIns="0" bIns="0" rtlCol="0" anchor="t"/>
          <a:lstStyle/>
          <a:p>
            <a:pPr indent="0" marL="0">
              <a:buNone/>
            </a:pPr>
            <a:r>
              <a:rPr lang="en-US" sz="1400" dirty="0">
                <a:solidFill>
                  <a:srgbClr val="B4BBE0"/>
                </a:solidFill>
                <a:latin typeface="Segoe UI" pitchFamily="34" charset="0"/>
                <a:ea typeface="Segoe UI" pitchFamily="34" charset="-122"/>
                <a:cs typeface="Segoe UI" pitchFamily="34" charset="-120"/>
              </a:rPr>
              <a:t>Open source (MPL 2.0)  ·  ghilios on Cloudy Nights</a:t>
            </a:r>
            <a:endParaRPr lang="en-US" sz="1400" dirty="0"/>
          </a:p>
        </p:txBody>
      </p:sp>
      <p:sp>
        <p:nvSpPr>
          <p:cNvPr id="13" name="Shape 8"/>
          <p:cNvSpPr/>
          <p:nvPr/>
        </p:nvSpPr>
        <p:spPr>
          <a:xfrm>
            <a:off x="6492240" y="1097280"/>
            <a:ext cx="5059375" cy="1965960"/>
          </a:xfrm>
          <a:prstGeom prst="roundRect">
            <a:avLst>
              <a:gd name="adj" fmla="val 6512"/>
            </a:avLst>
          </a:prstGeom>
          <a:solidFill>
            <a:srgbClr val="1E2650"/>
          </a:solidFill>
          <a:ln w="19050">
            <a:solidFill>
              <a:srgbClr val="8B5CF6"/>
            </a:solidFill>
            <a:prstDash val="solid"/>
          </a:ln>
        </p:spPr>
      </p:sp>
      <p:sp>
        <p:nvSpPr>
          <p:cNvPr id="14" name="Shape 9"/>
          <p:cNvSpPr/>
          <p:nvPr/>
        </p:nvSpPr>
        <p:spPr>
          <a:xfrm>
            <a:off x="6720840" y="1280160"/>
            <a:ext cx="1600200" cy="1600200"/>
          </a:xfrm>
          <a:prstGeom prst="roundRect">
            <a:avLst>
              <a:gd name="adj" fmla="val 4571"/>
            </a:avLst>
          </a:prstGeom>
          <a:solidFill>
            <a:srgbClr val="FFFFFF"/>
          </a:solidFill>
          <a:ln/>
        </p:spPr>
      </p:sp>
      <p:pic>
        <p:nvPicPr>
          <p:cNvPr id="15" name="Image 2" descr="/home/ghilios/src/hocus-focus/presentations/hocus-focus-v4/assets/qr-home.png">    </p:cNvPr>
          <p:cNvPicPr>
            <a:picLocks noChangeAspect="1"/>
          </p:cNvPicPr>
          <p:nvPr/>
        </p:nvPicPr>
        <p:blipFill>
          <a:blip r:embed="rId4"/>
          <a:stretch>
            <a:fillRect/>
          </a:stretch>
        </p:blipFill>
        <p:spPr>
          <a:xfrm>
            <a:off x="6793992" y="1353312"/>
            <a:ext cx="1453896" cy="1453896"/>
          </a:xfrm>
          <a:prstGeom prst="rect">
            <a:avLst/>
          </a:prstGeom>
        </p:spPr>
      </p:pic>
      <p:sp>
        <p:nvSpPr>
          <p:cNvPr id="16" name="Text 10"/>
          <p:cNvSpPr txBox="1"/>
          <p:nvPr/>
        </p:nvSpPr>
        <p:spPr>
          <a:xfrm>
            <a:off x="8595360" y="1463040"/>
            <a:ext cx="292608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DOCS AND QUICK START</a:t>
            </a:r>
            <a:endParaRPr lang="en-US" sz="1300" dirty="0"/>
          </a:p>
        </p:txBody>
      </p:sp>
      <p:sp>
        <p:nvSpPr>
          <p:cNvPr id="17" name="Text 11"/>
          <p:cNvSpPr txBox="1"/>
          <p:nvPr/>
        </p:nvSpPr>
        <p:spPr>
          <a:xfrm>
            <a:off x="8595360" y="1783080"/>
            <a:ext cx="2773375" cy="1005840"/>
          </a:xfrm>
          <a:prstGeom prst="rect">
            <a:avLst/>
          </a:prstGeom>
          <a:noFill/>
          <a:ln/>
        </p:spPr>
        <p:txBody>
          <a:bodyPr wrap="square" lIns="0" tIns="0" rIns="0" bIns="0" rtlCol="0" anchor="ctr"/>
          <a:lstStyle/>
          <a:p>
            <a:pPr indent="0" marL="0">
              <a:buNone/>
            </a:pPr>
            <a:r>
              <a:rPr lang="en-US" sz="2400" u="sng" dirty="0">
                <a:solidFill>
                  <a:srgbClr val="F2F0FF"/>
                </a:solidFill>
                <a:latin typeface="Segoe UI Semibold" pitchFamily="34" charset="0"/>
                <a:ea typeface="Segoe UI Semibold" pitchFamily="34" charset="-122"/>
                <a:cs typeface="Segoe UI Semibold" pitchFamily="34" charset="-120"/>
                <a:hlinkClick r:id="rId5" invalidUrl="" action="" tgtFrame="" tooltip="" history="1" highlightClick="0" endSnd="0">
                  <a:extLst>
                    <a:ext uri="{A12FA001-AC4F-418D-AE19-62706E023703}">
                      <ahyp:hlinkClr xmlns:ahyp="http://schemas.microsoft.com/office/drawing/2018/hyperlinkcolor" val="tx"/>
                    </a:ext>
                  </a:extLst>
                </a:hlinkClick>
              </a:rPr>
              <a:t>ghilios.github.io/</a:t>
            </a:r>
            <a:endParaRPr lang="en-US" sz="2400" dirty="0"/>
          </a:p>
          <a:p>
            <a:pPr indent="0" marL="0">
              <a:buNone/>
            </a:pPr>
            <a:r>
              <a:rPr lang="en-US" sz="2400" u="sng" dirty="0">
                <a:solidFill>
                  <a:srgbClr val="F2F0FF"/>
                </a:solidFill>
                <a:latin typeface="Segoe UI Semibold" pitchFamily="34" charset="0"/>
                <a:ea typeface="Segoe UI Semibold" pitchFamily="34" charset="-122"/>
                <a:cs typeface="Segoe UI Semibold" pitchFamily="34" charset="-120"/>
                <a:hlinkClick r:id="rId6" invalidUrl="" action="" tgtFrame="" tooltip="" history="1" highlightClick="0" endSnd="0">
                  <a:extLst>
                    <a:ext uri="{A12FA001-AC4F-418D-AE19-62706E023703}">
                      <ahyp:hlinkClr xmlns:ahyp="http://schemas.microsoft.com/office/drawing/2018/hyperlinkcolor" val="tx"/>
                    </a:ext>
                  </a:extLst>
                </a:hlinkClick>
              </a:rPr>
              <a:t>hocus-focus</a:t>
            </a:r>
            <a:endParaRPr lang="en-US" sz="2400" dirty="0"/>
          </a:p>
        </p:txBody>
      </p:sp>
      <p:sp>
        <p:nvSpPr>
          <p:cNvPr id="18" name="Shape 12"/>
          <p:cNvSpPr/>
          <p:nvPr/>
        </p:nvSpPr>
        <p:spPr>
          <a:xfrm>
            <a:off x="6492240" y="3291840"/>
            <a:ext cx="5059375" cy="2834640"/>
          </a:xfrm>
          <a:prstGeom prst="roundRect">
            <a:avLst>
              <a:gd name="adj" fmla="val 4516"/>
            </a:avLst>
          </a:prstGeom>
          <a:solidFill>
            <a:srgbClr val="151B3A">
              <a:alpha val="92000"/>
            </a:srgbClr>
          </a:solidFill>
          <a:ln w="9525">
            <a:solidFill>
              <a:srgbClr val="3A4380"/>
            </a:solidFill>
            <a:prstDash val="solid"/>
          </a:ln>
        </p:spPr>
      </p:sp>
      <p:sp>
        <p:nvSpPr>
          <p:cNvPr id="19" name="Text 13"/>
          <p:cNvSpPr txBox="1"/>
          <p:nvPr/>
        </p:nvSpPr>
        <p:spPr>
          <a:xfrm>
            <a:off x="6812280" y="3429000"/>
            <a:ext cx="4114800" cy="292608"/>
          </a:xfrm>
          <a:prstGeom prst="rect">
            <a:avLst/>
          </a:prstGeom>
          <a:noFill/>
          <a:ln/>
        </p:spPr>
        <p:txBody>
          <a:bodyPr wrap="square" lIns="0" tIns="0" rIns="0" bIns="0" rtlCol="0" anchor="ctr"/>
          <a:lstStyle/>
          <a:p>
            <a:pPr indent="0" marL="0">
              <a:buNone/>
            </a:pPr>
            <a:r>
              <a:rPr lang="en-US" sz="1300" b="1" spc="300" kern="0" dirty="0">
                <a:solidFill>
                  <a:srgbClr val="C4B5FD"/>
                </a:solidFill>
                <a:latin typeface="Segoe UI" pitchFamily="34" charset="0"/>
                <a:ea typeface="Segoe UI" pitchFamily="34" charset="-122"/>
                <a:cs typeface="Segoe UI" pitchFamily="34" charset="-120"/>
              </a:rPr>
              <a:t>WITH THANKS TO</a:t>
            </a:r>
            <a:endParaRPr lang="en-US" sz="1300" dirty="0"/>
          </a:p>
        </p:txBody>
      </p:sp>
      <p:sp>
        <p:nvSpPr>
          <p:cNvPr id="20" name="Text 14"/>
          <p:cNvSpPr txBox="1"/>
          <p:nvPr/>
        </p:nvSpPr>
        <p:spPr>
          <a:xfrm>
            <a:off x="6812280" y="3794760"/>
            <a:ext cx="4419295" cy="384048"/>
          </a:xfrm>
          <a:prstGeom prst="rect">
            <a:avLst/>
          </a:prstGeom>
          <a:noFill/>
          <a:ln/>
        </p:spPr>
        <p:txBody>
          <a:bodyPr wrap="square" lIns="0" tIns="0" rIns="0" bIns="0" rtlCol="0" anchor="ctr"/>
          <a:lstStyle/>
          <a:p>
            <a:pPr indent="0" marL="0">
              <a:buNone/>
            </a:pPr>
            <a:r>
              <a:rPr lang="en-US" sz="1900" dirty="0">
                <a:solidFill>
                  <a:srgbClr val="F2F0FF"/>
                </a:solidFill>
                <a:latin typeface="Segoe UI Semibold" pitchFamily="34" charset="0"/>
                <a:ea typeface="Segoe UI Semibold" pitchFamily="34" charset="-122"/>
                <a:cs typeface="Segoe UI Semibold" pitchFamily="34" charset="-120"/>
              </a:rPr>
              <a:t>Steve Smith</a:t>
            </a:r>
            <a:endParaRPr lang="en-US" sz="1900" dirty="0"/>
          </a:p>
        </p:txBody>
      </p:sp>
      <p:sp>
        <p:nvSpPr>
          <p:cNvPr id="21" name="Text 15"/>
          <p:cNvSpPr txBox="1"/>
          <p:nvPr/>
        </p:nvSpPr>
        <p:spPr>
          <a:xfrm>
            <a:off x="6812280" y="4160520"/>
            <a:ext cx="4419295" cy="329184"/>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for the RANSAC star registration</a:t>
            </a:r>
            <a:endParaRPr lang="en-US" sz="1400" dirty="0"/>
          </a:p>
        </p:txBody>
      </p:sp>
      <p:sp>
        <p:nvSpPr>
          <p:cNvPr id="22" name="Text 16"/>
          <p:cNvSpPr txBox="1"/>
          <p:nvPr/>
        </p:nvSpPr>
        <p:spPr>
          <a:xfrm>
            <a:off x="6812280" y="4553712"/>
            <a:ext cx="4419295" cy="384048"/>
          </a:xfrm>
          <a:prstGeom prst="rect">
            <a:avLst/>
          </a:prstGeom>
          <a:noFill/>
          <a:ln/>
        </p:spPr>
        <p:txBody>
          <a:bodyPr wrap="square" lIns="0" tIns="0" rIns="0" bIns="0" rtlCol="0" anchor="ctr"/>
          <a:lstStyle/>
          <a:p>
            <a:pPr indent="0" marL="0">
              <a:buNone/>
            </a:pPr>
            <a:r>
              <a:rPr lang="en-US" sz="1900" dirty="0">
                <a:solidFill>
                  <a:srgbClr val="F2F0FF"/>
                </a:solidFill>
                <a:latin typeface="Segoe UI Semibold" pitchFamily="34" charset="0"/>
                <a:ea typeface="Segoe UI Semibold" pitchFamily="34" charset="-122"/>
                <a:cs typeface="Segoe UI Semibold" pitchFamily="34" charset="-120"/>
              </a:rPr>
              <a:t>Josh Jones, ASG</a:t>
            </a:r>
            <a:endParaRPr lang="en-US" sz="1900" dirty="0"/>
          </a:p>
        </p:txBody>
      </p:sp>
      <p:sp>
        <p:nvSpPr>
          <p:cNvPr id="23" name="Text 17"/>
          <p:cNvSpPr txBox="1"/>
          <p:nvPr/>
        </p:nvSpPr>
        <p:spPr>
          <a:xfrm>
            <a:off x="6812280" y="4919472"/>
            <a:ext cx="4419295" cy="329184"/>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for the EAT that made the automation possible</a:t>
            </a:r>
            <a:endParaRPr lang="en-US" sz="1400" dirty="0"/>
          </a:p>
        </p:txBody>
      </p:sp>
      <p:sp>
        <p:nvSpPr>
          <p:cNvPr id="24" name="Text 18"/>
          <p:cNvSpPr txBox="1"/>
          <p:nvPr/>
        </p:nvSpPr>
        <p:spPr>
          <a:xfrm>
            <a:off x="6812280" y="5312664"/>
            <a:ext cx="4419295" cy="384048"/>
          </a:xfrm>
          <a:prstGeom prst="rect">
            <a:avLst/>
          </a:prstGeom>
          <a:noFill/>
          <a:ln/>
        </p:spPr>
        <p:txBody>
          <a:bodyPr wrap="square" lIns="0" tIns="0" rIns="0" bIns="0" rtlCol="0" anchor="ctr"/>
          <a:lstStyle/>
          <a:p>
            <a:pPr indent="0" marL="0">
              <a:buNone/>
            </a:pPr>
            <a:r>
              <a:rPr lang="en-US" sz="1900" dirty="0">
                <a:solidFill>
                  <a:srgbClr val="F2F0FF"/>
                </a:solidFill>
                <a:latin typeface="Segoe UI Semibold" pitchFamily="34" charset="0"/>
                <a:ea typeface="Segoe UI Semibold" pitchFamily="34" charset="-122"/>
                <a:cs typeface="Segoe UI Semibold" pitchFamily="34" charset="-120"/>
              </a:rPr>
              <a:t>The community</a:t>
            </a:r>
            <a:endParaRPr lang="en-US" sz="1900" dirty="0"/>
          </a:p>
        </p:txBody>
      </p:sp>
      <p:sp>
        <p:nvSpPr>
          <p:cNvPr id="25" name="Text 19"/>
          <p:cNvSpPr txBox="1"/>
          <p:nvPr/>
        </p:nvSpPr>
        <p:spPr>
          <a:xfrm>
            <a:off x="6812280" y="5678424"/>
            <a:ext cx="4419295" cy="329184"/>
          </a:xfrm>
          <a:prstGeom prst="rect">
            <a:avLst/>
          </a:prstGeom>
          <a:noFill/>
          <a:ln/>
        </p:spPr>
        <p:txBody>
          <a:bodyPr wrap="square" lIns="0" tIns="0" rIns="0" bIns="0" rtlCol="0" anchor="ctr"/>
          <a:lstStyle/>
          <a:p>
            <a:pPr indent="0" marL="0">
              <a:buNone/>
            </a:pPr>
            <a:r>
              <a:rPr lang="en-US" sz="1400" dirty="0">
                <a:solidFill>
                  <a:srgbClr val="B4BBE0"/>
                </a:solidFill>
                <a:latin typeface="Segoe UI" pitchFamily="34" charset="0"/>
                <a:ea typeface="Segoe UI" pitchFamily="34" charset="-122"/>
                <a:cs typeface="Segoe UI" pitchFamily="34" charset="-120"/>
              </a:rPr>
              <a:t>for saved autofocus runs, bug reports, and patience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Hocus Focus v4 — Every Star Matters</dc:title>
  <dc:subject>PptxGenJS Presentation</dc:subject>
  <dc:creator>George Hilios</dc:creator>
  <cp:lastModifiedBy>George Hilios</cp:lastModifiedBy>
  <cp:revision>1</cp:revision>
  <dcterms:created xsi:type="dcterms:W3CDTF">2026-09-18T12:09:47Z</dcterms:created>
  <dcterms:modified xsi:type="dcterms:W3CDTF">2026-09-18T12:09:47Z</dcterms:modified>
</cp:coreProperties>
</file>